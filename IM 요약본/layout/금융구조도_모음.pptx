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9" r:id="rId2"/>
    <p:sldId id="270" r:id="rId3"/>
    <p:sldId id="271" r:id="rId4"/>
    <p:sldId id="273" r:id="rId5"/>
    <p:sldId id="274" r:id="rId6"/>
    <p:sldId id="275" r:id="rId7"/>
    <p:sldId id="276" r:id="rId8"/>
    <p:sldId id="277" r:id="rId9"/>
    <p:sldId id="280" r:id="rId10"/>
    <p:sldId id="278" r:id="rId11"/>
    <p:sldId id="279" r:id="rId12"/>
    <p:sldId id="282" r:id="rId13"/>
    <p:sldId id="283" r:id="rId14"/>
    <p:sldId id="284" r:id="rId1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50"/>
    <a:srgbClr val="0063A1"/>
    <a:srgbClr val="08377C"/>
    <a:srgbClr val="767171"/>
    <a:srgbClr val="002E56"/>
    <a:srgbClr val="FFF2CC"/>
    <a:srgbClr val="2E75B6"/>
    <a:srgbClr val="2B6EAB"/>
    <a:srgbClr val="FFFFFF"/>
    <a:srgbClr val="73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>
        <p:scale>
          <a:sx n="66" d="100"/>
          <a:sy n="66" d="100"/>
        </p:scale>
        <p:origin x="276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F452A-3CC9-48B1-BC35-638BE28CD87B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2FABE-03D4-4203-8E32-E4E89E0E2C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04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77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1.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담보대출 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Tr. B </a:t>
            </a:r>
            <a:endParaRPr lang="ko-KR" altLang="en-US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9B68A8-F453-4FDE-8E37-B89D75535C31}"/>
              </a:ext>
            </a:extLst>
          </p:cNvPr>
          <p:cNvSpPr/>
          <p:nvPr/>
        </p:nvSpPr>
        <p:spPr>
          <a:xfrm>
            <a:off x="3837499" y="2586727"/>
            <a:ext cx="2243942" cy="3081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FFC42D46-9E65-49E7-B23D-7D6E43815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554247"/>
              </p:ext>
            </p:extLst>
          </p:nvPr>
        </p:nvGraphicFramePr>
        <p:xfrm>
          <a:off x="3887813" y="2888679"/>
          <a:ext cx="2130374" cy="3052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66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A  [1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조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D55A33-9F8E-4A3C-AEF8-75F1D3EDAFF5}"/>
              </a:ext>
            </a:extLst>
          </p:cNvPr>
          <p:cNvSpPr txBox="1"/>
          <p:nvPr/>
        </p:nvSpPr>
        <p:spPr>
          <a:xfrm>
            <a:off x="3824799" y="2612749"/>
            <a:ext cx="22564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Pretendard ExtraBold"/>
                <a:ea typeface="Pretendard ExtraBold"/>
              </a:rPr>
              <a:t>담보대출금 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[1</a:t>
            </a:r>
            <a:r>
              <a:rPr lang="ko-KR" altLang="en-US" sz="1000" b="1" u="sng" dirty="0">
                <a:latin typeface="Pretendard ExtraBold"/>
                <a:ea typeface="Pretendard ExtraBold"/>
              </a:rPr>
              <a:t>조 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2,700</a:t>
            </a:r>
            <a:r>
              <a:rPr lang="ko-KR" altLang="en-US" sz="1000" b="1" u="sng" dirty="0">
                <a:latin typeface="Pretendard ExtraBold"/>
                <a:ea typeface="Pretendard ExtraBold"/>
              </a:rPr>
              <a:t>억원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B20E9-CDC5-41CA-A0E0-54EFED05B0DE}"/>
              </a:ext>
            </a:extLst>
          </p:cNvPr>
          <p:cNvSpPr txBox="1"/>
          <p:nvPr/>
        </p:nvSpPr>
        <p:spPr>
          <a:xfrm>
            <a:off x="2143655" y="4695868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담보대출 계약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graphicFrame>
        <p:nvGraphicFramePr>
          <p:cNvPr id="9" name="표 4">
            <a:extLst>
              <a:ext uri="{FF2B5EF4-FFF2-40B4-BE49-F238E27FC236}">
                <a16:creationId xmlns:a16="http://schemas.microsoft.com/office/drawing/2014/main" id="{CC21B3C7-47EE-4614-8571-46854C075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111569"/>
              </p:ext>
            </p:extLst>
          </p:nvPr>
        </p:nvGraphicFramePr>
        <p:xfrm>
          <a:off x="982132" y="2592519"/>
          <a:ext cx="2278108" cy="17649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27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64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인스파이어인티그레이티드리조트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07BA81DE-8452-49A8-84F8-02D9E0E7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68" y="3256973"/>
            <a:ext cx="2078236" cy="972476"/>
          </a:xfrm>
          <a:prstGeom prst="rect">
            <a:avLst/>
          </a:prstGeom>
        </p:spPr>
      </p:pic>
      <p:graphicFrame>
        <p:nvGraphicFramePr>
          <p:cNvPr id="11" name="표 4">
            <a:extLst>
              <a:ext uri="{FF2B5EF4-FFF2-40B4-BE49-F238E27FC236}">
                <a16:creationId xmlns:a16="http://schemas.microsoft.com/office/drawing/2014/main" id="{48ED9BB5-FC59-46D4-AE0A-7AF03131D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127245"/>
              </p:ext>
            </p:extLst>
          </p:nvPr>
        </p:nvGraphicFramePr>
        <p:xfrm>
          <a:off x="3887813" y="3315438"/>
          <a:ext cx="2130374" cy="18723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3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B [1,700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900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표 4">
            <a:extLst>
              <a:ext uri="{FF2B5EF4-FFF2-40B4-BE49-F238E27FC236}">
                <a16:creationId xmlns:a16="http://schemas.microsoft.com/office/drawing/2014/main" id="{56C90AF7-9C88-4887-A292-9034E1D52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006941"/>
              </p:ext>
            </p:extLst>
          </p:nvPr>
        </p:nvGraphicFramePr>
        <p:xfrm>
          <a:off x="3887813" y="5262741"/>
          <a:ext cx="2130374" cy="30524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66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C [1,000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4">
            <a:extLst>
              <a:ext uri="{FF2B5EF4-FFF2-40B4-BE49-F238E27FC236}">
                <a16:creationId xmlns:a16="http://schemas.microsoft.com/office/drawing/2014/main" id="{8D6EB9B6-7FBA-4FFD-AC5B-9D0A12AA3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061935"/>
              </p:ext>
            </p:extLst>
          </p:nvPr>
        </p:nvGraphicFramePr>
        <p:xfrm>
          <a:off x="3975138" y="3689636"/>
          <a:ext cx="1965884" cy="608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88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기타 </a:t>
                      </a: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Tr.B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대주 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AF8C8E92-E185-40FB-BE03-8CB424CF6C2F}"/>
              </a:ext>
            </a:extLst>
          </p:cNvPr>
          <p:cNvCxnSpPr>
            <a:cxnSpLocks/>
          </p:cNvCxnSpPr>
          <p:nvPr/>
        </p:nvCxnSpPr>
        <p:spPr>
          <a:xfrm>
            <a:off x="1473193" y="4357425"/>
            <a:ext cx="2351606" cy="570733"/>
          </a:xfrm>
          <a:prstGeom prst="bentConnector3">
            <a:avLst>
              <a:gd name="adj1" fmla="val -45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71D0886-8BCD-4468-81D6-16ABFDE00C5C}"/>
              </a:ext>
            </a:extLst>
          </p:cNvPr>
          <p:cNvSpPr txBox="1"/>
          <p:nvPr/>
        </p:nvSpPr>
        <p:spPr>
          <a:xfrm>
            <a:off x="1581156" y="4975108"/>
            <a:ext cx="2120350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부동산 담보신탁</a:t>
            </a:r>
            <a:r>
              <a:rPr lang="en-US" altLang="ko-KR" sz="1000" b="1" dirty="0">
                <a:latin typeface="Pretendard ExtraBold"/>
                <a:ea typeface="Pretendard ExtraBold"/>
              </a:rPr>
              <a:t> </a:t>
            </a:r>
            <a:r>
              <a:rPr lang="ko-KR" altLang="en-US" sz="1000" b="1" dirty="0">
                <a:latin typeface="Pretendard ExtraBold"/>
                <a:ea typeface="Pretendard ExtraBold"/>
              </a:rPr>
              <a:t>공동</a:t>
            </a:r>
            <a:r>
              <a:rPr lang="en-US" altLang="ko-KR" sz="1000" b="1" dirty="0">
                <a:latin typeface="Pretendard ExtraBold"/>
                <a:ea typeface="Pretendard ExtraBold"/>
              </a:rPr>
              <a:t> 2</a:t>
            </a:r>
            <a:r>
              <a:rPr lang="ko-KR" altLang="en-US" sz="1000" b="1" dirty="0">
                <a:latin typeface="Pretendard ExtraBold"/>
                <a:ea typeface="Pretendard ExtraBold"/>
              </a:rPr>
              <a:t>순위 우선수익권 </a:t>
            </a:r>
            <a:endParaRPr lang="en-US" altLang="ko-KR" sz="1000" b="1" dirty="0">
              <a:latin typeface="Pretendard ExtraBold"/>
              <a:ea typeface="Pretendard ExtraBold"/>
            </a:endParaRPr>
          </a:p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매출 금전채권 신탁 </a:t>
            </a:r>
            <a:r>
              <a:rPr lang="en-US" altLang="ko-KR" sz="1000" b="1" dirty="0">
                <a:latin typeface="Pretendard ExtraBold"/>
                <a:ea typeface="Pretendard ExtraBold"/>
              </a:rPr>
              <a:t>2</a:t>
            </a:r>
            <a:r>
              <a:rPr lang="ko-KR" altLang="en-US" sz="1000" b="1" dirty="0">
                <a:latin typeface="Pretendard ExtraBold"/>
                <a:ea typeface="Pretendard ExtraBold"/>
              </a:rPr>
              <a:t>종 수익권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1759ABD-E3B2-42AE-8633-6241E5BF08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12" t="20503" r="7712" b="20503"/>
          <a:stretch/>
        </p:blipFill>
        <p:spPr>
          <a:xfrm>
            <a:off x="6577894" y="1991202"/>
            <a:ext cx="1878982" cy="716836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A6286DA8-82D4-4B55-AF1A-07D9FEDFDCE7}"/>
              </a:ext>
            </a:extLst>
          </p:cNvPr>
          <p:cNvCxnSpPr>
            <a:cxnSpLocks/>
            <a:stCxn id="16" idx="1"/>
            <a:endCxn id="7" idx="0"/>
          </p:cNvCxnSpPr>
          <p:nvPr/>
        </p:nvCxnSpPr>
        <p:spPr>
          <a:xfrm rot="10800000" flipV="1">
            <a:off x="4953000" y="2349619"/>
            <a:ext cx="1624894" cy="263129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300E3D-4FE3-4AD6-8F88-0BCBDED3EC1D}"/>
              </a:ext>
            </a:extLst>
          </p:cNvPr>
          <p:cNvSpPr txBox="1"/>
          <p:nvPr/>
        </p:nvSpPr>
        <p:spPr>
          <a:xfrm>
            <a:off x="4450718" y="1978974"/>
            <a:ext cx="1402354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 err="1">
                <a:latin typeface="Pretendard ExtraBold"/>
                <a:ea typeface="Pretendard ExtraBold"/>
              </a:rPr>
              <a:t>Tr.A</a:t>
            </a:r>
            <a:r>
              <a:rPr lang="en-US" altLang="ko-KR" sz="1000" b="1" dirty="0">
                <a:latin typeface="Pretendard ExtraBold"/>
                <a:ea typeface="Pretendard ExtraBold"/>
              </a:rPr>
              <a:t>/B</a:t>
            </a:r>
          </a:p>
          <a:p>
            <a:pPr algn="ctr">
              <a:defRPr/>
            </a:pPr>
            <a:r>
              <a:rPr lang="ko-KR" altLang="en-US" sz="1000" b="1" dirty="0" err="1">
                <a:latin typeface="Pretendard ExtraBold"/>
                <a:ea typeface="Pretendard ExtraBold"/>
              </a:rPr>
              <a:t>이자자금보충확약</a:t>
            </a:r>
            <a:endParaRPr lang="en-US" altLang="ko-KR" sz="1000" b="1" dirty="0">
              <a:latin typeface="Pretendard ExtraBold"/>
              <a:ea typeface="Pretendard ExtraBold"/>
            </a:endParaRPr>
          </a:p>
          <a:p>
            <a:pPr algn="ctr">
              <a:defRPr/>
            </a:pPr>
            <a:r>
              <a:rPr lang="en-US" altLang="ko-KR" sz="1000" b="1" dirty="0">
                <a:latin typeface="Pretendard ExtraBold"/>
                <a:ea typeface="Pretendard ExtraBold"/>
              </a:rPr>
              <a:t>(</a:t>
            </a:r>
            <a:r>
              <a:rPr lang="ko-KR" altLang="en-US" sz="1000" b="1" dirty="0">
                <a:latin typeface="Pretendard ExtraBold"/>
                <a:ea typeface="Pretendard ExtraBold"/>
              </a:rPr>
              <a:t>연체이자제외</a:t>
            </a:r>
            <a:r>
              <a:rPr lang="en-US" altLang="ko-KR" sz="1000" b="1" dirty="0">
                <a:latin typeface="Pretendard ExtraBold"/>
                <a:ea typeface="Pretendard ExtraBold"/>
              </a:rPr>
              <a:t>)</a:t>
            </a: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DE6DA44-F041-4D72-BF92-9A02C29417E4}"/>
              </a:ext>
            </a:extLst>
          </p:cNvPr>
          <p:cNvCxnSpPr>
            <a:cxnSpLocks/>
            <a:stCxn id="16" idx="0"/>
            <a:endCxn id="9" idx="0"/>
          </p:cNvCxnSpPr>
          <p:nvPr/>
        </p:nvCxnSpPr>
        <p:spPr>
          <a:xfrm rot="16200000" flipH="1" flipV="1">
            <a:off x="4518627" y="-406240"/>
            <a:ext cx="601317" cy="5396199"/>
          </a:xfrm>
          <a:prstGeom prst="bentConnector3">
            <a:avLst>
              <a:gd name="adj1" fmla="val -3801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D94721-1698-4119-87D1-97B5B328D4C0}"/>
              </a:ext>
            </a:extLst>
          </p:cNvPr>
          <p:cNvSpPr txBox="1"/>
          <p:nvPr/>
        </p:nvSpPr>
        <p:spPr>
          <a:xfrm>
            <a:off x="5675740" y="1978974"/>
            <a:ext cx="870751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 err="1">
                <a:latin typeface="Pretendard ExtraBold"/>
                <a:ea typeface="Pretendard ExtraBold"/>
              </a:rPr>
              <a:t>Tr.C</a:t>
            </a:r>
            <a:endParaRPr lang="en-US" altLang="ko-KR" sz="1000" b="1" dirty="0">
              <a:latin typeface="Pretendard ExtraBold"/>
              <a:ea typeface="Pretendard ExtraBold"/>
            </a:endParaRPr>
          </a:p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원리금 자금보충</a:t>
            </a:r>
            <a:endParaRPr lang="en-US" altLang="ko-KR" sz="1000" b="1" dirty="0">
              <a:latin typeface="Pretendard ExtraBold"/>
              <a:ea typeface="Pretendard ExtraBold"/>
            </a:endParaRPr>
          </a:p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및 채무인수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A13AC7-65BA-44C5-8F1C-E265EBBF4493}"/>
              </a:ext>
            </a:extLst>
          </p:cNvPr>
          <p:cNvSpPr txBox="1"/>
          <p:nvPr/>
        </p:nvSpPr>
        <p:spPr>
          <a:xfrm>
            <a:off x="4494648" y="1478635"/>
            <a:ext cx="154258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>
                <a:latin typeface="Pretendard ExtraBold"/>
                <a:ea typeface="Pretendard ExtraBold"/>
              </a:rPr>
              <a:t>전환사채 투자</a:t>
            </a:r>
            <a:r>
              <a:rPr lang="en-US" altLang="ko-KR" sz="1000" b="1" dirty="0">
                <a:latin typeface="Pretendard ExtraBold"/>
                <a:ea typeface="Pretendard ExtraBold"/>
              </a:rPr>
              <a:t>1,000</a:t>
            </a:r>
            <a:r>
              <a:rPr lang="ko-KR" altLang="en-US" sz="1000" b="1" dirty="0">
                <a:latin typeface="Pretendard ExtraBold"/>
                <a:ea typeface="Pretendard ExtraBold"/>
              </a:rPr>
              <a:t>억원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00AB7A-A489-456D-9381-CB4A77C7D8F2}"/>
              </a:ext>
            </a:extLst>
          </p:cNvPr>
          <p:cNvSpPr/>
          <p:nvPr/>
        </p:nvSpPr>
        <p:spPr>
          <a:xfrm>
            <a:off x="3929218" y="4373400"/>
            <a:ext cx="4678173" cy="743427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24" name="표 4">
            <a:extLst>
              <a:ext uri="{FF2B5EF4-FFF2-40B4-BE49-F238E27FC236}">
                <a16:creationId xmlns:a16="http://schemas.microsoft.com/office/drawing/2014/main" id="{CBB7E19D-C1CD-444B-AE2E-D323B903C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680528"/>
              </p:ext>
            </p:extLst>
          </p:nvPr>
        </p:nvGraphicFramePr>
        <p:xfrm>
          <a:off x="3975138" y="4463779"/>
          <a:ext cx="1960205" cy="5439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5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신규 유동화 </a:t>
                      </a:r>
                      <a:r>
                        <a:rPr lang="en-US" altLang="ko-KR" sz="8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  <a:endParaRPr lang="ko-KR" altLang="en-US" sz="8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T.B.D. [*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표 4">
            <a:extLst>
              <a:ext uri="{FF2B5EF4-FFF2-40B4-BE49-F238E27FC236}">
                <a16:creationId xmlns:a16="http://schemas.microsoft.com/office/drawing/2014/main" id="{6FED3EBD-9C69-4007-AE4F-9159C8DE3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106259"/>
              </p:ext>
            </p:extLst>
          </p:nvPr>
        </p:nvGraphicFramePr>
        <p:xfrm>
          <a:off x="7285899" y="4463778"/>
          <a:ext cx="1217353" cy="54391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7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27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사채권자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T.B.D. [*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605082C-33FC-4600-8ED3-4F669572CE08}"/>
              </a:ext>
            </a:extLst>
          </p:cNvPr>
          <p:cNvCxnSpPr>
            <a:cxnSpLocks/>
            <a:stCxn id="25" idx="1"/>
            <a:endCxn id="24" idx="3"/>
          </p:cNvCxnSpPr>
          <p:nvPr/>
        </p:nvCxnSpPr>
        <p:spPr>
          <a:xfrm flipH="1">
            <a:off x="5935343" y="4735737"/>
            <a:ext cx="1350556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CE1BDD-3DF7-4D68-A266-62B96931B75E}"/>
              </a:ext>
            </a:extLst>
          </p:cNvPr>
          <p:cNvSpPr txBox="1"/>
          <p:nvPr/>
        </p:nvSpPr>
        <p:spPr>
          <a:xfrm>
            <a:off x="665259" y="261168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E09051-1127-4372-9974-94FE7AE7FEE8}"/>
              </a:ext>
            </a:extLst>
          </p:cNvPr>
          <p:cNvSpPr txBox="1"/>
          <p:nvPr/>
        </p:nvSpPr>
        <p:spPr>
          <a:xfrm>
            <a:off x="3946554" y="257325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868AB5-61C2-4722-A0A1-FBE4D9545199}"/>
              </a:ext>
            </a:extLst>
          </p:cNvPr>
          <p:cNvSpPr txBox="1"/>
          <p:nvPr/>
        </p:nvSpPr>
        <p:spPr>
          <a:xfrm>
            <a:off x="3571789" y="290550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BC0533-D8A9-4DF4-9D83-52A93C9C074C}"/>
              </a:ext>
            </a:extLst>
          </p:cNvPr>
          <p:cNvSpPr txBox="1"/>
          <p:nvPr/>
        </p:nvSpPr>
        <p:spPr>
          <a:xfrm>
            <a:off x="3571789" y="336197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05C246-72C2-4A89-AE01-D1E22B6CD925}"/>
              </a:ext>
            </a:extLst>
          </p:cNvPr>
          <p:cNvSpPr txBox="1"/>
          <p:nvPr/>
        </p:nvSpPr>
        <p:spPr>
          <a:xfrm>
            <a:off x="3573623" y="388892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14EA2A-5E15-4AA1-8B43-74BA788FD2A7}"/>
              </a:ext>
            </a:extLst>
          </p:cNvPr>
          <p:cNvSpPr txBox="1"/>
          <p:nvPr/>
        </p:nvSpPr>
        <p:spPr>
          <a:xfrm>
            <a:off x="3571789" y="527416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B730D5-26EA-4389-B50E-B6A8ED188DC7}"/>
              </a:ext>
            </a:extLst>
          </p:cNvPr>
          <p:cNvSpPr txBox="1"/>
          <p:nvPr/>
        </p:nvSpPr>
        <p:spPr>
          <a:xfrm>
            <a:off x="6068501" y="442959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AEC788-A949-4CBD-A7D3-4FFF164D591B}"/>
              </a:ext>
            </a:extLst>
          </p:cNvPr>
          <p:cNvSpPr txBox="1"/>
          <p:nvPr/>
        </p:nvSpPr>
        <p:spPr>
          <a:xfrm>
            <a:off x="6950652" y="440516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320040-9359-4639-B962-E34FD201C0FF}"/>
              </a:ext>
            </a:extLst>
          </p:cNvPr>
          <p:cNvSpPr txBox="1"/>
          <p:nvPr/>
        </p:nvSpPr>
        <p:spPr>
          <a:xfrm>
            <a:off x="544852" y="2910443"/>
            <a:ext cx="482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EFD56D-769B-42D8-B4F9-634CB1D583EB}"/>
              </a:ext>
            </a:extLst>
          </p:cNvPr>
          <p:cNvSpPr txBox="1"/>
          <p:nvPr/>
        </p:nvSpPr>
        <p:spPr>
          <a:xfrm>
            <a:off x="6025081" y="4751563"/>
            <a:ext cx="466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CC70D1-67E0-4F75-A079-42A8A3699C51}"/>
              </a:ext>
            </a:extLst>
          </p:cNvPr>
          <p:cNvSpPr txBox="1"/>
          <p:nvPr/>
        </p:nvSpPr>
        <p:spPr>
          <a:xfrm>
            <a:off x="6871970" y="4757477"/>
            <a:ext cx="467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24DE86-CB20-4105-BF12-98CC23D0F6F8}"/>
              </a:ext>
            </a:extLst>
          </p:cNvPr>
          <p:cNvSpPr txBox="1"/>
          <p:nvPr/>
        </p:nvSpPr>
        <p:spPr>
          <a:xfrm>
            <a:off x="2025739" y="465778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7B71AE-BAD5-4368-A003-C97B03E8D1D6}"/>
              </a:ext>
            </a:extLst>
          </p:cNvPr>
          <p:cNvSpPr txBox="1"/>
          <p:nvPr/>
        </p:nvSpPr>
        <p:spPr>
          <a:xfrm>
            <a:off x="1358323" y="495780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8DCB33-976B-41E0-8DF3-10EF4FEE0ACA}"/>
              </a:ext>
            </a:extLst>
          </p:cNvPr>
          <p:cNvSpPr txBox="1"/>
          <p:nvPr/>
        </p:nvSpPr>
        <p:spPr>
          <a:xfrm>
            <a:off x="4339811" y="144892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ACAC13-64AA-4447-BDD3-1CC765466486}"/>
              </a:ext>
            </a:extLst>
          </p:cNvPr>
          <p:cNvSpPr txBox="1"/>
          <p:nvPr/>
        </p:nvSpPr>
        <p:spPr>
          <a:xfrm>
            <a:off x="4345110" y="194761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BE798F-6EE3-4079-9B23-4E95B65EB6D3}"/>
              </a:ext>
            </a:extLst>
          </p:cNvPr>
          <p:cNvSpPr txBox="1"/>
          <p:nvPr/>
        </p:nvSpPr>
        <p:spPr>
          <a:xfrm>
            <a:off x="5670120" y="177176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2.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담보대출 후순위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(</a:t>
            </a:r>
            <a:r>
              <a:rPr lang="ko-KR" altLang="en-US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리파이낸싱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)</a:t>
            </a:r>
            <a:endParaRPr lang="ko-KR" altLang="en-US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5C7C6D0-FFB2-4F9D-AD01-CF85F7BCB0E4}"/>
              </a:ext>
            </a:extLst>
          </p:cNvPr>
          <p:cNvSpPr/>
          <p:nvPr/>
        </p:nvSpPr>
        <p:spPr>
          <a:xfrm>
            <a:off x="4387456" y="1937003"/>
            <a:ext cx="2257548" cy="37860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4681A5-BB82-446E-8E14-E7E54F9A1C97}"/>
              </a:ext>
            </a:extLst>
          </p:cNvPr>
          <p:cNvSpPr txBox="1"/>
          <p:nvPr/>
        </p:nvSpPr>
        <p:spPr>
          <a:xfrm>
            <a:off x="2098123" y="2895910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담보신탁계약 체결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graphicFrame>
        <p:nvGraphicFramePr>
          <p:cNvPr id="54" name="표 4">
            <a:extLst>
              <a:ext uri="{FF2B5EF4-FFF2-40B4-BE49-F238E27FC236}">
                <a16:creationId xmlns:a16="http://schemas.microsoft.com/office/drawing/2014/main" id="{9A215995-578F-4E30-ADFE-A416271B6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731733"/>
              </p:ext>
            </p:extLst>
          </p:nvPr>
        </p:nvGraphicFramePr>
        <p:xfrm>
          <a:off x="4633237" y="2238954"/>
          <a:ext cx="1765984" cy="119004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6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6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A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5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대신저축은행 외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18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개 저축은행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컨소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[1,200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E260F07F-2A05-4B7D-9780-88B83E0BC10A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2115743" y="2552030"/>
            <a:ext cx="0" cy="9064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D0738C5-8F48-4278-BC80-B106C5D74BBD}"/>
              </a:ext>
            </a:extLst>
          </p:cNvPr>
          <p:cNvSpPr txBox="1"/>
          <p:nvPr/>
        </p:nvSpPr>
        <p:spPr>
          <a:xfrm>
            <a:off x="4531341" y="1963024"/>
            <a:ext cx="19421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Pretendard ExtraBold"/>
                <a:ea typeface="Pretendard ExtraBold"/>
              </a:rPr>
              <a:t>담보대출금 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[1,450</a:t>
            </a:r>
            <a:r>
              <a:rPr lang="ko-KR" altLang="en-US" sz="1000" b="1" u="sng" dirty="0">
                <a:latin typeface="Pretendard ExtraBold"/>
                <a:ea typeface="Pretendard ExtraBold"/>
              </a:rPr>
              <a:t>억원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]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530799A-B646-431A-8243-911CA5F8D869}"/>
              </a:ext>
            </a:extLst>
          </p:cNvPr>
          <p:cNvCxnSpPr>
            <a:cxnSpLocks/>
          </p:cNvCxnSpPr>
          <p:nvPr/>
        </p:nvCxnSpPr>
        <p:spPr>
          <a:xfrm flipV="1">
            <a:off x="3194509" y="3754115"/>
            <a:ext cx="1138291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814251C7-4326-409B-844C-35B48D79C64B}"/>
              </a:ext>
            </a:extLst>
          </p:cNvPr>
          <p:cNvCxnSpPr>
            <a:cxnSpLocks/>
          </p:cNvCxnSpPr>
          <p:nvPr/>
        </p:nvCxnSpPr>
        <p:spPr>
          <a:xfrm>
            <a:off x="2160293" y="4109599"/>
            <a:ext cx="0" cy="9064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271D5F4-612E-4B8A-B42D-08441DDE8047}"/>
              </a:ext>
            </a:extLst>
          </p:cNvPr>
          <p:cNvSpPr txBox="1"/>
          <p:nvPr/>
        </p:nvSpPr>
        <p:spPr>
          <a:xfrm>
            <a:off x="2132793" y="4434714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연대보증계약 체결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4AE19FED-C7B8-4B1B-860F-61962604479D}"/>
              </a:ext>
            </a:extLst>
          </p:cNvPr>
          <p:cNvCxnSpPr>
            <a:cxnSpLocks/>
          </p:cNvCxnSpPr>
          <p:nvPr/>
        </p:nvCxnSpPr>
        <p:spPr>
          <a:xfrm>
            <a:off x="2036657" y="4109599"/>
            <a:ext cx="0" cy="9064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61" name="표 4">
            <a:extLst>
              <a:ext uri="{FF2B5EF4-FFF2-40B4-BE49-F238E27FC236}">
                <a16:creationId xmlns:a16="http://schemas.microsoft.com/office/drawing/2014/main" id="{301C611E-CC7A-4FCF-9077-8E662FB11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45869"/>
              </p:ext>
            </p:extLst>
          </p:nvPr>
        </p:nvGraphicFramePr>
        <p:xfrm>
          <a:off x="1135234" y="1907355"/>
          <a:ext cx="1961019" cy="6446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1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86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부동산신탁사</a:t>
                      </a: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신한자산신탁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표 4">
            <a:extLst>
              <a:ext uri="{FF2B5EF4-FFF2-40B4-BE49-F238E27FC236}">
                <a16:creationId xmlns:a16="http://schemas.microsoft.com/office/drawing/2014/main" id="{93E15ED3-BB59-4E56-85C9-181BC5417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322996"/>
              </p:ext>
            </p:extLst>
          </p:nvPr>
        </p:nvGraphicFramePr>
        <p:xfrm>
          <a:off x="1121633" y="3458519"/>
          <a:ext cx="1988220" cy="65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8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사업시행자 및 차주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에스와이신도시개발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" name="표 4">
            <a:extLst>
              <a:ext uri="{FF2B5EF4-FFF2-40B4-BE49-F238E27FC236}">
                <a16:creationId xmlns:a16="http://schemas.microsoft.com/office/drawing/2014/main" id="{EE1AD39B-DB81-45FA-9005-FAECA1B83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697914"/>
              </p:ext>
            </p:extLst>
          </p:nvPr>
        </p:nvGraphicFramePr>
        <p:xfrm>
          <a:off x="1104013" y="4877588"/>
          <a:ext cx="1988220" cy="65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88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연대보증사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㈜신영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686EDC5B-AD0B-4E30-8884-5C4230441696}"/>
              </a:ext>
            </a:extLst>
          </p:cNvPr>
          <p:cNvSpPr txBox="1"/>
          <p:nvPr/>
        </p:nvSpPr>
        <p:spPr>
          <a:xfrm>
            <a:off x="970584" y="4434714"/>
            <a:ext cx="1053610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출자 및 후순위 대여</a:t>
            </a:r>
            <a:endParaRPr lang="en-US" altLang="ko-KR" sz="1000" b="1" dirty="0">
              <a:latin typeface="Pretendard ExtraBold"/>
              <a:ea typeface="Pretendard ExtraBold"/>
            </a:endParaRPr>
          </a:p>
          <a:p>
            <a:pPr algn="ctr">
              <a:defRPr/>
            </a:pPr>
            <a:r>
              <a:rPr lang="en-US" altLang="ko-KR" sz="1000" b="1" dirty="0">
                <a:latin typeface="Pretendard ExtraBold"/>
                <a:ea typeface="Pretendard ExtraBold"/>
              </a:rPr>
              <a:t>(100%)</a:t>
            </a:r>
          </a:p>
        </p:txBody>
      </p:sp>
      <p:graphicFrame>
        <p:nvGraphicFramePr>
          <p:cNvPr id="65" name="표 4">
            <a:extLst>
              <a:ext uri="{FF2B5EF4-FFF2-40B4-BE49-F238E27FC236}">
                <a16:creationId xmlns:a16="http://schemas.microsoft.com/office/drawing/2014/main" id="{49467802-3480-408D-88C4-1C07665EA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992146"/>
              </p:ext>
            </p:extLst>
          </p:nvPr>
        </p:nvGraphicFramePr>
        <p:xfrm>
          <a:off x="4634916" y="3543352"/>
          <a:ext cx="1765984" cy="189229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6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69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B (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본건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96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기타 대주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220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총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250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6C340F63-8189-4FB4-A63B-E0FE78383E36}"/>
              </a:ext>
            </a:extLst>
          </p:cNvPr>
          <p:cNvSpPr txBox="1"/>
          <p:nvPr/>
        </p:nvSpPr>
        <p:spPr>
          <a:xfrm>
            <a:off x="3242789" y="3491407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담보대출 계약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62F8BDF-6BBB-402C-B50F-6D4FEF31F34D}"/>
              </a:ext>
            </a:extLst>
          </p:cNvPr>
          <p:cNvSpPr/>
          <p:nvPr/>
        </p:nvSpPr>
        <p:spPr>
          <a:xfrm>
            <a:off x="4694283" y="4257485"/>
            <a:ext cx="4654687" cy="771124"/>
          </a:xfrm>
          <a:prstGeom prst="round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68" name="표 4">
            <a:extLst>
              <a:ext uri="{FF2B5EF4-FFF2-40B4-BE49-F238E27FC236}">
                <a16:creationId xmlns:a16="http://schemas.microsoft.com/office/drawing/2014/main" id="{7030B083-6D0E-41DC-A888-DF516D044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614733"/>
              </p:ext>
            </p:extLst>
          </p:nvPr>
        </p:nvGraphicFramePr>
        <p:xfrm>
          <a:off x="7556584" y="4353391"/>
          <a:ext cx="1556970" cy="5334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3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투자자</a:t>
                      </a:r>
                      <a:r>
                        <a:rPr lang="en-US" altLang="ko-KR" sz="8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/</a:t>
                      </a:r>
                      <a:r>
                        <a:rPr lang="ko-KR" altLang="en-US" sz="8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사채권자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T.B.D. [60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표 4">
            <a:extLst>
              <a:ext uri="{FF2B5EF4-FFF2-40B4-BE49-F238E27FC236}">
                <a16:creationId xmlns:a16="http://schemas.microsoft.com/office/drawing/2014/main" id="{638CC8A3-57D3-4E2B-9F84-83B6146D9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14086"/>
              </p:ext>
            </p:extLst>
          </p:nvPr>
        </p:nvGraphicFramePr>
        <p:xfrm>
          <a:off x="4775284" y="4353391"/>
          <a:ext cx="1556970" cy="5334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3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신규 유동화 </a:t>
                      </a:r>
                      <a:r>
                        <a:rPr lang="en-US" altLang="ko-KR" sz="8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  <a:endParaRPr lang="ko-KR" altLang="en-US" sz="8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T.B.D. [60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474A926-1565-43F1-9535-D5042EB7C762}"/>
              </a:ext>
            </a:extLst>
          </p:cNvPr>
          <p:cNvCxnSpPr>
            <a:cxnSpLocks/>
            <a:stCxn id="69" idx="3"/>
            <a:endCxn id="68" idx="1"/>
          </p:cNvCxnSpPr>
          <p:nvPr/>
        </p:nvCxnSpPr>
        <p:spPr>
          <a:xfrm>
            <a:off x="6332254" y="4620115"/>
            <a:ext cx="122433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6B09C30-3C67-4DB2-BC1C-B0883A227FB2}"/>
              </a:ext>
            </a:extLst>
          </p:cNvPr>
          <p:cNvSpPr txBox="1"/>
          <p:nvPr/>
        </p:nvSpPr>
        <p:spPr>
          <a:xfrm>
            <a:off x="6439321" y="4351640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사모사채발행</a:t>
            </a:r>
            <a:r>
              <a:rPr lang="en-US" altLang="ko-KR" sz="1000" b="1" dirty="0">
                <a:latin typeface="Pretendard ExtraBold"/>
                <a:ea typeface="Pretendard ExtraBold"/>
              </a:rPr>
              <a:t>/</a:t>
            </a:r>
            <a:r>
              <a:rPr lang="ko-KR" altLang="en-US" sz="1000" b="1" dirty="0">
                <a:latin typeface="Pretendard ExtraBold"/>
                <a:ea typeface="Pretendard ExtraBold"/>
              </a:rPr>
              <a:t>인수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A584C54-E05F-441F-A6B5-149CF7C835EF}"/>
              </a:ext>
            </a:extLst>
          </p:cNvPr>
          <p:cNvCxnSpPr>
            <a:cxnSpLocks/>
          </p:cNvCxnSpPr>
          <p:nvPr/>
        </p:nvCxnSpPr>
        <p:spPr>
          <a:xfrm flipV="1">
            <a:off x="3194509" y="5369857"/>
            <a:ext cx="1138291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3A7191C-9C2E-4EF8-B166-610A403F9C84}"/>
              </a:ext>
            </a:extLst>
          </p:cNvPr>
          <p:cNvSpPr txBox="1"/>
          <p:nvPr/>
        </p:nvSpPr>
        <p:spPr>
          <a:xfrm>
            <a:off x="3242789" y="5107149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연대보증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1D9C2E-9A6A-4F9E-918A-1CD514D2FF5E}"/>
              </a:ext>
            </a:extLst>
          </p:cNvPr>
          <p:cNvSpPr txBox="1"/>
          <p:nvPr/>
        </p:nvSpPr>
        <p:spPr>
          <a:xfrm>
            <a:off x="798232" y="193224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05A8B1-3DD0-4DE7-9E18-6281C6CB91D5}"/>
              </a:ext>
            </a:extLst>
          </p:cNvPr>
          <p:cNvSpPr txBox="1"/>
          <p:nvPr/>
        </p:nvSpPr>
        <p:spPr>
          <a:xfrm>
            <a:off x="657799" y="2224979"/>
            <a:ext cx="549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431B13-9D06-424F-91DC-8C593D404054}"/>
              </a:ext>
            </a:extLst>
          </p:cNvPr>
          <p:cNvSpPr txBox="1"/>
          <p:nvPr/>
        </p:nvSpPr>
        <p:spPr>
          <a:xfrm>
            <a:off x="800362" y="347711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69E70B-149B-4D39-8756-F309D5C63594}"/>
              </a:ext>
            </a:extLst>
          </p:cNvPr>
          <p:cNvSpPr txBox="1"/>
          <p:nvPr/>
        </p:nvSpPr>
        <p:spPr>
          <a:xfrm>
            <a:off x="697160" y="3798194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8EA946-A99B-4590-8C87-5A915CD3C7E4}"/>
              </a:ext>
            </a:extLst>
          </p:cNvPr>
          <p:cNvSpPr txBox="1"/>
          <p:nvPr/>
        </p:nvSpPr>
        <p:spPr>
          <a:xfrm>
            <a:off x="695952" y="5231281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754F04-6C40-410A-BAB3-2BDFF0AF57A1}"/>
              </a:ext>
            </a:extLst>
          </p:cNvPr>
          <p:cNvSpPr txBox="1"/>
          <p:nvPr/>
        </p:nvSpPr>
        <p:spPr>
          <a:xfrm>
            <a:off x="720884" y="4926129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02EB842-A518-4969-99DF-BDC9FC684D41}"/>
              </a:ext>
            </a:extLst>
          </p:cNvPr>
          <p:cNvSpPr txBox="1"/>
          <p:nvPr/>
        </p:nvSpPr>
        <p:spPr>
          <a:xfrm>
            <a:off x="4478215" y="1934956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CF8E12-6BF2-441B-BE54-2EDE65E800D7}"/>
              </a:ext>
            </a:extLst>
          </p:cNvPr>
          <p:cNvSpPr txBox="1"/>
          <p:nvPr/>
        </p:nvSpPr>
        <p:spPr>
          <a:xfrm>
            <a:off x="4275156" y="2248877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88D53CB-7EA0-4BD7-93BD-3536EA46A16C}"/>
              </a:ext>
            </a:extLst>
          </p:cNvPr>
          <p:cNvSpPr txBox="1"/>
          <p:nvPr/>
        </p:nvSpPr>
        <p:spPr>
          <a:xfrm>
            <a:off x="4200853" y="2773106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DB25DE-EC74-4D74-9F4E-5D2FB3BCD055}"/>
              </a:ext>
            </a:extLst>
          </p:cNvPr>
          <p:cNvSpPr txBox="1"/>
          <p:nvPr/>
        </p:nvSpPr>
        <p:spPr>
          <a:xfrm>
            <a:off x="4275156" y="3574455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4FE1F9-F52C-4AF4-B0D8-E81D00AA0A7D}"/>
              </a:ext>
            </a:extLst>
          </p:cNvPr>
          <p:cNvSpPr txBox="1"/>
          <p:nvPr/>
        </p:nvSpPr>
        <p:spPr>
          <a:xfrm>
            <a:off x="4236528" y="3979710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7CCC3C-0E6B-4D89-9873-9B7A4C39EFC0}"/>
              </a:ext>
            </a:extLst>
          </p:cNvPr>
          <p:cNvSpPr txBox="1"/>
          <p:nvPr/>
        </p:nvSpPr>
        <p:spPr>
          <a:xfrm>
            <a:off x="4454785" y="4332841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65E1EC4-EFF3-4D51-9DFF-D3992F33BB9B}"/>
              </a:ext>
            </a:extLst>
          </p:cNvPr>
          <p:cNvSpPr txBox="1"/>
          <p:nvPr/>
        </p:nvSpPr>
        <p:spPr>
          <a:xfrm>
            <a:off x="4416364" y="4600768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C8FE1BA-4822-4DDC-96E9-BF0BD077740F}"/>
              </a:ext>
            </a:extLst>
          </p:cNvPr>
          <p:cNvSpPr txBox="1"/>
          <p:nvPr/>
        </p:nvSpPr>
        <p:spPr>
          <a:xfrm>
            <a:off x="9096268" y="4350999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endParaRPr lang="en-US" altLang="ko-KR" sz="12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E8AB14D-9B01-411F-ABD3-F5E9CB9B0804}"/>
              </a:ext>
            </a:extLst>
          </p:cNvPr>
          <p:cNvSpPr txBox="1"/>
          <p:nvPr/>
        </p:nvSpPr>
        <p:spPr>
          <a:xfrm>
            <a:off x="9084058" y="4609840"/>
            <a:ext cx="470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11D45F-EAF8-426B-8871-01D41A9326B3}"/>
              </a:ext>
            </a:extLst>
          </p:cNvPr>
          <p:cNvSpPr txBox="1"/>
          <p:nvPr/>
        </p:nvSpPr>
        <p:spPr>
          <a:xfrm>
            <a:off x="1823119" y="288046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FBA7A5-D3B1-461B-86B9-849289EDF754}"/>
              </a:ext>
            </a:extLst>
          </p:cNvPr>
          <p:cNvSpPr txBox="1"/>
          <p:nvPr/>
        </p:nvSpPr>
        <p:spPr>
          <a:xfrm>
            <a:off x="702500" y="440684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EE15BC-F01B-4DAC-9114-53C7307B38C7}"/>
              </a:ext>
            </a:extLst>
          </p:cNvPr>
          <p:cNvSpPr txBox="1"/>
          <p:nvPr/>
        </p:nvSpPr>
        <p:spPr>
          <a:xfrm>
            <a:off x="3095280" y="439778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E50640-CBA9-46DF-B3E7-00E0D46F5EE8}"/>
              </a:ext>
            </a:extLst>
          </p:cNvPr>
          <p:cNvSpPr txBox="1"/>
          <p:nvPr/>
        </p:nvSpPr>
        <p:spPr>
          <a:xfrm>
            <a:off x="3583100" y="329694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8975A9-D3BD-46DF-B46A-B0392E1C8DDD}"/>
              </a:ext>
            </a:extLst>
          </p:cNvPr>
          <p:cNvSpPr txBox="1"/>
          <p:nvPr/>
        </p:nvSpPr>
        <p:spPr>
          <a:xfrm>
            <a:off x="3587868" y="488095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943C367-E192-4FB3-8C29-97E03C726E15}"/>
              </a:ext>
            </a:extLst>
          </p:cNvPr>
          <p:cNvSpPr txBox="1"/>
          <p:nvPr/>
        </p:nvSpPr>
        <p:spPr>
          <a:xfrm>
            <a:off x="6811288" y="460076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ⓕ</a:t>
            </a:r>
          </a:p>
        </p:txBody>
      </p:sp>
    </p:spTree>
    <p:extLst>
      <p:ext uri="{BB962C8B-B14F-4D97-AF65-F5344CB8AC3E}">
        <p14:creationId xmlns:p14="http://schemas.microsoft.com/office/powerpoint/2010/main" val="346554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3.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토지담보대출</a:t>
            </a:r>
          </a:p>
        </p:txBody>
      </p:sp>
      <p:graphicFrame>
        <p:nvGraphicFramePr>
          <p:cNvPr id="49" name="표 4">
            <a:extLst>
              <a:ext uri="{FF2B5EF4-FFF2-40B4-BE49-F238E27FC236}">
                <a16:creationId xmlns:a16="http://schemas.microsoft.com/office/drawing/2014/main" id="{F9E5D608-C36B-485A-95CB-49701C37F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35374"/>
              </p:ext>
            </p:extLst>
          </p:nvPr>
        </p:nvGraphicFramePr>
        <p:xfrm>
          <a:off x="3064159" y="3102045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6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루시드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A361C31-F98A-4558-839F-231D2B8AA449}"/>
              </a:ext>
            </a:extLst>
          </p:cNvPr>
          <p:cNvCxnSpPr>
            <a:cxnSpLocks/>
            <a:stCxn id="115" idx="0"/>
            <a:endCxn id="49" idx="2"/>
          </p:cNvCxnSpPr>
          <p:nvPr/>
        </p:nvCxnSpPr>
        <p:spPr>
          <a:xfrm flipV="1">
            <a:off x="3882321" y="3732897"/>
            <a:ext cx="0" cy="8783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1" name="텍스트 개체 틀 2">
            <a:extLst>
              <a:ext uri="{FF2B5EF4-FFF2-40B4-BE49-F238E27FC236}">
                <a16:creationId xmlns:a16="http://schemas.microsoft.com/office/drawing/2014/main" id="{520B2E20-7897-4A6F-BEAD-C82F0AAC7A02}"/>
              </a:ext>
            </a:extLst>
          </p:cNvPr>
          <p:cNvSpPr txBox="1">
            <a:spLocks/>
          </p:cNvSpPr>
          <p:nvPr/>
        </p:nvSpPr>
        <p:spPr>
          <a:xfrm>
            <a:off x="4969152" y="4962092"/>
            <a:ext cx="1241128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터미널 부지 물상보증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50BF84F-F899-4697-A582-226293554D83}"/>
              </a:ext>
            </a:extLst>
          </p:cNvPr>
          <p:cNvSpPr/>
          <p:nvPr/>
        </p:nvSpPr>
        <p:spPr>
          <a:xfrm>
            <a:off x="5601651" y="2304864"/>
            <a:ext cx="1754592" cy="2159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78954D7-5E59-4A02-8854-70416A522B72}"/>
              </a:ext>
            </a:extLst>
          </p:cNvPr>
          <p:cNvSpPr txBox="1"/>
          <p:nvPr/>
        </p:nvSpPr>
        <p:spPr>
          <a:xfrm>
            <a:off x="5657335" y="2298170"/>
            <a:ext cx="1643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>
                <a:latin typeface="Pretendard ExtraBold"/>
                <a:ea typeface="Pretendard ExtraBold"/>
              </a:rPr>
              <a:t>본건 대주단</a:t>
            </a:r>
            <a:endParaRPr lang="en-US" altLang="ko-KR" sz="1000" b="1" u="sng" dirty="0">
              <a:latin typeface="Pretendard ExtraBold"/>
              <a:ea typeface="Pretendard ExtraBold"/>
            </a:endParaRPr>
          </a:p>
        </p:txBody>
      </p:sp>
      <p:graphicFrame>
        <p:nvGraphicFramePr>
          <p:cNvPr id="89" name="표 4">
            <a:extLst>
              <a:ext uri="{FF2B5EF4-FFF2-40B4-BE49-F238E27FC236}">
                <a16:creationId xmlns:a16="http://schemas.microsoft.com/office/drawing/2014/main" id="{30A652FD-F590-4367-B072-E2780DCBD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4226"/>
              </p:ext>
            </p:extLst>
          </p:nvPr>
        </p:nvGraphicFramePr>
        <p:xfrm>
          <a:off x="5703225" y="2551085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Tr.A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200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84F00574-9124-4289-A2C7-3DF64408C4BF}"/>
              </a:ext>
            </a:extLst>
          </p:cNvPr>
          <p:cNvCxnSpPr>
            <a:cxnSpLocks/>
            <a:stCxn id="49" idx="1"/>
            <a:endCxn id="114" idx="3"/>
          </p:cNvCxnSpPr>
          <p:nvPr/>
        </p:nvCxnSpPr>
        <p:spPr>
          <a:xfrm flipH="1">
            <a:off x="2095024" y="3417471"/>
            <a:ext cx="969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00" name="텍스트 개체 틀 2">
            <a:extLst>
              <a:ext uri="{FF2B5EF4-FFF2-40B4-BE49-F238E27FC236}">
                <a16:creationId xmlns:a16="http://schemas.microsoft.com/office/drawing/2014/main" id="{35FB1523-DADB-4C10-9B39-B144BAB6B572}"/>
              </a:ext>
            </a:extLst>
          </p:cNvPr>
          <p:cNvSpPr txBox="1">
            <a:spLocks/>
          </p:cNvSpPr>
          <p:nvPr/>
        </p:nvSpPr>
        <p:spPr>
          <a:xfrm>
            <a:off x="2048190" y="3242210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관리형 토지신탁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계약 체결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101" name="텍스트 개체 틀 2">
            <a:extLst>
              <a:ext uri="{FF2B5EF4-FFF2-40B4-BE49-F238E27FC236}">
                <a16:creationId xmlns:a16="http://schemas.microsoft.com/office/drawing/2014/main" id="{3B474E59-CD0F-4F9D-B6F5-F9D12BCBEBE4}"/>
              </a:ext>
            </a:extLst>
          </p:cNvPr>
          <p:cNvSpPr txBox="1">
            <a:spLocks/>
          </p:cNvSpPr>
          <p:nvPr/>
        </p:nvSpPr>
        <p:spPr>
          <a:xfrm>
            <a:off x="3178209" y="4057331"/>
            <a:ext cx="68167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공동사업약정 체결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AA06E683-0ACC-44EA-BBE7-412FE0F247F5}"/>
              </a:ext>
            </a:extLst>
          </p:cNvPr>
          <p:cNvCxnSpPr>
            <a:cxnSpLocks/>
          </p:cNvCxnSpPr>
          <p:nvPr/>
        </p:nvCxnSpPr>
        <p:spPr>
          <a:xfrm flipH="1">
            <a:off x="4752922" y="3298865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103" name="텍스트 개체 틀 2">
            <a:extLst>
              <a:ext uri="{FF2B5EF4-FFF2-40B4-BE49-F238E27FC236}">
                <a16:creationId xmlns:a16="http://schemas.microsoft.com/office/drawing/2014/main" id="{BD39CF80-D68A-43F7-8788-230FAE35EE39}"/>
              </a:ext>
            </a:extLst>
          </p:cNvPr>
          <p:cNvSpPr txBox="1">
            <a:spLocks/>
          </p:cNvSpPr>
          <p:nvPr/>
        </p:nvSpPr>
        <p:spPr>
          <a:xfrm>
            <a:off x="4578625" y="3106359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대출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C60B29C7-5E7E-46B3-AF01-E83C6C66029A}"/>
              </a:ext>
            </a:extLst>
          </p:cNvPr>
          <p:cNvCxnSpPr>
            <a:cxnSpLocks/>
          </p:cNvCxnSpPr>
          <p:nvPr/>
        </p:nvCxnSpPr>
        <p:spPr>
          <a:xfrm flipH="1">
            <a:off x="4769856" y="3535022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105" name="텍스트 개체 틀 2">
            <a:extLst>
              <a:ext uri="{FF2B5EF4-FFF2-40B4-BE49-F238E27FC236}">
                <a16:creationId xmlns:a16="http://schemas.microsoft.com/office/drawing/2014/main" id="{66443E2F-3598-4AA3-8E54-979F086F1AE6}"/>
              </a:ext>
            </a:extLst>
          </p:cNvPr>
          <p:cNvSpPr txBox="1">
            <a:spLocks/>
          </p:cNvSpPr>
          <p:nvPr/>
        </p:nvSpPr>
        <p:spPr>
          <a:xfrm>
            <a:off x="4607804" y="3550328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이자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106" name="텍스트 개체 틀 2">
            <a:extLst>
              <a:ext uri="{FF2B5EF4-FFF2-40B4-BE49-F238E27FC236}">
                <a16:creationId xmlns:a16="http://schemas.microsoft.com/office/drawing/2014/main" id="{533D91E5-D103-4B19-B121-74C29CDF3D3F}"/>
              </a:ext>
            </a:extLst>
          </p:cNvPr>
          <p:cNvSpPr txBox="1">
            <a:spLocks/>
          </p:cNvSpPr>
          <p:nvPr/>
        </p:nvSpPr>
        <p:spPr>
          <a:xfrm>
            <a:off x="3122975" y="1813102"/>
            <a:ext cx="1707415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순위별 우선수익권 제공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2672D738-ECD2-4B03-A548-80BE163A6A91}"/>
              </a:ext>
            </a:extLst>
          </p:cNvPr>
          <p:cNvCxnSpPr>
            <a:cxnSpLocks/>
            <a:stCxn id="85" idx="0"/>
            <a:endCxn id="114" idx="0"/>
          </p:cNvCxnSpPr>
          <p:nvPr/>
        </p:nvCxnSpPr>
        <p:spPr>
          <a:xfrm rot="16200000" flipH="1" flipV="1">
            <a:off x="3475967" y="99063"/>
            <a:ext cx="803875" cy="5202087"/>
          </a:xfrm>
          <a:prstGeom prst="bentConnector3">
            <a:avLst>
              <a:gd name="adj1" fmla="val -2843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108" name="표 4">
            <a:extLst>
              <a:ext uri="{FF2B5EF4-FFF2-40B4-BE49-F238E27FC236}">
                <a16:creationId xmlns:a16="http://schemas.microsoft.com/office/drawing/2014/main" id="{8F0E428D-79B0-4C31-B383-EF8F5F320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653424"/>
              </p:ext>
            </p:extLst>
          </p:nvPr>
        </p:nvGraphicFramePr>
        <p:xfrm>
          <a:off x="5703225" y="3459713"/>
          <a:ext cx="1551445" cy="9172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5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Tr.B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(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기초자산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, 50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)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4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E56CD28A-4B47-49E0-9867-F707049EDCE6}"/>
              </a:ext>
            </a:extLst>
          </p:cNvPr>
          <p:cNvSpPr/>
          <p:nvPr/>
        </p:nvSpPr>
        <p:spPr>
          <a:xfrm>
            <a:off x="5703226" y="3788240"/>
            <a:ext cx="3875969" cy="531609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110" name="표 4">
            <a:extLst>
              <a:ext uri="{FF2B5EF4-FFF2-40B4-BE49-F238E27FC236}">
                <a16:creationId xmlns:a16="http://schemas.microsoft.com/office/drawing/2014/main" id="{56625751-EBE5-48CC-94BF-FB64C99A8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402015"/>
              </p:ext>
            </p:extLst>
          </p:nvPr>
        </p:nvGraphicFramePr>
        <p:xfrm>
          <a:off x="5774713" y="3828031"/>
          <a:ext cx="1427520" cy="4192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42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신규 유동화 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T.B.D.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1" name="표 4">
            <a:extLst>
              <a:ext uri="{FF2B5EF4-FFF2-40B4-BE49-F238E27FC236}">
                <a16:creationId xmlns:a16="http://schemas.microsoft.com/office/drawing/2014/main" id="{190DAD12-8661-4DD1-978A-5D2229C62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891779"/>
              </p:ext>
            </p:extLst>
          </p:nvPr>
        </p:nvGraphicFramePr>
        <p:xfrm>
          <a:off x="8173068" y="3825836"/>
          <a:ext cx="1248892" cy="4214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4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58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T.B.D.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15AF996B-5FFB-41C7-97DE-46B2CC2A6A52}"/>
              </a:ext>
            </a:extLst>
          </p:cNvPr>
          <p:cNvCxnSpPr>
            <a:cxnSpLocks/>
            <a:stCxn id="111" idx="1"/>
            <a:endCxn id="110" idx="3"/>
          </p:cNvCxnSpPr>
          <p:nvPr/>
        </p:nvCxnSpPr>
        <p:spPr>
          <a:xfrm flipH="1">
            <a:off x="7202233" y="4036582"/>
            <a:ext cx="970835" cy="109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13" name="텍스트 개체 틀 2">
            <a:extLst>
              <a:ext uri="{FF2B5EF4-FFF2-40B4-BE49-F238E27FC236}">
                <a16:creationId xmlns:a16="http://schemas.microsoft.com/office/drawing/2014/main" id="{DAA46F3F-4F2A-456E-86BF-ED728361AE78}"/>
              </a:ext>
            </a:extLst>
          </p:cNvPr>
          <p:cNvSpPr txBox="1">
            <a:spLocks/>
          </p:cNvSpPr>
          <p:nvPr/>
        </p:nvSpPr>
        <p:spPr>
          <a:xfrm>
            <a:off x="7181577" y="3855691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 발행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/</a:t>
            </a: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인수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114" name="표 4">
            <a:extLst>
              <a:ext uri="{FF2B5EF4-FFF2-40B4-BE49-F238E27FC236}">
                <a16:creationId xmlns:a16="http://schemas.microsoft.com/office/drawing/2014/main" id="{15FF9526-53D0-4B78-9913-00AB0C9F0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70675"/>
              </p:ext>
            </p:extLst>
          </p:nvPr>
        </p:nvGraphicFramePr>
        <p:xfrm>
          <a:off x="458699" y="3102045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lang="ko-KR" altLang="en-US" sz="11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한국투자부동산신탁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5" name="표 4">
            <a:extLst>
              <a:ext uri="{FF2B5EF4-FFF2-40B4-BE49-F238E27FC236}">
                <a16:creationId xmlns:a16="http://schemas.microsoft.com/office/drawing/2014/main" id="{4A12D679-DB95-4D70-8F4F-2C527052C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37099"/>
              </p:ext>
            </p:extLst>
          </p:nvPr>
        </p:nvGraphicFramePr>
        <p:xfrm>
          <a:off x="3064159" y="4611264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롯데건설㈜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6" name="연결선: 꺾임 115">
            <a:extLst>
              <a:ext uri="{FF2B5EF4-FFF2-40B4-BE49-F238E27FC236}">
                <a16:creationId xmlns:a16="http://schemas.microsoft.com/office/drawing/2014/main" id="{B2138003-DA19-4BB0-A497-3117C731482D}"/>
              </a:ext>
            </a:extLst>
          </p:cNvPr>
          <p:cNvCxnSpPr>
            <a:cxnSpLocks/>
            <a:stCxn id="84" idx="2"/>
            <a:endCxn id="115" idx="3"/>
          </p:cNvCxnSpPr>
          <p:nvPr/>
        </p:nvCxnSpPr>
        <p:spPr>
          <a:xfrm rot="5400000">
            <a:off x="5358456" y="3806199"/>
            <a:ext cx="462520" cy="17784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117" name="표 4">
            <a:extLst>
              <a:ext uri="{FF2B5EF4-FFF2-40B4-BE49-F238E27FC236}">
                <a16:creationId xmlns:a16="http://schemas.microsoft.com/office/drawing/2014/main" id="{50A39137-8BB1-4F3E-B6F4-26C54B78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422496"/>
              </p:ext>
            </p:extLst>
          </p:nvPr>
        </p:nvGraphicFramePr>
        <p:xfrm>
          <a:off x="5703225" y="2995060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Tr.B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150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8" name="TextBox 117">
            <a:extLst>
              <a:ext uri="{FF2B5EF4-FFF2-40B4-BE49-F238E27FC236}">
                <a16:creationId xmlns:a16="http://schemas.microsoft.com/office/drawing/2014/main" id="{28CF50A5-0F75-4BF6-937B-5C70207E8E11}"/>
              </a:ext>
            </a:extLst>
          </p:cNvPr>
          <p:cNvSpPr txBox="1"/>
          <p:nvPr/>
        </p:nvSpPr>
        <p:spPr>
          <a:xfrm>
            <a:off x="144338" y="311148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FF651B-B66B-4AF8-B156-5FF083009C67}"/>
              </a:ext>
            </a:extLst>
          </p:cNvPr>
          <p:cNvSpPr txBox="1"/>
          <p:nvPr/>
        </p:nvSpPr>
        <p:spPr>
          <a:xfrm>
            <a:off x="45306" y="3465339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D298371-DD09-4F74-B517-899D10746D82}"/>
              </a:ext>
            </a:extLst>
          </p:cNvPr>
          <p:cNvSpPr txBox="1"/>
          <p:nvPr/>
        </p:nvSpPr>
        <p:spPr>
          <a:xfrm>
            <a:off x="3207097" y="311217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227B1F1-CEB8-4195-A2D0-9D70A05BBAD6}"/>
              </a:ext>
            </a:extLst>
          </p:cNvPr>
          <p:cNvSpPr txBox="1"/>
          <p:nvPr/>
        </p:nvSpPr>
        <p:spPr>
          <a:xfrm>
            <a:off x="3069784" y="3434603"/>
            <a:ext cx="529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D4D8877-D677-4EAB-9CE1-F4C3FECA441B}"/>
              </a:ext>
            </a:extLst>
          </p:cNvPr>
          <p:cNvSpPr txBox="1"/>
          <p:nvPr/>
        </p:nvSpPr>
        <p:spPr>
          <a:xfrm>
            <a:off x="2754485" y="463046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27E2CA1-8E21-4A60-819D-48899A946D0F}"/>
              </a:ext>
            </a:extLst>
          </p:cNvPr>
          <p:cNvSpPr txBox="1"/>
          <p:nvPr/>
        </p:nvSpPr>
        <p:spPr>
          <a:xfrm>
            <a:off x="2624009" y="4965117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2515353-453C-4317-AC42-F96F5A939DC7}"/>
              </a:ext>
            </a:extLst>
          </p:cNvPr>
          <p:cNvSpPr txBox="1"/>
          <p:nvPr/>
        </p:nvSpPr>
        <p:spPr>
          <a:xfrm>
            <a:off x="5900606" y="228157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D21F0D4-531E-4FE7-91F6-0DEC543E3A44}"/>
              </a:ext>
            </a:extLst>
          </p:cNvPr>
          <p:cNvSpPr txBox="1"/>
          <p:nvPr/>
        </p:nvSpPr>
        <p:spPr>
          <a:xfrm>
            <a:off x="7247909" y="248307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6C57B0D-DA9B-4A4E-AA60-7D227F6BCE94}"/>
              </a:ext>
            </a:extLst>
          </p:cNvPr>
          <p:cNvSpPr txBox="1"/>
          <p:nvPr/>
        </p:nvSpPr>
        <p:spPr>
          <a:xfrm>
            <a:off x="7149506" y="2692297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EA56D8A-ACFF-4C0C-8F12-C2EC101A2E0D}"/>
              </a:ext>
            </a:extLst>
          </p:cNvPr>
          <p:cNvSpPr txBox="1"/>
          <p:nvPr/>
        </p:nvSpPr>
        <p:spPr>
          <a:xfrm>
            <a:off x="7250457" y="293604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ECF53F6-817E-49FC-9130-B86AB62EF6AC}"/>
              </a:ext>
            </a:extLst>
          </p:cNvPr>
          <p:cNvSpPr txBox="1"/>
          <p:nvPr/>
        </p:nvSpPr>
        <p:spPr>
          <a:xfrm>
            <a:off x="7169704" y="3147285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4B2243C-36C8-4589-A8B8-74B883AC925D}"/>
              </a:ext>
            </a:extLst>
          </p:cNvPr>
          <p:cNvSpPr txBox="1"/>
          <p:nvPr/>
        </p:nvSpPr>
        <p:spPr>
          <a:xfrm>
            <a:off x="7237358" y="344299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B2D9C12-D626-427C-BE4F-6F4780F20F1D}"/>
              </a:ext>
            </a:extLst>
          </p:cNvPr>
          <p:cNvSpPr txBox="1"/>
          <p:nvPr/>
        </p:nvSpPr>
        <p:spPr>
          <a:xfrm>
            <a:off x="5382763" y="380517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BDE15F9-BE6E-4663-BCA3-7341B8C27579}"/>
              </a:ext>
            </a:extLst>
          </p:cNvPr>
          <p:cNvSpPr txBox="1"/>
          <p:nvPr/>
        </p:nvSpPr>
        <p:spPr>
          <a:xfrm>
            <a:off x="5260907" y="4044898"/>
            <a:ext cx="495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6769D34-51E7-4D7F-803A-04C7A9876ED8}"/>
              </a:ext>
            </a:extLst>
          </p:cNvPr>
          <p:cNvSpPr txBox="1"/>
          <p:nvPr/>
        </p:nvSpPr>
        <p:spPr>
          <a:xfrm>
            <a:off x="9441123" y="377704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EC7F2F3-7EA9-4058-9AD1-0D642B86DA5A}"/>
              </a:ext>
            </a:extLst>
          </p:cNvPr>
          <p:cNvSpPr txBox="1"/>
          <p:nvPr/>
        </p:nvSpPr>
        <p:spPr>
          <a:xfrm>
            <a:off x="9332542" y="3987705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BDE42-AD6D-4B3D-857E-0E6D43CED858}"/>
              </a:ext>
            </a:extLst>
          </p:cNvPr>
          <p:cNvSpPr txBox="1"/>
          <p:nvPr/>
        </p:nvSpPr>
        <p:spPr>
          <a:xfrm>
            <a:off x="3175021" y="175943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6DD69A-0C58-4264-B256-D9D029812F74}"/>
              </a:ext>
            </a:extLst>
          </p:cNvPr>
          <p:cNvSpPr txBox="1"/>
          <p:nvPr/>
        </p:nvSpPr>
        <p:spPr>
          <a:xfrm>
            <a:off x="2416148" y="300980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F497B2-3034-4A33-859B-92F3281D9062}"/>
              </a:ext>
            </a:extLst>
          </p:cNvPr>
          <p:cNvSpPr txBox="1"/>
          <p:nvPr/>
        </p:nvSpPr>
        <p:spPr>
          <a:xfrm>
            <a:off x="2897423" y="410406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F9A1FD-361B-45D4-824A-E246D9F60D88}"/>
              </a:ext>
            </a:extLst>
          </p:cNvPr>
          <p:cNvSpPr txBox="1"/>
          <p:nvPr/>
        </p:nvSpPr>
        <p:spPr>
          <a:xfrm>
            <a:off x="4963009" y="327974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46A684-059E-4B10-9D4A-56094CE852C5}"/>
              </a:ext>
            </a:extLst>
          </p:cNvPr>
          <p:cNvSpPr txBox="1"/>
          <p:nvPr/>
        </p:nvSpPr>
        <p:spPr>
          <a:xfrm>
            <a:off x="4953872" y="285660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9160D5-2D8D-4DAE-BAF5-1803D14BEC2E}"/>
              </a:ext>
            </a:extLst>
          </p:cNvPr>
          <p:cNvSpPr txBox="1"/>
          <p:nvPr/>
        </p:nvSpPr>
        <p:spPr>
          <a:xfrm>
            <a:off x="4808172" y="492522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ⓕ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4E180E-44BF-40DB-B2EF-DB3ADEA921B4}"/>
              </a:ext>
            </a:extLst>
          </p:cNvPr>
          <p:cNvSpPr txBox="1"/>
          <p:nvPr/>
        </p:nvSpPr>
        <p:spPr>
          <a:xfrm>
            <a:off x="7588857" y="426854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ⓖ</a:t>
            </a:r>
          </a:p>
        </p:txBody>
      </p:sp>
    </p:spTree>
    <p:extLst>
      <p:ext uri="{BB962C8B-B14F-4D97-AF65-F5344CB8AC3E}">
        <p14:creationId xmlns:p14="http://schemas.microsoft.com/office/powerpoint/2010/main" val="353877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40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4.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토지담보대출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(</a:t>
            </a:r>
            <a:r>
              <a:rPr lang="ko-KR" altLang="en-US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선순위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)</a:t>
            </a:r>
            <a:endParaRPr lang="ko-KR" altLang="en-US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52" name="표 4">
            <a:extLst>
              <a:ext uri="{FF2B5EF4-FFF2-40B4-BE49-F238E27FC236}">
                <a16:creationId xmlns:a16="http://schemas.microsoft.com/office/drawing/2014/main" id="{FEB277AE-EADA-4D16-878E-A6B78DE0A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589511"/>
              </p:ext>
            </p:extLst>
          </p:nvPr>
        </p:nvGraphicFramePr>
        <p:xfrm>
          <a:off x="3060983" y="2978392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6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루시드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1B51D1FF-102C-4D9E-8DBB-9D28C1FFB2CC}"/>
              </a:ext>
            </a:extLst>
          </p:cNvPr>
          <p:cNvCxnSpPr>
            <a:cxnSpLocks/>
            <a:stCxn id="93" idx="0"/>
            <a:endCxn id="52" idx="2"/>
          </p:cNvCxnSpPr>
          <p:nvPr/>
        </p:nvCxnSpPr>
        <p:spPr>
          <a:xfrm flipV="1">
            <a:off x="3879145" y="3609244"/>
            <a:ext cx="0" cy="8783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4" name="텍스트 개체 틀 2">
            <a:extLst>
              <a:ext uri="{FF2B5EF4-FFF2-40B4-BE49-F238E27FC236}">
                <a16:creationId xmlns:a16="http://schemas.microsoft.com/office/drawing/2014/main" id="{5B643743-1AE4-49AC-806E-E79BDBDD32B3}"/>
              </a:ext>
            </a:extLst>
          </p:cNvPr>
          <p:cNvSpPr txBox="1">
            <a:spLocks/>
          </p:cNvSpPr>
          <p:nvPr/>
        </p:nvSpPr>
        <p:spPr>
          <a:xfrm>
            <a:off x="4965976" y="4808848"/>
            <a:ext cx="1241128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터미널 부지 물상보증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BE762DF-AFD9-4703-9D98-615243A09DC9}"/>
              </a:ext>
            </a:extLst>
          </p:cNvPr>
          <p:cNvSpPr/>
          <p:nvPr/>
        </p:nvSpPr>
        <p:spPr>
          <a:xfrm>
            <a:off x="5598475" y="2181211"/>
            <a:ext cx="1754592" cy="2159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200F5E-87E8-43D7-8D08-20C17EE9DB58}"/>
              </a:ext>
            </a:extLst>
          </p:cNvPr>
          <p:cNvSpPr txBox="1"/>
          <p:nvPr/>
        </p:nvSpPr>
        <p:spPr>
          <a:xfrm>
            <a:off x="5654159" y="2174517"/>
            <a:ext cx="1643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>
                <a:latin typeface="Pretendard ExtraBold"/>
                <a:ea typeface="Pretendard ExtraBold"/>
              </a:rPr>
              <a:t>본건 대주단</a:t>
            </a:r>
            <a:endParaRPr lang="en-US" altLang="ko-KR" sz="1000" b="1" u="sng" dirty="0">
              <a:latin typeface="Pretendard ExtraBold"/>
              <a:ea typeface="Pretendard ExtraBold"/>
            </a:endParaRPr>
          </a:p>
        </p:txBody>
      </p:sp>
      <p:graphicFrame>
        <p:nvGraphicFramePr>
          <p:cNvPr id="64" name="표 4">
            <a:extLst>
              <a:ext uri="{FF2B5EF4-FFF2-40B4-BE49-F238E27FC236}">
                <a16:creationId xmlns:a16="http://schemas.microsoft.com/office/drawing/2014/main" id="{6E45FAE4-C9C4-447C-878B-0AA7A6211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5242"/>
              </p:ext>
            </p:extLst>
          </p:nvPr>
        </p:nvGraphicFramePr>
        <p:xfrm>
          <a:off x="5700049" y="2427431"/>
          <a:ext cx="1551445" cy="45078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5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Tr.A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– 1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1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130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9D30BF12-AF0E-4FC5-8CE9-FBB1C1A65330}"/>
              </a:ext>
            </a:extLst>
          </p:cNvPr>
          <p:cNvCxnSpPr>
            <a:cxnSpLocks/>
            <a:stCxn id="52" idx="1"/>
            <a:endCxn id="92" idx="3"/>
          </p:cNvCxnSpPr>
          <p:nvPr/>
        </p:nvCxnSpPr>
        <p:spPr>
          <a:xfrm flipH="1">
            <a:off x="2091848" y="3293818"/>
            <a:ext cx="969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67" name="텍스트 개체 틀 2">
            <a:extLst>
              <a:ext uri="{FF2B5EF4-FFF2-40B4-BE49-F238E27FC236}">
                <a16:creationId xmlns:a16="http://schemas.microsoft.com/office/drawing/2014/main" id="{42D3EBA9-2F87-418D-AEF4-052EE6A8A1BF}"/>
              </a:ext>
            </a:extLst>
          </p:cNvPr>
          <p:cNvSpPr txBox="1">
            <a:spLocks/>
          </p:cNvSpPr>
          <p:nvPr/>
        </p:nvSpPr>
        <p:spPr>
          <a:xfrm>
            <a:off x="2045640" y="3093955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관리형토지신탁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계약 체결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69" name="텍스트 개체 틀 2">
            <a:extLst>
              <a:ext uri="{FF2B5EF4-FFF2-40B4-BE49-F238E27FC236}">
                <a16:creationId xmlns:a16="http://schemas.microsoft.com/office/drawing/2014/main" id="{A4DC5BD8-7A57-432A-A1B9-A05BB33054C5}"/>
              </a:ext>
            </a:extLst>
          </p:cNvPr>
          <p:cNvSpPr txBox="1">
            <a:spLocks/>
          </p:cNvSpPr>
          <p:nvPr/>
        </p:nvSpPr>
        <p:spPr>
          <a:xfrm>
            <a:off x="3140130" y="3903635"/>
            <a:ext cx="68167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공동사업약정 체결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C2DA98F6-BC78-4DB6-B325-8DEA916A5699}"/>
              </a:ext>
            </a:extLst>
          </p:cNvPr>
          <p:cNvCxnSpPr>
            <a:cxnSpLocks/>
          </p:cNvCxnSpPr>
          <p:nvPr/>
        </p:nvCxnSpPr>
        <p:spPr>
          <a:xfrm flipH="1">
            <a:off x="4749746" y="3175212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83" name="텍스트 개체 틀 2">
            <a:extLst>
              <a:ext uri="{FF2B5EF4-FFF2-40B4-BE49-F238E27FC236}">
                <a16:creationId xmlns:a16="http://schemas.microsoft.com/office/drawing/2014/main" id="{F1BDCC59-8015-43C4-AB9B-E3986A17B27A}"/>
              </a:ext>
            </a:extLst>
          </p:cNvPr>
          <p:cNvSpPr txBox="1">
            <a:spLocks/>
          </p:cNvSpPr>
          <p:nvPr/>
        </p:nvSpPr>
        <p:spPr>
          <a:xfrm>
            <a:off x="4604136" y="2983945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대출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7E8251D-D13E-48EC-BF30-4BA1D5C67E63}"/>
              </a:ext>
            </a:extLst>
          </p:cNvPr>
          <p:cNvCxnSpPr>
            <a:cxnSpLocks/>
          </p:cNvCxnSpPr>
          <p:nvPr/>
        </p:nvCxnSpPr>
        <p:spPr>
          <a:xfrm flipH="1">
            <a:off x="4749746" y="3411369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85" name="텍스트 개체 틀 2">
            <a:extLst>
              <a:ext uri="{FF2B5EF4-FFF2-40B4-BE49-F238E27FC236}">
                <a16:creationId xmlns:a16="http://schemas.microsoft.com/office/drawing/2014/main" id="{CFAC093D-9047-465B-A150-1818A9F6328E}"/>
              </a:ext>
            </a:extLst>
          </p:cNvPr>
          <p:cNvSpPr txBox="1">
            <a:spLocks/>
          </p:cNvSpPr>
          <p:nvPr/>
        </p:nvSpPr>
        <p:spPr>
          <a:xfrm>
            <a:off x="4604136" y="3437176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이자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86" name="텍스트 개체 틀 2">
            <a:extLst>
              <a:ext uri="{FF2B5EF4-FFF2-40B4-BE49-F238E27FC236}">
                <a16:creationId xmlns:a16="http://schemas.microsoft.com/office/drawing/2014/main" id="{151E8747-2556-4D8F-9756-677727F8E82F}"/>
              </a:ext>
            </a:extLst>
          </p:cNvPr>
          <p:cNvSpPr txBox="1">
            <a:spLocks/>
          </p:cNvSpPr>
          <p:nvPr/>
        </p:nvSpPr>
        <p:spPr>
          <a:xfrm>
            <a:off x="3119799" y="1689449"/>
            <a:ext cx="1707415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순위별 우선수익권 제공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0DD8A71-871F-4072-AEC2-F8020D677886}"/>
              </a:ext>
            </a:extLst>
          </p:cNvPr>
          <p:cNvCxnSpPr>
            <a:cxnSpLocks/>
            <a:stCxn id="56" idx="0"/>
            <a:endCxn id="92" idx="0"/>
          </p:cNvCxnSpPr>
          <p:nvPr/>
        </p:nvCxnSpPr>
        <p:spPr>
          <a:xfrm rot="16200000" flipH="1" flipV="1">
            <a:off x="3472791" y="-24590"/>
            <a:ext cx="803875" cy="5202087"/>
          </a:xfrm>
          <a:prstGeom prst="bentConnector3">
            <a:avLst>
              <a:gd name="adj1" fmla="val -2843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44D0E3A-1431-40B3-835C-0F8185CAA0C3}"/>
              </a:ext>
            </a:extLst>
          </p:cNvPr>
          <p:cNvSpPr/>
          <p:nvPr/>
        </p:nvSpPr>
        <p:spPr>
          <a:xfrm>
            <a:off x="5645693" y="2919528"/>
            <a:ext cx="3879308" cy="491841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89" name="표 4">
            <a:extLst>
              <a:ext uri="{FF2B5EF4-FFF2-40B4-BE49-F238E27FC236}">
                <a16:creationId xmlns:a16="http://schemas.microsoft.com/office/drawing/2014/main" id="{F5BAE464-8E4E-4741-95A1-A63DAC17B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35818"/>
              </p:ext>
            </p:extLst>
          </p:nvPr>
        </p:nvGraphicFramePr>
        <p:xfrm>
          <a:off x="8195101" y="2944929"/>
          <a:ext cx="1248892" cy="4214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4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58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70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억원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6D4F26CB-8F5D-45A2-9FEA-9BFCF6EDCF3F}"/>
              </a:ext>
            </a:extLst>
          </p:cNvPr>
          <p:cNvCxnSpPr>
            <a:cxnSpLocks/>
            <a:stCxn id="89" idx="1"/>
            <a:endCxn id="97" idx="3"/>
          </p:cNvCxnSpPr>
          <p:nvPr/>
        </p:nvCxnSpPr>
        <p:spPr>
          <a:xfrm flipH="1" flipV="1">
            <a:off x="7251493" y="3155667"/>
            <a:ext cx="943608" cy="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91" name="텍스트 개체 틀 2">
            <a:extLst>
              <a:ext uri="{FF2B5EF4-FFF2-40B4-BE49-F238E27FC236}">
                <a16:creationId xmlns:a16="http://schemas.microsoft.com/office/drawing/2014/main" id="{DD4C3EF9-66FB-4010-9ACE-BCCBAEAD7ADD}"/>
              </a:ext>
            </a:extLst>
          </p:cNvPr>
          <p:cNvSpPr txBox="1">
            <a:spLocks/>
          </p:cNvSpPr>
          <p:nvPr/>
        </p:nvSpPr>
        <p:spPr>
          <a:xfrm>
            <a:off x="7210195" y="2966494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 발행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/</a:t>
            </a: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인수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92" name="표 4">
            <a:extLst>
              <a:ext uri="{FF2B5EF4-FFF2-40B4-BE49-F238E27FC236}">
                <a16:creationId xmlns:a16="http://schemas.microsoft.com/office/drawing/2014/main" id="{ADBC7A46-F5EC-487F-BFB2-B0752EFC6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269448"/>
              </p:ext>
            </p:extLst>
          </p:nvPr>
        </p:nvGraphicFramePr>
        <p:xfrm>
          <a:off x="455523" y="2978392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lang="ko-KR" altLang="en-US" sz="11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한국투자부동산신탁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3" name="표 4">
            <a:extLst>
              <a:ext uri="{FF2B5EF4-FFF2-40B4-BE49-F238E27FC236}">
                <a16:creationId xmlns:a16="http://schemas.microsoft.com/office/drawing/2014/main" id="{946D68C3-9771-4E34-83EE-0DAA55F77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498181"/>
              </p:ext>
            </p:extLst>
          </p:nvPr>
        </p:nvGraphicFramePr>
        <p:xfrm>
          <a:off x="3060983" y="4487611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롯데건설㈜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298C37C9-8911-44F9-B1A2-46C5428B0C05}"/>
              </a:ext>
            </a:extLst>
          </p:cNvPr>
          <p:cNvCxnSpPr>
            <a:cxnSpLocks/>
            <a:stCxn id="55" idx="2"/>
            <a:endCxn id="93" idx="3"/>
          </p:cNvCxnSpPr>
          <p:nvPr/>
        </p:nvCxnSpPr>
        <p:spPr>
          <a:xfrm rot="5400000">
            <a:off x="5355280" y="3682546"/>
            <a:ext cx="462520" cy="17784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95" name="표 4">
            <a:extLst>
              <a:ext uri="{FF2B5EF4-FFF2-40B4-BE49-F238E27FC236}">
                <a16:creationId xmlns:a16="http://schemas.microsoft.com/office/drawing/2014/main" id="{D561EC52-FB41-4D44-BB88-F6D32A5E7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826103"/>
              </p:ext>
            </p:extLst>
          </p:nvPr>
        </p:nvGraphicFramePr>
        <p:xfrm>
          <a:off x="5700049" y="3863567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Tr.C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50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6" name="표 4">
            <a:extLst>
              <a:ext uri="{FF2B5EF4-FFF2-40B4-BE49-F238E27FC236}">
                <a16:creationId xmlns:a16="http://schemas.microsoft.com/office/drawing/2014/main" id="{517CFCC7-C2C8-4DF5-A3CB-DB59981E1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080571"/>
              </p:ext>
            </p:extLst>
          </p:nvPr>
        </p:nvGraphicFramePr>
        <p:xfrm>
          <a:off x="5700049" y="3452683"/>
          <a:ext cx="1551445" cy="37649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Tr.B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150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7" name="표 4">
            <a:extLst>
              <a:ext uri="{FF2B5EF4-FFF2-40B4-BE49-F238E27FC236}">
                <a16:creationId xmlns:a16="http://schemas.microsoft.com/office/drawing/2014/main" id="{4FDC194D-AB4A-42A3-B1E4-9C6D4726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39595"/>
              </p:ext>
            </p:extLst>
          </p:nvPr>
        </p:nvGraphicFramePr>
        <p:xfrm>
          <a:off x="5700048" y="2967419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Tr.A-2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70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8" name="TextBox 97">
            <a:extLst>
              <a:ext uri="{FF2B5EF4-FFF2-40B4-BE49-F238E27FC236}">
                <a16:creationId xmlns:a16="http://schemas.microsoft.com/office/drawing/2014/main" id="{DF8038BB-095C-4B65-84FF-FB093B6F2C3C}"/>
              </a:ext>
            </a:extLst>
          </p:cNvPr>
          <p:cNvSpPr txBox="1"/>
          <p:nvPr/>
        </p:nvSpPr>
        <p:spPr>
          <a:xfrm>
            <a:off x="134443" y="299181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F06F1AA-86DB-4736-9450-E1B01B61B850}"/>
              </a:ext>
            </a:extLst>
          </p:cNvPr>
          <p:cNvSpPr txBox="1"/>
          <p:nvPr/>
        </p:nvSpPr>
        <p:spPr>
          <a:xfrm>
            <a:off x="28562" y="3305166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67445A6-8A22-4289-978E-44EC072EC1A5}"/>
              </a:ext>
            </a:extLst>
          </p:cNvPr>
          <p:cNvSpPr txBox="1"/>
          <p:nvPr/>
        </p:nvSpPr>
        <p:spPr>
          <a:xfrm>
            <a:off x="3246718" y="297787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7115FFC-1AC5-4830-978B-0092160593FC}"/>
              </a:ext>
            </a:extLst>
          </p:cNvPr>
          <p:cNvSpPr txBox="1"/>
          <p:nvPr/>
        </p:nvSpPr>
        <p:spPr>
          <a:xfrm>
            <a:off x="3117129" y="3316205"/>
            <a:ext cx="564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3D2AD71-C7CE-4355-8E4F-99E484D000B6}"/>
              </a:ext>
            </a:extLst>
          </p:cNvPr>
          <p:cNvSpPr txBox="1"/>
          <p:nvPr/>
        </p:nvSpPr>
        <p:spPr>
          <a:xfrm>
            <a:off x="2725081" y="450266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B881993-045D-4035-8A75-0B7716E92F55}"/>
              </a:ext>
            </a:extLst>
          </p:cNvPr>
          <p:cNvSpPr txBox="1"/>
          <p:nvPr/>
        </p:nvSpPr>
        <p:spPr>
          <a:xfrm>
            <a:off x="2609509" y="4840010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8A635C6-0EEE-46C0-9550-429897AE727B}"/>
              </a:ext>
            </a:extLst>
          </p:cNvPr>
          <p:cNvSpPr txBox="1"/>
          <p:nvPr/>
        </p:nvSpPr>
        <p:spPr>
          <a:xfrm>
            <a:off x="7288205" y="2395337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8430A7C-50CF-40B2-8BD2-533D0CA93A8A}"/>
              </a:ext>
            </a:extLst>
          </p:cNvPr>
          <p:cNvSpPr txBox="1"/>
          <p:nvPr/>
        </p:nvSpPr>
        <p:spPr>
          <a:xfrm>
            <a:off x="7162907" y="2616551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25324E1-8F75-4637-B82F-A0414F42F7B7}"/>
              </a:ext>
            </a:extLst>
          </p:cNvPr>
          <p:cNvSpPr txBox="1"/>
          <p:nvPr/>
        </p:nvSpPr>
        <p:spPr>
          <a:xfrm>
            <a:off x="5897430" y="215043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B3832D9-1088-4A59-ADA6-86D1946D4B23}"/>
              </a:ext>
            </a:extLst>
          </p:cNvPr>
          <p:cNvSpPr txBox="1"/>
          <p:nvPr/>
        </p:nvSpPr>
        <p:spPr>
          <a:xfrm>
            <a:off x="6795475" y="289821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⑥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E73EDA3-0C7D-495F-ADCB-60DE35312F39}"/>
              </a:ext>
            </a:extLst>
          </p:cNvPr>
          <p:cNvSpPr txBox="1"/>
          <p:nvPr/>
        </p:nvSpPr>
        <p:spPr>
          <a:xfrm>
            <a:off x="6703064" y="309709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5C7FD1-586C-4671-A7BF-350CA4709D15}"/>
              </a:ext>
            </a:extLst>
          </p:cNvPr>
          <p:cNvSpPr txBox="1"/>
          <p:nvPr/>
        </p:nvSpPr>
        <p:spPr>
          <a:xfrm>
            <a:off x="6795475" y="339293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⑦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1153000-6884-4424-87B0-25DDEE80CC72}"/>
              </a:ext>
            </a:extLst>
          </p:cNvPr>
          <p:cNvSpPr txBox="1"/>
          <p:nvPr/>
        </p:nvSpPr>
        <p:spPr>
          <a:xfrm>
            <a:off x="6686894" y="3579077"/>
            <a:ext cx="526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D3BADC9-BA47-4021-9237-ABA91C93FA7E}"/>
              </a:ext>
            </a:extLst>
          </p:cNvPr>
          <p:cNvSpPr txBox="1"/>
          <p:nvPr/>
        </p:nvSpPr>
        <p:spPr>
          <a:xfrm>
            <a:off x="7299804" y="381475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4CE7CCD-94EC-400D-A8A4-D64BB8EB37D8}"/>
              </a:ext>
            </a:extLst>
          </p:cNvPr>
          <p:cNvSpPr txBox="1"/>
          <p:nvPr/>
        </p:nvSpPr>
        <p:spPr>
          <a:xfrm>
            <a:off x="7201199" y="4016891"/>
            <a:ext cx="495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AFE5D36-723B-4E02-900E-EB50A63F7E87}"/>
              </a:ext>
            </a:extLst>
          </p:cNvPr>
          <p:cNvSpPr txBox="1"/>
          <p:nvPr/>
        </p:nvSpPr>
        <p:spPr>
          <a:xfrm>
            <a:off x="9405907" y="288844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BFD306A-0F5D-4110-A1C9-BABBB6131B6C}"/>
              </a:ext>
            </a:extLst>
          </p:cNvPr>
          <p:cNvSpPr txBox="1"/>
          <p:nvPr/>
        </p:nvSpPr>
        <p:spPr>
          <a:xfrm>
            <a:off x="9276171" y="3141349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F0883BD-3DE0-406A-8EA1-AEA46CBAAAAF}"/>
              </a:ext>
            </a:extLst>
          </p:cNvPr>
          <p:cNvSpPr txBox="1"/>
          <p:nvPr/>
        </p:nvSpPr>
        <p:spPr>
          <a:xfrm>
            <a:off x="3171291" y="164589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B8AB02-8BD2-4026-85AE-DCB295EF4C0B}"/>
              </a:ext>
            </a:extLst>
          </p:cNvPr>
          <p:cNvSpPr txBox="1"/>
          <p:nvPr/>
        </p:nvSpPr>
        <p:spPr>
          <a:xfrm>
            <a:off x="2426448" y="288415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6B2F50-21B0-416E-802B-8D88CB5402A9}"/>
              </a:ext>
            </a:extLst>
          </p:cNvPr>
          <p:cNvSpPr txBox="1"/>
          <p:nvPr/>
        </p:nvSpPr>
        <p:spPr>
          <a:xfrm>
            <a:off x="4964302" y="277261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4E35B1-5245-4FDA-9B63-44E8427F9F67}"/>
              </a:ext>
            </a:extLst>
          </p:cNvPr>
          <p:cNvSpPr txBox="1"/>
          <p:nvPr/>
        </p:nvSpPr>
        <p:spPr>
          <a:xfrm>
            <a:off x="2906146" y="396799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AA0297-A513-4E79-A6DC-EF5BA3BA6F7F}"/>
              </a:ext>
            </a:extLst>
          </p:cNvPr>
          <p:cNvSpPr txBox="1"/>
          <p:nvPr/>
        </p:nvSpPr>
        <p:spPr>
          <a:xfrm>
            <a:off x="4982148" y="316017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EBA368-AF20-4412-922A-087217BE483D}"/>
              </a:ext>
            </a:extLst>
          </p:cNvPr>
          <p:cNvSpPr txBox="1"/>
          <p:nvPr/>
        </p:nvSpPr>
        <p:spPr>
          <a:xfrm>
            <a:off x="6069254" y="477013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ⓕ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683467-12AD-4348-A4EA-8E79F0694194}"/>
              </a:ext>
            </a:extLst>
          </p:cNvPr>
          <p:cNvSpPr txBox="1"/>
          <p:nvPr/>
        </p:nvSpPr>
        <p:spPr>
          <a:xfrm>
            <a:off x="7619247" y="337024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ⓖ</a:t>
            </a:r>
          </a:p>
        </p:txBody>
      </p:sp>
    </p:spTree>
    <p:extLst>
      <p:ext uri="{BB962C8B-B14F-4D97-AF65-F5344CB8AC3E}">
        <p14:creationId xmlns:p14="http://schemas.microsoft.com/office/powerpoint/2010/main" val="133589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40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5.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토지담보대출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(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후순위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)</a:t>
            </a:r>
            <a:endParaRPr lang="ko-KR" altLang="en-US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57" name="표 4">
            <a:extLst>
              <a:ext uri="{FF2B5EF4-FFF2-40B4-BE49-F238E27FC236}">
                <a16:creationId xmlns:a16="http://schemas.microsoft.com/office/drawing/2014/main" id="{D5E1801A-CDE7-43CC-A5EE-1DE541B7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281781"/>
              </p:ext>
            </p:extLst>
          </p:nvPr>
        </p:nvGraphicFramePr>
        <p:xfrm>
          <a:off x="3120250" y="2872745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26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루시드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047571F-0D7E-498C-A060-C5AE33CAF83F}"/>
              </a:ext>
            </a:extLst>
          </p:cNvPr>
          <p:cNvCxnSpPr>
            <a:cxnSpLocks/>
            <a:stCxn id="122" idx="0"/>
            <a:endCxn id="57" idx="2"/>
          </p:cNvCxnSpPr>
          <p:nvPr/>
        </p:nvCxnSpPr>
        <p:spPr>
          <a:xfrm flipV="1">
            <a:off x="3938412" y="3503597"/>
            <a:ext cx="0" cy="87836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E323DD13-6540-4A24-99B0-017F665F7624}"/>
              </a:ext>
            </a:extLst>
          </p:cNvPr>
          <p:cNvSpPr txBox="1">
            <a:spLocks/>
          </p:cNvSpPr>
          <p:nvPr/>
        </p:nvSpPr>
        <p:spPr>
          <a:xfrm>
            <a:off x="5025243" y="4703201"/>
            <a:ext cx="1241128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터미널 부지 물상보증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70D1E87-3C6B-446F-ACAF-8AF0C0F3CB7D}"/>
              </a:ext>
            </a:extLst>
          </p:cNvPr>
          <p:cNvSpPr/>
          <p:nvPr/>
        </p:nvSpPr>
        <p:spPr>
          <a:xfrm>
            <a:off x="5657742" y="2075564"/>
            <a:ext cx="1754592" cy="21593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7642CC-FC0C-4563-8BD9-0789B37198C0}"/>
              </a:ext>
            </a:extLst>
          </p:cNvPr>
          <p:cNvSpPr txBox="1"/>
          <p:nvPr/>
        </p:nvSpPr>
        <p:spPr>
          <a:xfrm>
            <a:off x="5713426" y="2068870"/>
            <a:ext cx="1643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>
                <a:latin typeface="Pretendard ExtraBold"/>
                <a:ea typeface="Pretendard ExtraBold"/>
              </a:rPr>
              <a:t>본건 대주단</a:t>
            </a:r>
            <a:endParaRPr lang="en-US" altLang="ko-KR" sz="1000" b="1" u="sng" dirty="0">
              <a:latin typeface="Pretendard ExtraBold"/>
              <a:ea typeface="Pretendard ExtraBold"/>
            </a:endParaRPr>
          </a:p>
        </p:txBody>
      </p:sp>
      <p:graphicFrame>
        <p:nvGraphicFramePr>
          <p:cNvPr id="62" name="표 4">
            <a:extLst>
              <a:ext uri="{FF2B5EF4-FFF2-40B4-BE49-F238E27FC236}">
                <a16:creationId xmlns:a16="http://schemas.microsoft.com/office/drawing/2014/main" id="{03D1F65D-81F4-40CE-80A7-3CD548DBF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657483"/>
              </p:ext>
            </p:extLst>
          </p:nvPr>
        </p:nvGraphicFramePr>
        <p:xfrm>
          <a:off x="5759316" y="2321785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Tr.A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153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C0AF925E-12A0-4D3F-8357-5A79EE039AFF}"/>
              </a:ext>
            </a:extLst>
          </p:cNvPr>
          <p:cNvCxnSpPr>
            <a:cxnSpLocks/>
            <a:stCxn id="57" idx="1"/>
            <a:endCxn id="121" idx="3"/>
          </p:cNvCxnSpPr>
          <p:nvPr/>
        </p:nvCxnSpPr>
        <p:spPr>
          <a:xfrm flipH="1">
            <a:off x="2151115" y="3188171"/>
            <a:ext cx="969135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66" name="텍스트 개체 틀 2">
            <a:extLst>
              <a:ext uri="{FF2B5EF4-FFF2-40B4-BE49-F238E27FC236}">
                <a16:creationId xmlns:a16="http://schemas.microsoft.com/office/drawing/2014/main" id="{E6DE6BAD-4365-458D-B7F0-9FA15A5609FB}"/>
              </a:ext>
            </a:extLst>
          </p:cNvPr>
          <p:cNvSpPr txBox="1">
            <a:spLocks/>
          </p:cNvSpPr>
          <p:nvPr/>
        </p:nvSpPr>
        <p:spPr>
          <a:xfrm>
            <a:off x="2104907" y="2988308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관리형토지신탁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계약 체결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68" name="텍스트 개체 틀 2">
            <a:extLst>
              <a:ext uri="{FF2B5EF4-FFF2-40B4-BE49-F238E27FC236}">
                <a16:creationId xmlns:a16="http://schemas.microsoft.com/office/drawing/2014/main" id="{7FFE9896-0E5D-47F0-B566-9A18D7C529B5}"/>
              </a:ext>
            </a:extLst>
          </p:cNvPr>
          <p:cNvSpPr txBox="1">
            <a:spLocks/>
          </p:cNvSpPr>
          <p:nvPr/>
        </p:nvSpPr>
        <p:spPr>
          <a:xfrm>
            <a:off x="3199397" y="3797988"/>
            <a:ext cx="68167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공동사업약정 체결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69D8E13B-5D06-4DD7-A4C2-CC8D0F6F59FD}"/>
              </a:ext>
            </a:extLst>
          </p:cNvPr>
          <p:cNvCxnSpPr>
            <a:cxnSpLocks/>
          </p:cNvCxnSpPr>
          <p:nvPr/>
        </p:nvCxnSpPr>
        <p:spPr>
          <a:xfrm flipH="1">
            <a:off x="4809013" y="3069565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1" name="텍스트 개체 틀 2">
            <a:extLst>
              <a:ext uri="{FF2B5EF4-FFF2-40B4-BE49-F238E27FC236}">
                <a16:creationId xmlns:a16="http://schemas.microsoft.com/office/drawing/2014/main" id="{75B2DE82-C53F-4F92-9EBA-FC347699F6BF}"/>
              </a:ext>
            </a:extLst>
          </p:cNvPr>
          <p:cNvSpPr txBox="1">
            <a:spLocks/>
          </p:cNvSpPr>
          <p:nvPr/>
        </p:nvSpPr>
        <p:spPr>
          <a:xfrm>
            <a:off x="4663403" y="2878298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대출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75BE000F-D169-4EB9-A7E7-A80FF9E380FB}"/>
              </a:ext>
            </a:extLst>
          </p:cNvPr>
          <p:cNvCxnSpPr>
            <a:cxnSpLocks/>
          </p:cNvCxnSpPr>
          <p:nvPr/>
        </p:nvCxnSpPr>
        <p:spPr>
          <a:xfrm flipH="1">
            <a:off x="4809013" y="3305722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73" name="텍스트 개체 틀 2">
            <a:extLst>
              <a:ext uri="{FF2B5EF4-FFF2-40B4-BE49-F238E27FC236}">
                <a16:creationId xmlns:a16="http://schemas.microsoft.com/office/drawing/2014/main" id="{6BFD35B0-9760-41B7-8C5C-31E6251F2461}"/>
              </a:ext>
            </a:extLst>
          </p:cNvPr>
          <p:cNvSpPr txBox="1">
            <a:spLocks/>
          </p:cNvSpPr>
          <p:nvPr/>
        </p:nvSpPr>
        <p:spPr>
          <a:xfrm>
            <a:off x="4663403" y="3331529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이자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74" name="텍스트 개체 틀 2">
            <a:extLst>
              <a:ext uri="{FF2B5EF4-FFF2-40B4-BE49-F238E27FC236}">
                <a16:creationId xmlns:a16="http://schemas.microsoft.com/office/drawing/2014/main" id="{8EA949AC-FF53-4C65-8D54-08FF6BFEBA41}"/>
              </a:ext>
            </a:extLst>
          </p:cNvPr>
          <p:cNvSpPr txBox="1">
            <a:spLocks/>
          </p:cNvSpPr>
          <p:nvPr/>
        </p:nvSpPr>
        <p:spPr>
          <a:xfrm>
            <a:off x="3238328" y="1583780"/>
            <a:ext cx="1707415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순위별 우선수익권 제공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BCEAC158-A4E9-4F82-B6EA-1C13DCACC3EC}"/>
              </a:ext>
            </a:extLst>
          </p:cNvPr>
          <p:cNvCxnSpPr>
            <a:cxnSpLocks/>
            <a:stCxn id="61" idx="0"/>
            <a:endCxn id="121" idx="0"/>
          </p:cNvCxnSpPr>
          <p:nvPr/>
        </p:nvCxnSpPr>
        <p:spPr>
          <a:xfrm rot="16200000" flipH="1" flipV="1">
            <a:off x="3532058" y="-130237"/>
            <a:ext cx="803875" cy="5202087"/>
          </a:xfrm>
          <a:prstGeom prst="bentConnector3">
            <a:avLst>
              <a:gd name="adj1" fmla="val -28437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76" name="표 4">
            <a:extLst>
              <a:ext uri="{FF2B5EF4-FFF2-40B4-BE49-F238E27FC236}">
                <a16:creationId xmlns:a16="http://schemas.microsoft.com/office/drawing/2014/main" id="{5C5373E4-9D27-4742-9579-E2D6C694F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606519"/>
              </p:ext>
            </p:extLst>
          </p:nvPr>
        </p:nvGraphicFramePr>
        <p:xfrm>
          <a:off x="5759316" y="3230413"/>
          <a:ext cx="1551445" cy="9172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5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Tr.C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(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기초자산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, 50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)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4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" name="직사각형 76">
            <a:extLst>
              <a:ext uri="{FF2B5EF4-FFF2-40B4-BE49-F238E27FC236}">
                <a16:creationId xmlns:a16="http://schemas.microsoft.com/office/drawing/2014/main" id="{D28ADB64-C3D9-4E32-8483-0C46DE4CA9CF}"/>
              </a:ext>
            </a:extLst>
          </p:cNvPr>
          <p:cNvSpPr/>
          <p:nvPr/>
        </p:nvSpPr>
        <p:spPr>
          <a:xfrm>
            <a:off x="5692524" y="3566297"/>
            <a:ext cx="3875969" cy="531609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aphicFrame>
        <p:nvGraphicFramePr>
          <p:cNvPr id="78" name="표 4">
            <a:extLst>
              <a:ext uri="{FF2B5EF4-FFF2-40B4-BE49-F238E27FC236}">
                <a16:creationId xmlns:a16="http://schemas.microsoft.com/office/drawing/2014/main" id="{B9D49969-894D-43E4-875A-4A4446727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83562"/>
              </p:ext>
            </p:extLst>
          </p:nvPr>
        </p:nvGraphicFramePr>
        <p:xfrm>
          <a:off x="5830804" y="3598731"/>
          <a:ext cx="1427520" cy="4192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42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신규 유동화 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6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50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9" name="표 4">
            <a:extLst>
              <a:ext uri="{FF2B5EF4-FFF2-40B4-BE49-F238E27FC236}">
                <a16:creationId xmlns:a16="http://schemas.microsoft.com/office/drawing/2014/main" id="{6A5AAB3C-4E83-407A-8F23-4D9185340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119522"/>
              </p:ext>
            </p:extLst>
          </p:nvPr>
        </p:nvGraphicFramePr>
        <p:xfrm>
          <a:off x="8229159" y="3596536"/>
          <a:ext cx="1248892" cy="4214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48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858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9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50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F97531E-1593-4F3E-9524-C0E13F048098}"/>
              </a:ext>
            </a:extLst>
          </p:cNvPr>
          <p:cNvCxnSpPr>
            <a:cxnSpLocks/>
          </p:cNvCxnSpPr>
          <p:nvPr/>
        </p:nvCxnSpPr>
        <p:spPr>
          <a:xfrm flipH="1">
            <a:off x="7263069" y="3789766"/>
            <a:ext cx="970835" cy="109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81" name="텍스트 개체 틀 2">
            <a:extLst>
              <a:ext uri="{FF2B5EF4-FFF2-40B4-BE49-F238E27FC236}">
                <a16:creationId xmlns:a16="http://schemas.microsoft.com/office/drawing/2014/main" id="{D0769FEF-43BA-441B-B004-D78A6C9327B5}"/>
              </a:ext>
            </a:extLst>
          </p:cNvPr>
          <p:cNvSpPr txBox="1">
            <a:spLocks/>
          </p:cNvSpPr>
          <p:nvPr/>
        </p:nvSpPr>
        <p:spPr>
          <a:xfrm>
            <a:off x="7254602" y="3609457"/>
            <a:ext cx="106016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 발행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/</a:t>
            </a: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인수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121" name="표 4">
            <a:extLst>
              <a:ext uri="{FF2B5EF4-FFF2-40B4-BE49-F238E27FC236}">
                <a16:creationId xmlns:a16="http://schemas.microsoft.com/office/drawing/2014/main" id="{A3312FD1-2FE2-4D64-B760-C9A724F81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384190"/>
              </p:ext>
            </p:extLst>
          </p:nvPr>
        </p:nvGraphicFramePr>
        <p:xfrm>
          <a:off x="514790" y="2872745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lang="ko-KR" altLang="en-US" sz="11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한국투자부동산신탁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2" name="표 4">
            <a:extLst>
              <a:ext uri="{FF2B5EF4-FFF2-40B4-BE49-F238E27FC236}">
                <a16:creationId xmlns:a16="http://schemas.microsoft.com/office/drawing/2014/main" id="{4B4E6BC9-115F-4FB2-8E1A-D9F811604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72464"/>
              </p:ext>
            </p:extLst>
          </p:nvPr>
        </p:nvGraphicFramePr>
        <p:xfrm>
          <a:off x="3120250" y="4381964"/>
          <a:ext cx="1636325" cy="63085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3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롯데건설㈜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3" name="연결선: 꺾임 122">
            <a:extLst>
              <a:ext uri="{FF2B5EF4-FFF2-40B4-BE49-F238E27FC236}">
                <a16:creationId xmlns:a16="http://schemas.microsoft.com/office/drawing/2014/main" id="{BA45BB06-044F-468A-98AD-74A6D3BD5390}"/>
              </a:ext>
            </a:extLst>
          </p:cNvPr>
          <p:cNvCxnSpPr>
            <a:cxnSpLocks/>
            <a:stCxn id="60" idx="2"/>
            <a:endCxn id="122" idx="3"/>
          </p:cNvCxnSpPr>
          <p:nvPr/>
        </p:nvCxnSpPr>
        <p:spPr>
          <a:xfrm rot="5400000">
            <a:off x="5414547" y="3576899"/>
            <a:ext cx="462520" cy="17784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124" name="표 4">
            <a:extLst>
              <a:ext uri="{FF2B5EF4-FFF2-40B4-BE49-F238E27FC236}">
                <a16:creationId xmlns:a16="http://schemas.microsoft.com/office/drawing/2014/main" id="{0AAF0D15-A6C3-4FD0-8E77-BA7567A98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544775"/>
              </p:ext>
            </p:extLst>
          </p:nvPr>
        </p:nvGraphicFramePr>
        <p:xfrm>
          <a:off x="5759316" y="2765760"/>
          <a:ext cx="1551445" cy="3764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2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Tr.B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197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86DF40FE-04B6-4B65-8158-94FCFFC4A3AD}"/>
              </a:ext>
            </a:extLst>
          </p:cNvPr>
          <p:cNvSpPr txBox="1"/>
          <p:nvPr/>
        </p:nvSpPr>
        <p:spPr>
          <a:xfrm>
            <a:off x="196757" y="287274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5FEC6E-FE33-42FA-9071-495F45243459}"/>
              </a:ext>
            </a:extLst>
          </p:cNvPr>
          <p:cNvSpPr txBox="1"/>
          <p:nvPr/>
        </p:nvSpPr>
        <p:spPr>
          <a:xfrm>
            <a:off x="104835" y="3218563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9C54914-6232-44A8-AA36-CA10115EC51A}"/>
              </a:ext>
            </a:extLst>
          </p:cNvPr>
          <p:cNvSpPr txBox="1"/>
          <p:nvPr/>
        </p:nvSpPr>
        <p:spPr>
          <a:xfrm>
            <a:off x="3239726" y="287274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ED39323-83B2-4060-A186-A29EE208ED15}"/>
              </a:ext>
            </a:extLst>
          </p:cNvPr>
          <p:cNvSpPr txBox="1"/>
          <p:nvPr/>
        </p:nvSpPr>
        <p:spPr>
          <a:xfrm>
            <a:off x="3113138" y="3196868"/>
            <a:ext cx="564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15BED40-E55B-4CDA-B088-5AA89B32D991}"/>
              </a:ext>
            </a:extLst>
          </p:cNvPr>
          <p:cNvSpPr txBox="1"/>
          <p:nvPr/>
        </p:nvSpPr>
        <p:spPr>
          <a:xfrm>
            <a:off x="2831079" y="437970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2FD8654-1408-4BC5-9EB8-7EAADAE397FA}"/>
              </a:ext>
            </a:extLst>
          </p:cNvPr>
          <p:cNvSpPr txBox="1"/>
          <p:nvPr/>
        </p:nvSpPr>
        <p:spPr>
          <a:xfrm>
            <a:off x="2691777" y="4729874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CDA105A-5D7D-46C8-9140-0F7B5D7EC04C}"/>
              </a:ext>
            </a:extLst>
          </p:cNvPr>
          <p:cNvSpPr txBox="1"/>
          <p:nvPr/>
        </p:nvSpPr>
        <p:spPr>
          <a:xfrm>
            <a:off x="7376260" y="2259587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884034C-ADFF-4E67-9994-343EB18182C3}"/>
              </a:ext>
            </a:extLst>
          </p:cNvPr>
          <p:cNvSpPr txBox="1"/>
          <p:nvPr/>
        </p:nvSpPr>
        <p:spPr>
          <a:xfrm>
            <a:off x="7265565" y="2471075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3E31AB-07D1-45F6-8C3C-B7AE45D34B21}"/>
              </a:ext>
            </a:extLst>
          </p:cNvPr>
          <p:cNvSpPr txBox="1"/>
          <p:nvPr/>
        </p:nvSpPr>
        <p:spPr>
          <a:xfrm>
            <a:off x="5956697" y="205558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E501935-8B62-4723-AAC6-1BD1445E6179}"/>
              </a:ext>
            </a:extLst>
          </p:cNvPr>
          <p:cNvSpPr txBox="1"/>
          <p:nvPr/>
        </p:nvSpPr>
        <p:spPr>
          <a:xfrm>
            <a:off x="7260507" y="2912580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BAF6102-DF28-43DB-98F0-DEE8971B8371}"/>
              </a:ext>
            </a:extLst>
          </p:cNvPr>
          <p:cNvSpPr txBox="1"/>
          <p:nvPr/>
        </p:nvSpPr>
        <p:spPr>
          <a:xfrm>
            <a:off x="7283802" y="2724760"/>
            <a:ext cx="44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24DA82F-6CCF-41F4-85D2-BD0761B2F525}"/>
              </a:ext>
            </a:extLst>
          </p:cNvPr>
          <p:cNvSpPr txBox="1"/>
          <p:nvPr/>
        </p:nvSpPr>
        <p:spPr>
          <a:xfrm>
            <a:off x="7276853" y="3224822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855DEF5-94AF-44D7-B428-0BD95B6BD869}"/>
              </a:ext>
            </a:extLst>
          </p:cNvPr>
          <p:cNvSpPr txBox="1"/>
          <p:nvPr/>
        </p:nvSpPr>
        <p:spPr>
          <a:xfrm>
            <a:off x="5426504" y="3547064"/>
            <a:ext cx="528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A6DB7F7-9882-4858-9B67-E36F0FADF50A}"/>
              </a:ext>
            </a:extLst>
          </p:cNvPr>
          <p:cNvSpPr txBox="1"/>
          <p:nvPr/>
        </p:nvSpPr>
        <p:spPr>
          <a:xfrm>
            <a:off x="5420322" y="3794299"/>
            <a:ext cx="470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34ABDE6-67CE-4B46-844E-80543F3B1F7C}"/>
              </a:ext>
            </a:extLst>
          </p:cNvPr>
          <p:cNvSpPr txBox="1"/>
          <p:nvPr/>
        </p:nvSpPr>
        <p:spPr>
          <a:xfrm>
            <a:off x="9461149" y="355729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FD326B1-FF10-43E1-BAC1-332CC8D38576}"/>
              </a:ext>
            </a:extLst>
          </p:cNvPr>
          <p:cNvSpPr txBox="1"/>
          <p:nvPr/>
        </p:nvSpPr>
        <p:spPr>
          <a:xfrm>
            <a:off x="9371342" y="3771268"/>
            <a:ext cx="462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81A4E0-FC1E-4F99-8190-9ECCBF81AA1D}"/>
              </a:ext>
            </a:extLst>
          </p:cNvPr>
          <p:cNvSpPr txBox="1"/>
          <p:nvPr/>
        </p:nvSpPr>
        <p:spPr>
          <a:xfrm>
            <a:off x="3230558" y="153623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C976F3-5639-4F23-AEA6-4691EE6E732D}"/>
              </a:ext>
            </a:extLst>
          </p:cNvPr>
          <p:cNvSpPr txBox="1"/>
          <p:nvPr/>
        </p:nvSpPr>
        <p:spPr>
          <a:xfrm>
            <a:off x="2471382" y="276576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2D7B55-9DF9-404F-8A64-C1FCA0477CA1}"/>
              </a:ext>
            </a:extLst>
          </p:cNvPr>
          <p:cNvSpPr txBox="1"/>
          <p:nvPr/>
        </p:nvSpPr>
        <p:spPr>
          <a:xfrm>
            <a:off x="2928654" y="384284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5DE598-FFD9-42E6-BFE7-04FCB63456FD}"/>
              </a:ext>
            </a:extLst>
          </p:cNvPr>
          <p:cNvSpPr txBox="1"/>
          <p:nvPr/>
        </p:nvSpPr>
        <p:spPr>
          <a:xfrm>
            <a:off x="5035353" y="265819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6F5200-FD80-4757-BAD7-8A60D5CEB4A8}"/>
              </a:ext>
            </a:extLst>
          </p:cNvPr>
          <p:cNvSpPr txBox="1"/>
          <p:nvPr/>
        </p:nvSpPr>
        <p:spPr>
          <a:xfrm>
            <a:off x="5039778" y="304275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1588CD-CA51-4F2B-AD22-676782286C3B}"/>
              </a:ext>
            </a:extLst>
          </p:cNvPr>
          <p:cNvSpPr txBox="1"/>
          <p:nvPr/>
        </p:nvSpPr>
        <p:spPr>
          <a:xfrm>
            <a:off x="4880758" y="465670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ⓕ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AA7B53-2E00-476D-AB3C-9668D4767E84}"/>
              </a:ext>
            </a:extLst>
          </p:cNvPr>
          <p:cNvSpPr txBox="1"/>
          <p:nvPr/>
        </p:nvSpPr>
        <p:spPr>
          <a:xfrm>
            <a:off x="7613130" y="408035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ⓖ</a:t>
            </a:r>
          </a:p>
        </p:txBody>
      </p:sp>
    </p:spTree>
    <p:extLst>
      <p:ext uri="{BB962C8B-B14F-4D97-AF65-F5344CB8AC3E}">
        <p14:creationId xmlns:p14="http://schemas.microsoft.com/office/powerpoint/2010/main" val="418143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8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6.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토지담보대출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(</a:t>
            </a:r>
            <a:r>
              <a:rPr lang="ko-KR" altLang="en-US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리파이낸싱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)</a:t>
            </a:r>
            <a:endParaRPr lang="ko-KR" altLang="en-US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DB0D817-60B7-41DC-814F-9FF74CB19388}"/>
              </a:ext>
            </a:extLst>
          </p:cNvPr>
          <p:cNvSpPr/>
          <p:nvPr/>
        </p:nvSpPr>
        <p:spPr>
          <a:xfrm>
            <a:off x="4226873" y="2786330"/>
            <a:ext cx="2257548" cy="22977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6BDCF6-1F26-4815-8660-F8122AAB0012}"/>
              </a:ext>
            </a:extLst>
          </p:cNvPr>
          <p:cNvSpPr txBox="1"/>
          <p:nvPr/>
        </p:nvSpPr>
        <p:spPr>
          <a:xfrm>
            <a:off x="1612293" y="2696487"/>
            <a:ext cx="902307" cy="428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담보신탁계약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graphicFrame>
        <p:nvGraphicFramePr>
          <p:cNvPr id="43" name="표 4">
            <a:extLst>
              <a:ext uri="{FF2B5EF4-FFF2-40B4-BE49-F238E27FC236}">
                <a16:creationId xmlns:a16="http://schemas.microsoft.com/office/drawing/2014/main" id="{FFE40C7D-28E5-427C-BF3A-07DFAB35A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160652"/>
              </p:ext>
            </p:extLst>
          </p:nvPr>
        </p:nvGraphicFramePr>
        <p:xfrm>
          <a:off x="4472654" y="3197919"/>
          <a:ext cx="1765984" cy="6414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6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6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A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5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[800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317D7D8-1766-4455-8FBF-BA8D9A52D888}"/>
              </a:ext>
            </a:extLst>
          </p:cNvPr>
          <p:cNvCxnSpPr>
            <a:cxnSpLocks/>
          </p:cNvCxnSpPr>
          <p:nvPr/>
        </p:nvCxnSpPr>
        <p:spPr>
          <a:xfrm>
            <a:off x="1574916" y="2433905"/>
            <a:ext cx="0" cy="9064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86CF7E-1492-4CDD-9EB2-9A4D7CF35493}"/>
              </a:ext>
            </a:extLst>
          </p:cNvPr>
          <p:cNvSpPr txBox="1"/>
          <p:nvPr/>
        </p:nvSpPr>
        <p:spPr>
          <a:xfrm>
            <a:off x="4370758" y="2872368"/>
            <a:ext cx="19421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Pretendard ExtraBold"/>
                <a:ea typeface="Pretendard ExtraBold"/>
              </a:rPr>
              <a:t>토지담보대출 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[940</a:t>
            </a:r>
            <a:r>
              <a:rPr lang="ko-KR" altLang="en-US" sz="1000" b="1" u="sng" dirty="0">
                <a:latin typeface="Pretendard ExtraBold"/>
                <a:ea typeface="Pretendard ExtraBold"/>
              </a:rPr>
              <a:t>억원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]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B940C0D-53E8-4763-9D34-921CF49DE9C5}"/>
              </a:ext>
            </a:extLst>
          </p:cNvPr>
          <p:cNvCxnSpPr>
            <a:cxnSpLocks/>
          </p:cNvCxnSpPr>
          <p:nvPr/>
        </p:nvCxnSpPr>
        <p:spPr>
          <a:xfrm flipV="1">
            <a:off x="2813787" y="3635990"/>
            <a:ext cx="1368000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graphicFrame>
        <p:nvGraphicFramePr>
          <p:cNvPr id="47" name="표 4">
            <a:extLst>
              <a:ext uri="{FF2B5EF4-FFF2-40B4-BE49-F238E27FC236}">
                <a16:creationId xmlns:a16="http://schemas.microsoft.com/office/drawing/2014/main" id="{B27DC42D-5405-4EE7-8461-49584E340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382204"/>
              </p:ext>
            </p:extLst>
          </p:nvPr>
        </p:nvGraphicFramePr>
        <p:xfrm>
          <a:off x="974652" y="1789230"/>
          <a:ext cx="1810882" cy="64467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10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86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신영부동산신탁㈜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" name="표 4">
            <a:extLst>
              <a:ext uri="{FF2B5EF4-FFF2-40B4-BE49-F238E27FC236}">
                <a16:creationId xmlns:a16="http://schemas.microsoft.com/office/drawing/2014/main" id="{7E66A522-ADD9-4E1F-AC1B-F0C50613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733229"/>
              </p:ext>
            </p:extLst>
          </p:nvPr>
        </p:nvGraphicFramePr>
        <p:xfrm>
          <a:off x="961050" y="3340394"/>
          <a:ext cx="1810882" cy="65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10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남해종합건설㈜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" name="표 4">
            <a:extLst>
              <a:ext uri="{FF2B5EF4-FFF2-40B4-BE49-F238E27FC236}">
                <a16:creationId xmlns:a16="http://schemas.microsoft.com/office/drawing/2014/main" id="{08E40C5E-70B7-499C-A404-4525075C3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219906"/>
              </p:ext>
            </p:extLst>
          </p:nvPr>
        </p:nvGraphicFramePr>
        <p:xfrm>
          <a:off x="961050" y="4897963"/>
          <a:ext cx="1824484" cy="651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24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연대보증인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김형석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김응서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" name="표 4">
            <a:extLst>
              <a:ext uri="{FF2B5EF4-FFF2-40B4-BE49-F238E27FC236}">
                <a16:creationId xmlns:a16="http://schemas.microsoft.com/office/drawing/2014/main" id="{66B48BA7-36A2-4CA8-8C9D-5BF435333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858250"/>
              </p:ext>
            </p:extLst>
          </p:nvPr>
        </p:nvGraphicFramePr>
        <p:xfrm>
          <a:off x="4474333" y="3964491"/>
          <a:ext cx="1765984" cy="98019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65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53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B (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본건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) / 140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본건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SPC[40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47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타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투자자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[100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935653"/>
                  </a:ext>
                </a:extLst>
              </a:tr>
            </a:tbl>
          </a:graphicData>
        </a:graphic>
      </p:graphicFrame>
      <p:graphicFrame>
        <p:nvGraphicFramePr>
          <p:cNvPr id="51" name="표 4">
            <a:extLst>
              <a:ext uri="{FF2B5EF4-FFF2-40B4-BE49-F238E27FC236}">
                <a16:creationId xmlns:a16="http://schemas.microsoft.com/office/drawing/2014/main" id="{8A7E0CF3-B620-4077-8B30-38B40A727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358680"/>
              </p:ext>
            </p:extLst>
          </p:nvPr>
        </p:nvGraphicFramePr>
        <p:xfrm>
          <a:off x="7742058" y="4104120"/>
          <a:ext cx="1556970" cy="5588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5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3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사채권자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40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825B2426-022F-44D4-B388-D0F32072C455}"/>
              </a:ext>
            </a:extLst>
          </p:cNvPr>
          <p:cNvSpPr txBox="1"/>
          <p:nvPr/>
        </p:nvSpPr>
        <p:spPr>
          <a:xfrm>
            <a:off x="2963673" y="3367745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토지담보대출 계약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F425CD4D-F2FF-438C-B494-604E5EB39BDA}"/>
              </a:ext>
            </a:extLst>
          </p:cNvPr>
          <p:cNvCxnSpPr>
            <a:cxnSpLocks/>
          </p:cNvCxnSpPr>
          <p:nvPr/>
        </p:nvCxnSpPr>
        <p:spPr>
          <a:xfrm flipV="1">
            <a:off x="6285817" y="4431991"/>
            <a:ext cx="1440000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B32EC31-9161-4DFE-AE8F-756551B46FE2}"/>
              </a:ext>
            </a:extLst>
          </p:cNvPr>
          <p:cNvSpPr txBox="1"/>
          <p:nvPr/>
        </p:nvSpPr>
        <p:spPr>
          <a:xfrm>
            <a:off x="6492319" y="4146801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사모사채 발행</a:t>
            </a:r>
            <a:r>
              <a:rPr lang="en-US" altLang="ko-KR" sz="1000" b="1" dirty="0">
                <a:latin typeface="Pretendard ExtraBold"/>
                <a:ea typeface="Pretendard ExtraBold"/>
              </a:rPr>
              <a:t>/</a:t>
            </a:r>
            <a:r>
              <a:rPr lang="ko-KR" altLang="en-US" sz="1000" b="1" dirty="0">
                <a:latin typeface="Pretendard ExtraBold"/>
                <a:ea typeface="Pretendard ExtraBold"/>
              </a:rPr>
              <a:t>인수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23BF6F1E-B9B6-4BE2-8235-4392F3293166}"/>
              </a:ext>
            </a:extLst>
          </p:cNvPr>
          <p:cNvCxnSpPr>
            <a:cxnSpLocks/>
            <a:stCxn id="47" idx="3"/>
            <a:endCxn id="41" idx="0"/>
          </p:cNvCxnSpPr>
          <p:nvPr/>
        </p:nvCxnSpPr>
        <p:spPr>
          <a:xfrm>
            <a:off x="2785534" y="2111567"/>
            <a:ext cx="2570113" cy="674763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C715A7B-4F63-4DFC-AB96-6FD371908D1A}"/>
              </a:ext>
            </a:extLst>
          </p:cNvPr>
          <p:cNvSpPr txBox="1"/>
          <p:nvPr/>
        </p:nvSpPr>
        <p:spPr>
          <a:xfrm>
            <a:off x="3154329" y="1839669"/>
            <a:ext cx="196101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>
                <a:latin typeface="Pretendard ExtraBold"/>
                <a:ea typeface="Pretendard ExtraBold"/>
              </a:rPr>
              <a:t>1, 2</a:t>
            </a:r>
            <a:r>
              <a:rPr lang="ko-KR" altLang="en-US" sz="1000" b="1" dirty="0">
                <a:latin typeface="Pretendard ExtraBold"/>
                <a:ea typeface="Pretendard ExtraBold"/>
              </a:rPr>
              <a:t>순위 우선수익권</a:t>
            </a:r>
            <a:r>
              <a:rPr lang="en-US" altLang="ko-KR" sz="1000" b="1" dirty="0">
                <a:latin typeface="Pretendard ExtraBold"/>
                <a:ea typeface="Pretendard ExtraBold"/>
              </a:rPr>
              <a:t>(</a:t>
            </a:r>
            <a:r>
              <a:rPr lang="ko-KR" altLang="en-US" sz="1000" b="1" dirty="0">
                <a:latin typeface="Pretendard ExtraBold"/>
                <a:ea typeface="Pretendard ExtraBold"/>
              </a:rPr>
              <a:t>대출금의 </a:t>
            </a:r>
            <a:r>
              <a:rPr lang="en-US" altLang="ko-KR" sz="1000" b="1" dirty="0">
                <a:latin typeface="Pretendard ExtraBold"/>
                <a:ea typeface="Pretendard ExtraBold"/>
              </a:rPr>
              <a:t>120%)</a:t>
            </a: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235307C8-B273-4786-9BAD-B9F014B96DD2}"/>
              </a:ext>
            </a:extLst>
          </p:cNvPr>
          <p:cNvCxnSpPr>
            <a:cxnSpLocks/>
            <a:stCxn id="49" idx="3"/>
            <a:endCxn id="41" idx="2"/>
          </p:cNvCxnSpPr>
          <p:nvPr/>
        </p:nvCxnSpPr>
        <p:spPr>
          <a:xfrm flipV="1">
            <a:off x="2785534" y="5084112"/>
            <a:ext cx="2570113" cy="139391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DF710C4-9389-4B8F-BED2-980D51BA7AC8}"/>
              </a:ext>
            </a:extLst>
          </p:cNvPr>
          <p:cNvSpPr txBox="1"/>
          <p:nvPr/>
        </p:nvSpPr>
        <p:spPr>
          <a:xfrm>
            <a:off x="3345507" y="5266905"/>
            <a:ext cx="154258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연대보증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D673C8-AB21-478E-A5B8-0040E7446C1C}"/>
              </a:ext>
            </a:extLst>
          </p:cNvPr>
          <p:cNvSpPr txBox="1"/>
          <p:nvPr/>
        </p:nvSpPr>
        <p:spPr>
          <a:xfrm>
            <a:off x="651376" y="178055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30F6FDE-A4FF-48C7-8B8E-009A1E8BA859}"/>
              </a:ext>
            </a:extLst>
          </p:cNvPr>
          <p:cNvSpPr txBox="1"/>
          <p:nvPr/>
        </p:nvSpPr>
        <p:spPr>
          <a:xfrm>
            <a:off x="510763" y="2106093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A5532BE-08A5-4918-BC9F-F101D98E22D3}"/>
              </a:ext>
            </a:extLst>
          </p:cNvPr>
          <p:cNvSpPr txBox="1"/>
          <p:nvPr/>
        </p:nvSpPr>
        <p:spPr>
          <a:xfrm flipH="1">
            <a:off x="651376" y="3312328"/>
            <a:ext cx="2996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0890A4-7797-4547-AAE8-C2B5B377F4D4}"/>
              </a:ext>
            </a:extLst>
          </p:cNvPr>
          <p:cNvSpPr txBox="1"/>
          <p:nvPr/>
        </p:nvSpPr>
        <p:spPr>
          <a:xfrm flipH="1">
            <a:off x="477300" y="3668038"/>
            <a:ext cx="49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6FFD7D-6EBB-4358-B213-9CBC0907759F}"/>
              </a:ext>
            </a:extLst>
          </p:cNvPr>
          <p:cNvSpPr txBox="1"/>
          <p:nvPr/>
        </p:nvSpPr>
        <p:spPr>
          <a:xfrm>
            <a:off x="618991" y="490133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5F856A-3233-4F1B-BAF4-E191BE6A5B60}"/>
              </a:ext>
            </a:extLst>
          </p:cNvPr>
          <p:cNvSpPr txBox="1"/>
          <p:nvPr/>
        </p:nvSpPr>
        <p:spPr>
          <a:xfrm>
            <a:off x="453430" y="5204713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57C313-1778-442F-92EA-06081FB07DD7}"/>
              </a:ext>
            </a:extLst>
          </p:cNvPr>
          <p:cNvSpPr txBox="1"/>
          <p:nvPr/>
        </p:nvSpPr>
        <p:spPr>
          <a:xfrm>
            <a:off x="6330368" y="3206852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8D14C5D-0EF0-4AAC-BD60-ABF266DE0FE2}"/>
              </a:ext>
            </a:extLst>
          </p:cNvPr>
          <p:cNvSpPr txBox="1"/>
          <p:nvPr/>
        </p:nvSpPr>
        <p:spPr>
          <a:xfrm>
            <a:off x="6168210" y="3523855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82E9AB6-6685-46BD-9BF1-7A6DE0730E28}"/>
              </a:ext>
            </a:extLst>
          </p:cNvPr>
          <p:cNvSpPr txBox="1"/>
          <p:nvPr/>
        </p:nvSpPr>
        <p:spPr>
          <a:xfrm>
            <a:off x="4362860" y="285869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0B22B3-AB05-4487-87A0-AAED9A24CA17}"/>
              </a:ext>
            </a:extLst>
          </p:cNvPr>
          <p:cNvSpPr txBox="1"/>
          <p:nvPr/>
        </p:nvSpPr>
        <p:spPr>
          <a:xfrm>
            <a:off x="4162980" y="396963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C55A566-9C62-4C67-946A-0A68B2F51891}"/>
              </a:ext>
            </a:extLst>
          </p:cNvPr>
          <p:cNvSpPr txBox="1"/>
          <p:nvPr/>
        </p:nvSpPr>
        <p:spPr>
          <a:xfrm>
            <a:off x="4046039" y="4300140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4BA85D6-8D8D-4785-AE98-838CB5512FB3}"/>
              </a:ext>
            </a:extLst>
          </p:cNvPr>
          <p:cNvSpPr txBox="1"/>
          <p:nvPr/>
        </p:nvSpPr>
        <p:spPr>
          <a:xfrm>
            <a:off x="4040272" y="4615102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-2</a:t>
            </a:r>
            <a:endParaRPr lang="ko-KR" altLang="en-US" sz="12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8E4D1D0-57F2-4E90-AD5D-65E5BA3E1C7D}"/>
              </a:ext>
            </a:extLst>
          </p:cNvPr>
          <p:cNvSpPr txBox="1"/>
          <p:nvPr/>
        </p:nvSpPr>
        <p:spPr>
          <a:xfrm>
            <a:off x="9275490" y="4102602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73614C2-C665-4218-8827-04886BBDA0E7}"/>
              </a:ext>
            </a:extLst>
          </p:cNvPr>
          <p:cNvSpPr txBox="1"/>
          <p:nvPr/>
        </p:nvSpPr>
        <p:spPr>
          <a:xfrm>
            <a:off x="9251951" y="4379601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098B3F-37B5-47EF-9941-C73196954E92}"/>
              </a:ext>
            </a:extLst>
          </p:cNvPr>
          <p:cNvSpPr txBox="1"/>
          <p:nvPr/>
        </p:nvSpPr>
        <p:spPr>
          <a:xfrm>
            <a:off x="5027989" y="180345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3B3E59-660A-45B5-8B9F-C5B57A2C424C}"/>
              </a:ext>
            </a:extLst>
          </p:cNvPr>
          <p:cNvSpPr txBox="1"/>
          <p:nvPr/>
        </p:nvSpPr>
        <p:spPr>
          <a:xfrm>
            <a:off x="2359763" y="275793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176105-2C77-4018-9A80-55B0026ED11C}"/>
              </a:ext>
            </a:extLst>
          </p:cNvPr>
          <p:cNvSpPr txBox="1"/>
          <p:nvPr/>
        </p:nvSpPr>
        <p:spPr>
          <a:xfrm>
            <a:off x="3335640" y="318584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D49156-C50A-4C29-8A53-1AB007444170}"/>
              </a:ext>
            </a:extLst>
          </p:cNvPr>
          <p:cNvSpPr txBox="1"/>
          <p:nvPr/>
        </p:nvSpPr>
        <p:spPr>
          <a:xfrm>
            <a:off x="3610396" y="523903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7B5F75-E0A5-424D-B78C-C02CB2E86FB7}"/>
              </a:ext>
            </a:extLst>
          </p:cNvPr>
          <p:cNvSpPr txBox="1"/>
          <p:nvPr/>
        </p:nvSpPr>
        <p:spPr>
          <a:xfrm>
            <a:off x="6864286" y="393969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</p:spTree>
    <p:extLst>
      <p:ext uri="{BB962C8B-B14F-4D97-AF65-F5344CB8AC3E}">
        <p14:creationId xmlns:p14="http://schemas.microsoft.com/office/powerpoint/2010/main" val="276601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277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7.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토지담보대출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(</a:t>
            </a:r>
            <a:r>
              <a:rPr lang="ko-KR" altLang="en-US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리파이낸싱</a:t>
            </a:r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)</a:t>
            </a:r>
            <a:endParaRPr lang="ko-KR" altLang="en-US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8CB5483-7D6E-4602-92F8-DA75DE9D72DF}"/>
              </a:ext>
            </a:extLst>
          </p:cNvPr>
          <p:cNvSpPr/>
          <p:nvPr/>
        </p:nvSpPr>
        <p:spPr>
          <a:xfrm>
            <a:off x="5859505" y="2676891"/>
            <a:ext cx="1756841" cy="21960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 dirty="0"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8D5C00-EE0B-4A74-A1BB-F24702B18B37}"/>
              </a:ext>
            </a:extLst>
          </p:cNvPr>
          <p:cNvSpPr txBox="1"/>
          <p:nvPr/>
        </p:nvSpPr>
        <p:spPr>
          <a:xfrm>
            <a:off x="3877423" y="2569487"/>
            <a:ext cx="902307" cy="4284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담보신탁계약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graphicFrame>
        <p:nvGraphicFramePr>
          <p:cNvPr id="60" name="표 4">
            <a:extLst>
              <a:ext uri="{FF2B5EF4-FFF2-40B4-BE49-F238E27FC236}">
                <a16:creationId xmlns:a16="http://schemas.microsoft.com/office/drawing/2014/main" id="{0245D6C2-7F83-49B3-87C1-5A8149868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519025"/>
              </p:ext>
            </p:extLst>
          </p:nvPr>
        </p:nvGraphicFramePr>
        <p:xfrm>
          <a:off x="5907712" y="3070919"/>
          <a:ext cx="1587803" cy="7342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87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A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[1,050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C86B4247-41D7-4E01-ACA9-99079E40BB90}"/>
              </a:ext>
            </a:extLst>
          </p:cNvPr>
          <p:cNvSpPr txBox="1"/>
          <p:nvPr/>
        </p:nvSpPr>
        <p:spPr>
          <a:xfrm>
            <a:off x="5729624" y="2745368"/>
            <a:ext cx="19421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Pretendard ExtraBold"/>
                <a:ea typeface="Pretendard ExtraBold"/>
              </a:rPr>
              <a:t>담보대출 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[1,200</a:t>
            </a:r>
            <a:r>
              <a:rPr lang="ko-KR" altLang="en-US" sz="1000" b="1" u="sng" dirty="0">
                <a:latin typeface="Pretendard ExtraBold"/>
                <a:ea typeface="Pretendard ExtraBold"/>
              </a:rPr>
              <a:t>억원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]</a:t>
            </a:r>
          </a:p>
        </p:txBody>
      </p:sp>
      <p:graphicFrame>
        <p:nvGraphicFramePr>
          <p:cNvPr id="62" name="표 4">
            <a:extLst>
              <a:ext uri="{FF2B5EF4-FFF2-40B4-BE49-F238E27FC236}">
                <a16:creationId xmlns:a16="http://schemas.microsoft.com/office/drawing/2014/main" id="{6125A74F-6BD7-4F21-9747-871023C96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135329"/>
              </p:ext>
            </p:extLst>
          </p:nvPr>
        </p:nvGraphicFramePr>
        <p:xfrm>
          <a:off x="3036588" y="1662230"/>
          <a:ext cx="1743237" cy="6413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4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86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19">
                <a:tc>
                  <a:txBody>
                    <a:bodyPr/>
                    <a:lstStyle/>
                    <a:p>
                      <a:pPr marL="0" algn="ctr" defTabSz="685800" rtl="0" eaLnBrk="1" latinLnBrk="1" hangingPunct="1">
                        <a:defRPr/>
                      </a:pP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신영부동산산신탁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153932" marR="153932" marT="76966" marB="76966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3" name="표 4">
            <a:extLst>
              <a:ext uri="{FF2B5EF4-FFF2-40B4-BE49-F238E27FC236}">
                <a16:creationId xmlns:a16="http://schemas.microsoft.com/office/drawing/2014/main" id="{3F220115-3A04-420E-BA34-13FA2F63B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101716"/>
              </p:ext>
            </p:extLst>
          </p:nvPr>
        </p:nvGraphicFramePr>
        <p:xfrm>
          <a:off x="3022986" y="3213394"/>
          <a:ext cx="1756840" cy="624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75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13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제이피개발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6" name="표 4">
            <a:extLst>
              <a:ext uri="{FF2B5EF4-FFF2-40B4-BE49-F238E27FC236}">
                <a16:creationId xmlns:a16="http://schemas.microsoft.com/office/drawing/2014/main" id="{EFB645FB-0576-4863-930F-3A05EC686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890018"/>
              </p:ext>
            </p:extLst>
          </p:nvPr>
        </p:nvGraphicFramePr>
        <p:xfrm>
          <a:off x="2854237" y="4757930"/>
          <a:ext cx="2228898" cy="67456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22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1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출자사겸투자자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제이피평화빌딩일반사모투자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19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호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6067" marR="156067" marT="78033" marB="78033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8" name="표 4">
            <a:extLst>
              <a:ext uri="{FF2B5EF4-FFF2-40B4-BE49-F238E27FC236}">
                <a16:creationId xmlns:a16="http://schemas.microsoft.com/office/drawing/2014/main" id="{37D01373-4610-4C3F-8535-D3AD128D8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92270"/>
              </p:ext>
            </p:extLst>
          </p:nvPr>
        </p:nvGraphicFramePr>
        <p:xfrm>
          <a:off x="8308400" y="3941768"/>
          <a:ext cx="1177943" cy="7331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177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5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[37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6728518F-F8F7-4395-8182-3AC01BAB0A63}"/>
              </a:ext>
            </a:extLst>
          </p:cNvPr>
          <p:cNvSpPr txBox="1"/>
          <p:nvPr/>
        </p:nvSpPr>
        <p:spPr>
          <a:xfrm>
            <a:off x="4768790" y="3308478"/>
            <a:ext cx="1159020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>
                <a:latin typeface="Pretendard ExtraBold"/>
                <a:ea typeface="Pretendard ExtraBold"/>
              </a:rPr>
              <a:t>담보대출 약정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47BD9C-E5E4-488F-A531-6114C445FFA4}"/>
              </a:ext>
            </a:extLst>
          </p:cNvPr>
          <p:cNvSpPr txBox="1"/>
          <p:nvPr/>
        </p:nvSpPr>
        <p:spPr>
          <a:xfrm>
            <a:off x="7552938" y="4013735"/>
            <a:ext cx="77598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대출양수도</a:t>
            </a:r>
            <a:endParaRPr lang="en-US" altLang="ko-KR" sz="1000" b="1" dirty="0">
              <a:latin typeface="Pretendard ExtraBold"/>
              <a:ea typeface="Pretendard ExtraBold"/>
            </a:endParaRPr>
          </a:p>
          <a:p>
            <a:pPr algn="ctr">
              <a:defRPr/>
            </a:pPr>
            <a:r>
              <a:rPr lang="en-US" altLang="ko-KR" sz="1000" b="1" dirty="0">
                <a:latin typeface="Pretendard ExtraBold"/>
                <a:ea typeface="Pretendard ExtraBold"/>
              </a:rPr>
              <a:t>(37</a:t>
            </a:r>
            <a:r>
              <a:rPr lang="ko-KR" altLang="en-US" sz="1000" b="1" dirty="0">
                <a:latin typeface="Pretendard ExtraBold"/>
                <a:ea typeface="Pretendard ExtraBold"/>
              </a:rPr>
              <a:t>억원</a:t>
            </a:r>
            <a:r>
              <a:rPr lang="en-US" altLang="ko-KR" sz="1000" b="1" dirty="0">
                <a:latin typeface="Pretendard ExtraBold"/>
                <a:ea typeface="Pretendard ExtraBold"/>
              </a:rPr>
              <a:t>17)</a:t>
            </a: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082712F9-9773-4DD1-B6DD-01146CC1B424}"/>
              </a:ext>
            </a:extLst>
          </p:cNvPr>
          <p:cNvCxnSpPr>
            <a:cxnSpLocks/>
            <a:stCxn id="62" idx="3"/>
            <a:endCxn id="57" idx="0"/>
          </p:cNvCxnSpPr>
          <p:nvPr/>
        </p:nvCxnSpPr>
        <p:spPr>
          <a:xfrm>
            <a:off x="4779825" y="1982921"/>
            <a:ext cx="1958101" cy="69397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F75E4FD-FA44-470B-901A-1A6A91BF0E12}"/>
              </a:ext>
            </a:extLst>
          </p:cNvPr>
          <p:cNvSpPr txBox="1"/>
          <p:nvPr/>
        </p:nvSpPr>
        <p:spPr>
          <a:xfrm>
            <a:off x="4827151" y="1704137"/>
            <a:ext cx="2201318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순위별 우선수익권 제공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graphicFrame>
        <p:nvGraphicFramePr>
          <p:cNvPr id="74" name="표 4">
            <a:extLst>
              <a:ext uri="{FF2B5EF4-FFF2-40B4-BE49-F238E27FC236}">
                <a16:creationId xmlns:a16="http://schemas.microsoft.com/office/drawing/2014/main" id="{234A1EFD-6871-4C4C-948E-6B4B6956E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280007"/>
              </p:ext>
            </p:extLst>
          </p:nvPr>
        </p:nvGraphicFramePr>
        <p:xfrm>
          <a:off x="617083" y="3213394"/>
          <a:ext cx="1595742" cy="624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95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8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담보물</a:t>
                      </a: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03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평화빌딩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6067" marR="156067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D4A625CA-B303-4C05-8F10-C5225346C716}"/>
              </a:ext>
            </a:extLst>
          </p:cNvPr>
          <p:cNvCxnSpPr>
            <a:cxnSpLocks/>
          </p:cNvCxnSpPr>
          <p:nvPr/>
        </p:nvCxnSpPr>
        <p:spPr>
          <a:xfrm>
            <a:off x="2277765" y="3565577"/>
            <a:ext cx="7452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5AC7B61-95AB-4E03-A607-62F314C6490B}"/>
              </a:ext>
            </a:extLst>
          </p:cNvPr>
          <p:cNvSpPr txBox="1"/>
          <p:nvPr/>
        </p:nvSpPr>
        <p:spPr>
          <a:xfrm>
            <a:off x="2123570" y="3604084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>
                <a:latin typeface="Pretendard ExtraBold"/>
                <a:ea typeface="Pretendard ExtraBold"/>
              </a:rPr>
              <a:t>Equity </a:t>
            </a:r>
            <a:r>
              <a:rPr lang="ko-KR" altLang="en-US" sz="1000" b="1" dirty="0">
                <a:latin typeface="Pretendard ExtraBold"/>
                <a:ea typeface="Pretendard ExtraBold"/>
              </a:rPr>
              <a:t>투자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350C3098-9948-4547-9AAB-46895A92F213}"/>
              </a:ext>
            </a:extLst>
          </p:cNvPr>
          <p:cNvCxnSpPr>
            <a:cxnSpLocks/>
          </p:cNvCxnSpPr>
          <p:nvPr/>
        </p:nvCxnSpPr>
        <p:spPr>
          <a:xfrm>
            <a:off x="3877423" y="3893930"/>
            <a:ext cx="0" cy="864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A7D1B7-E736-4EE6-9913-433D8CCF6CCF}"/>
              </a:ext>
            </a:extLst>
          </p:cNvPr>
          <p:cNvSpPr txBox="1"/>
          <p:nvPr/>
        </p:nvSpPr>
        <p:spPr>
          <a:xfrm>
            <a:off x="3857350" y="4172478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en-US" altLang="ko-KR" sz="1000" b="1" dirty="0">
                <a:latin typeface="Pretendard ExtraBold"/>
                <a:ea typeface="Pretendard ExtraBold"/>
              </a:rPr>
              <a:t>Equity </a:t>
            </a:r>
            <a:r>
              <a:rPr lang="ko-KR" altLang="en-US" sz="1000" b="1" dirty="0">
                <a:latin typeface="Pretendard ExtraBold"/>
                <a:ea typeface="Pretendard ExtraBold"/>
              </a:rPr>
              <a:t>출자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B6627E4-5099-4557-A3DA-4AAA7B5602F9}"/>
              </a:ext>
            </a:extLst>
          </p:cNvPr>
          <p:cNvCxnSpPr>
            <a:cxnSpLocks/>
          </p:cNvCxnSpPr>
          <p:nvPr/>
        </p:nvCxnSpPr>
        <p:spPr>
          <a:xfrm flipV="1">
            <a:off x="4823777" y="3571672"/>
            <a:ext cx="1058615" cy="764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4">
            <a:extLst>
              <a:ext uri="{FF2B5EF4-FFF2-40B4-BE49-F238E27FC236}">
                <a16:creationId xmlns:a16="http://schemas.microsoft.com/office/drawing/2014/main" id="{ADB30A48-93A6-40E7-B124-A807BC70B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545838"/>
              </p:ext>
            </p:extLst>
          </p:nvPr>
        </p:nvGraphicFramePr>
        <p:xfrm>
          <a:off x="5907711" y="3941768"/>
          <a:ext cx="1589484" cy="7342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89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1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B (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본건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[150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A5F8612-BC25-47AA-9052-9D4D5DFE9CCD}"/>
              </a:ext>
            </a:extLst>
          </p:cNvPr>
          <p:cNvCxnSpPr>
            <a:cxnSpLocks/>
          </p:cNvCxnSpPr>
          <p:nvPr/>
        </p:nvCxnSpPr>
        <p:spPr>
          <a:xfrm>
            <a:off x="7510932" y="4323151"/>
            <a:ext cx="767408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512EF27C-CB1A-4053-8733-08B5BEFB0B68}"/>
              </a:ext>
            </a:extLst>
          </p:cNvPr>
          <p:cNvCxnSpPr>
            <a:cxnSpLocks/>
          </p:cNvCxnSpPr>
          <p:nvPr/>
        </p:nvCxnSpPr>
        <p:spPr>
          <a:xfrm>
            <a:off x="3911291" y="2349394"/>
            <a:ext cx="0" cy="864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7A59F3BD-01F9-4D67-9CD2-C681D65221DC}"/>
              </a:ext>
            </a:extLst>
          </p:cNvPr>
          <p:cNvCxnSpPr>
            <a:cxnSpLocks/>
          </p:cNvCxnSpPr>
          <p:nvPr/>
        </p:nvCxnSpPr>
        <p:spPr>
          <a:xfrm>
            <a:off x="8898693" y="4717842"/>
            <a:ext cx="0" cy="8640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1905B1C-30E7-46C8-A21A-950AE0402A30}"/>
              </a:ext>
            </a:extLst>
          </p:cNvPr>
          <p:cNvSpPr txBox="1"/>
          <p:nvPr/>
        </p:nvSpPr>
        <p:spPr>
          <a:xfrm>
            <a:off x="7781595" y="5069513"/>
            <a:ext cx="1053609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사모사채 발행</a:t>
            </a:r>
            <a:r>
              <a:rPr lang="en-US" altLang="ko-KR" sz="1000" b="1" dirty="0">
                <a:latin typeface="Pretendard ExtraBold"/>
                <a:ea typeface="Pretendard ExtraBold"/>
              </a:rPr>
              <a:t>/</a:t>
            </a:r>
            <a:r>
              <a:rPr lang="ko-KR" altLang="en-US" sz="1000" b="1" dirty="0">
                <a:latin typeface="Pretendard ExtraBold"/>
                <a:ea typeface="Pretendard ExtraBold"/>
              </a:rPr>
              <a:t>인수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graphicFrame>
        <p:nvGraphicFramePr>
          <p:cNvPr id="104" name="표 4">
            <a:extLst>
              <a:ext uri="{FF2B5EF4-FFF2-40B4-BE49-F238E27FC236}">
                <a16:creationId xmlns:a16="http://schemas.microsoft.com/office/drawing/2014/main" id="{98147A24-1E07-4939-9176-2BA75F9FE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820995"/>
              </p:ext>
            </p:extLst>
          </p:nvPr>
        </p:nvGraphicFramePr>
        <p:xfrm>
          <a:off x="8301265" y="5629371"/>
          <a:ext cx="1177943" cy="36656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177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56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투자자</a:t>
                      </a:r>
                    </a:p>
                  </a:txBody>
                  <a:tcPr marL="153690" marR="153690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5" name="TextBox 104">
            <a:extLst>
              <a:ext uri="{FF2B5EF4-FFF2-40B4-BE49-F238E27FC236}">
                <a16:creationId xmlns:a16="http://schemas.microsoft.com/office/drawing/2014/main" id="{37FAD676-F4DF-4D65-B882-EE0A17AFA8FF}"/>
              </a:ext>
            </a:extLst>
          </p:cNvPr>
          <p:cNvSpPr txBox="1"/>
          <p:nvPr/>
        </p:nvSpPr>
        <p:spPr>
          <a:xfrm>
            <a:off x="265074" y="321339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EBF662A-AF91-4AE5-AE76-AE0B51B551B3}"/>
              </a:ext>
            </a:extLst>
          </p:cNvPr>
          <p:cNvSpPr txBox="1"/>
          <p:nvPr/>
        </p:nvSpPr>
        <p:spPr>
          <a:xfrm>
            <a:off x="154533" y="3525814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AE86ED7-A7AB-4211-A92D-A1F6DF68F4EA}"/>
              </a:ext>
            </a:extLst>
          </p:cNvPr>
          <p:cNvSpPr txBox="1"/>
          <p:nvPr/>
        </p:nvSpPr>
        <p:spPr>
          <a:xfrm flipH="1">
            <a:off x="2658595" y="1650489"/>
            <a:ext cx="344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6720064-67A3-4090-B3EA-5ED51BD2BA36}"/>
              </a:ext>
            </a:extLst>
          </p:cNvPr>
          <p:cNvSpPr txBox="1"/>
          <p:nvPr/>
        </p:nvSpPr>
        <p:spPr>
          <a:xfrm flipH="1">
            <a:off x="2060296" y="1965467"/>
            <a:ext cx="158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2C7C381-792E-4F5E-BB73-A80910A80419}"/>
              </a:ext>
            </a:extLst>
          </p:cNvPr>
          <p:cNvSpPr txBox="1"/>
          <p:nvPr/>
        </p:nvSpPr>
        <p:spPr>
          <a:xfrm>
            <a:off x="3101928" y="322446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③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D6B433C-FE84-4A62-948E-16EA7781E031}"/>
              </a:ext>
            </a:extLst>
          </p:cNvPr>
          <p:cNvSpPr txBox="1"/>
          <p:nvPr/>
        </p:nvSpPr>
        <p:spPr>
          <a:xfrm>
            <a:off x="3002955" y="3547796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BB8FE76-B447-46EE-803E-92F36B6168FB}"/>
              </a:ext>
            </a:extLst>
          </p:cNvPr>
          <p:cNvSpPr txBox="1"/>
          <p:nvPr/>
        </p:nvSpPr>
        <p:spPr>
          <a:xfrm>
            <a:off x="2546493" y="478869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78048C8-0421-4C36-9ADD-8AF72B6C3E2E}"/>
              </a:ext>
            </a:extLst>
          </p:cNvPr>
          <p:cNvSpPr txBox="1"/>
          <p:nvPr/>
        </p:nvSpPr>
        <p:spPr>
          <a:xfrm>
            <a:off x="2425345" y="5095214"/>
            <a:ext cx="52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888E7A6-6F8F-465D-B8FD-5E83B9F1CCAE}"/>
              </a:ext>
            </a:extLst>
          </p:cNvPr>
          <p:cNvSpPr txBox="1"/>
          <p:nvPr/>
        </p:nvSpPr>
        <p:spPr>
          <a:xfrm>
            <a:off x="5663812" y="3999799"/>
            <a:ext cx="19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EEC310C-7D1D-462B-99F3-A1E6C2B41A7D}"/>
              </a:ext>
            </a:extLst>
          </p:cNvPr>
          <p:cNvSpPr txBox="1"/>
          <p:nvPr/>
        </p:nvSpPr>
        <p:spPr>
          <a:xfrm>
            <a:off x="9091933" y="398586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227549-FA2E-429F-9F4D-D296EA880025}"/>
              </a:ext>
            </a:extLst>
          </p:cNvPr>
          <p:cNvSpPr txBox="1"/>
          <p:nvPr/>
        </p:nvSpPr>
        <p:spPr>
          <a:xfrm>
            <a:off x="7509716" y="308596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AAB56FD-FBF4-4E40-A4D8-801C6323F83A}"/>
              </a:ext>
            </a:extLst>
          </p:cNvPr>
          <p:cNvSpPr txBox="1"/>
          <p:nvPr/>
        </p:nvSpPr>
        <p:spPr>
          <a:xfrm>
            <a:off x="7457431" y="3495038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0040983-3BC5-4BBE-A4AE-2AE0BA71E477}"/>
              </a:ext>
            </a:extLst>
          </p:cNvPr>
          <p:cNvSpPr txBox="1"/>
          <p:nvPr/>
        </p:nvSpPr>
        <p:spPr>
          <a:xfrm>
            <a:off x="7274176" y="2720900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11FA662-9480-4EE8-AD88-A4B2FF5FD8CE}"/>
              </a:ext>
            </a:extLst>
          </p:cNvPr>
          <p:cNvSpPr txBox="1"/>
          <p:nvPr/>
        </p:nvSpPr>
        <p:spPr>
          <a:xfrm>
            <a:off x="5484085" y="4354670"/>
            <a:ext cx="459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69FC0A0-B560-4681-A78D-E42BF85B8D5C}"/>
              </a:ext>
            </a:extLst>
          </p:cNvPr>
          <p:cNvSpPr txBox="1"/>
          <p:nvPr/>
        </p:nvSpPr>
        <p:spPr>
          <a:xfrm>
            <a:off x="9042746" y="433994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8415150-5215-4618-959C-187490B85E95}"/>
              </a:ext>
            </a:extLst>
          </p:cNvPr>
          <p:cNvSpPr txBox="1"/>
          <p:nvPr/>
        </p:nvSpPr>
        <p:spPr>
          <a:xfrm>
            <a:off x="7894636" y="5674153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E7B027-32F0-459F-9A64-1CBC1688EB24}"/>
              </a:ext>
            </a:extLst>
          </p:cNvPr>
          <p:cNvSpPr txBox="1"/>
          <p:nvPr/>
        </p:nvSpPr>
        <p:spPr>
          <a:xfrm>
            <a:off x="2479964" y="324542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73E875-33BC-4950-B7ED-613E33BAE3AA}"/>
              </a:ext>
            </a:extLst>
          </p:cNvPr>
          <p:cNvSpPr txBox="1"/>
          <p:nvPr/>
        </p:nvSpPr>
        <p:spPr>
          <a:xfrm>
            <a:off x="3618729" y="262702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55D48F-BC75-4950-8475-FB64C64E2C78}"/>
              </a:ext>
            </a:extLst>
          </p:cNvPr>
          <p:cNvSpPr txBox="1"/>
          <p:nvPr/>
        </p:nvSpPr>
        <p:spPr>
          <a:xfrm>
            <a:off x="3552719" y="416707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1C905E-C2A6-4042-A579-4DD6C47DD085}"/>
              </a:ext>
            </a:extLst>
          </p:cNvPr>
          <p:cNvSpPr txBox="1"/>
          <p:nvPr/>
        </p:nvSpPr>
        <p:spPr>
          <a:xfrm>
            <a:off x="5672864" y="149467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DBD9D6-7BAB-4FF8-8183-CAE7F776CA46}"/>
              </a:ext>
            </a:extLst>
          </p:cNvPr>
          <p:cNvSpPr txBox="1"/>
          <p:nvPr/>
        </p:nvSpPr>
        <p:spPr>
          <a:xfrm>
            <a:off x="5148746" y="308596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11029C-012B-4B09-9CA4-D0468E1DB35C}"/>
              </a:ext>
            </a:extLst>
          </p:cNvPr>
          <p:cNvSpPr txBox="1"/>
          <p:nvPr/>
        </p:nvSpPr>
        <p:spPr>
          <a:xfrm>
            <a:off x="7802775" y="435466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ⓕ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B7E1FE-B4FC-464C-8927-3201D07B529B}"/>
              </a:ext>
            </a:extLst>
          </p:cNvPr>
          <p:cNvSpPr txBox="1"/>
          <p:nvPr/>
        </p:nvSpPr>
        <p:spPr>
          <a:xfrm>
            <a:off x="7551094" y="504164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ⓖ</a:t>
            </a:r>
          </a:p>
        </p:txBody>
      </p:sp>
    </p:spTree>
    <p:extLst>
      <p:ext uri="{BB962C8B-B14F-4D97-AF65-F5344CB8AC3E}">
        <p14:creationId xmlns:p14="http://schemas.microsoft.com/office/powerpoint/2010/main" val="172750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8.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2B776B6-3861-456F-AFC8-6481A3CEE03D}"/>
              </a:ext>
            </a:extLst>
          </p:cNvPr>
          <p:cNvSpPr/>
          <p:nvPr/>
        </p:nvSpPr>
        <p:spPr>
          <a:xfrm>
            <a:off x="4212059" y="2074133"/>
            <a:ext cx="2409326" cy="30661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F44BC8-F289-4368-A797-6C58CE915506}"/>
              </a:ext>
            </a:extLst>
          </p:cNvPr>
          <p:cNvSpPr txBox="1"/>
          <p:nvPr/>
        </p:nvSpPr>
        <p:spPr>
          <a:xfrm>
            <a:off x="4281471" y="2100143"/>
            <a:ext cx="22564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Pretendard ExtraBold"/>
                <a:ea typeface="Pretendard ExtraBold"/>
              </a:rPr>
              <a:t>담보대출금 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[1,640</a:t>
            </a:r>
            <a:r>
              <a:rPr lang="ko-KR" altLang="en-US" sz="1000" b="1" u="sng" dirty="0">
                <a:latin typeface="Pretendard ExtraBold"/>
                <a:ea typeface="Pretendard ExtraBold"/>
              </a:rPr>
              <a:t>억원</a:t>
            </a:r>
            <a:r>
              <a:rPr lang="en-US" altLang="ko-KR" sz="1000" b="1" u="sng" dirty="0">
                <a:latin typeface="Pretendard ExtraBold"/>
                <a:ea typeface="Pretendard ExtraBold"/>
              </a:rPr>
              <a:t>]</a:t>
            </a:r>
          </a:p>
        </p:txBody>
      </p:sp>
      <p:graphicFrame>
        <p:nvGraphicFramePr>
          <p:cNvPr id="56" name="표 4">
            <a:extLst>
              <a:ext uri="{FF2B5EF4-FFF2-40B4-BE49-F238E27FC236}">
                <a16:creationId xmlns:a16="http://schemas.microsoft.com/office/drawing/2014/main" id="{66825AB5-D8DE-4228-AE20-B8462963F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06986"/>
              </p:ext>
            </p:extLst>
          </p:nvPr>
        </p:nvGraphicFramePr>
        <p:xfrm>
          <a:off x="1173720" y="3322240"/>
          <a:ext cx="1915993" cy="6959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57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 및 시행사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99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더함도시개발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표 4">
            <a:extLst>
              <a:ext uri="{FF2B5EF4-FFF2-40B4-BE49-F238E27FC236}">
                <a16:creationId xmlns:a16="http://schemas.microsoft.com/office/drawing/2014/main" id="{460BA49F-FBFD-47CF-84B8-FD79E49AD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599205"/>
              </p:ext>
            </p:extLst>
          </p:nvPr>
        </p:nvGraphicFramePr>
        <p:xfrm>
          <a:off x="4344485" y="3249963"/>
          <a:ext cx="2130374" cy="17382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B [440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87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직사각형 63">
            <a:extLst>
              <a:ext uri="{FF2B5EF4-FFF2-40B4-BE49-F238E27FC236}">
                <a16:creationId xmlns:a16="http://schemas.microsoft.com/office/drawing/2014/main" id="{42C0B8F0-9454-4C12-8C0D-C38BE49C3C23}"/>
              </a:ext>
            </a:extLst>
          </p:cNvPr>
          <p:cNvSpPr/>
          <p:nvPr/>
        </p:nvSpPr>
        <p:spPr>
          <a:xfrm>
            <a:off x="4414724" y="4111733"/>
            <a:ext cx="4678173" cy="743427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65" name="표 4">
            <a:extLst>
              <a:ext uri="{FF2B5EF4-FFF2-40B4-BE49-F238E27FC236}">
                <a16:creationId xmlns:a16="http://schemas.microsoft.com/office/drawing/2014/main" id="{AB2B9CE1-D945-40AA-8066-829C101C0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162565"/>
              </p:ext>
            </p:extLst>
          </p:nvPr>
        </p:nvGraphicFramePr>
        <p:xfrm>
          <a:off x="4460644" y="4202112"/>
          <a:ext cx="1960205" cy="5893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5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신규 유동화 </a:t>
                      </a:r>
                      <a:r>
                        <a:rPr lang="en-US" altLang="ko-KR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  <a:endParaRPr lang="ko-KR" altLang="en-US" sz="11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T.B.D. [*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 원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7" name="표 4">
            <a:extLst>
              <a:ext uri="{FF2B5EF4-FFF2-40B4-BE49-F238E27FC236}">
                <a16:creationId xmlns:a16="http://schemas.microsoft.com/office/drawing/2014/main" id="{A0A70567-831F-4F3D-B4C6-40CF7C266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087601"/>
              </p:ext>
            </p:extLst>
          </p:nvPr>
        </p:nvGraphicFramePr>
        <p:xfrm>
          <a:off x="7771405" y="4202111"/>
          <a:ext cx="1217353" cy="5893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7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2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lt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T.B.D. [*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억 원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8A04F417-DBE1-42DB-BD72-9EF7F4807CF6}"/>
              </a:ext>
            </a:extLst>
          </p:cNvPr>
          <p:cNvCxnSpPr>
            <a:cxnSpLocks/>
            <a:stCxn id="67" idx="1"/>
            <a:endCxn id="65" idx="3"/>
          </p:cNvCxnSpPr>
          <p:nvPr/>
        </p:nvCxnSpPr>
        <p:spPr>
          <a:xfrm flipH="1">
            <a:off x="6420849" y="4496767"/>
            <a:ext cx="1350556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graphicFrame>
        <p:nvGraphicFramePr>
          <p:cNvPr id="82" name="표 4">
            <a:extLst>
              <a:ext uri="{FF2B5EF4-FFF2-40B4-BE49-F238E27FC236}">
                <a16:creationId xmlns:a16="http://schemas.microsoft.com/office/drawing/2014/main" id="{A92167F4-B776-497C-A458-1FDF5FDBC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012029"/>
              </p:ext>
            </p:extLst>
          </p:nvPr>
        </p:nvGraphicFramePr>
        <p:xfrm>
          <a:off x="1173719" y="4443261"/>
          <a:ext cx="1915993" cy="695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3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lang="ko-KR" altLang="en-US" sz="12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신한자산신탁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표 4">
            <a:extLst>
              <a:ext uri="{FF2B5EF4-FFF2-40B4-BE49-F238E27FC236}">
                <a16:creationId xmlns:a16="http://schemas.microsoft.com/office/drawing/2014/main" id="{4991C27C-DA10-4642-93E2-D90C89276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21982"/>
              </p:ext>
            </p:extLst>
          </p:nvPr>
        </p:nvGraphicFramePr>
        <p:xfrm>
          <a:off x="1173720" y="2072936"/>
          <a:ext cx="1915993" cy="6905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9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)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포스코이앤씨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4" name="표 4">
            <a:extLst>
              <a:ext uri="{FF2B5EF4-FFF2-40B4-BE49-F238E27FC236}">
                <a16:creationId xmlns:a16="http://schemas.microsoft.com/office/drawing/2014/main" id="{3E0BF48C-AEE0-4E33-8500-5CABDB975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654338"/>
              </p:ext>
            </p:extLst>
          </p:nvPr>
        </p:nvGraphicFramePr>
        <p:xfrm>
          <a:off x="4351535" y="2379307"/>
          <a:ext cx="2130374" cy="72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38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A [1,200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Tr.A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대주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EA75351-E8BF-4658-A6C3-8269EFC89E88}"/>
              </a:ext>
            </a:extLst>
          </p:cNvPr>
          <p:cNvCxnSpPr>
            <a:cxnSpLocks/>
            <a:stCxn id="56" idx="0"/>
            <a:endCxn id="83" idx="2"/>
          </p:cNvCxnSpPr>
          <p:nvPr/>
        </p:nvCxnSpPr>
        <p:spPr>
          <a:xfrm flipV="1">
            <a:off x="2131716" y="2763504"/>
            <a:ext cx="0" cy="5587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77A69DED-2351-4EFF-A355-18116B25CBF3}"/>
              </a:ext>
            </a:extLst>
          </p:cNvPr>
          <p:cNvCxnSpPr>
            <a:cxnSpLocks/>
          </p:cNvCxnSpPr>
          <p:nvPr/>
        </p:nvCxnSpPr>
        <p:spPr>
          <a:xfrm flipH="1">
            <a:off x="3153260" y="3646087"/>
            <a:ext cx="1014693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B1A1B529-DA0A-40C7-B329-6E61D84E5218}"/>
              </a:ext>
            </a:extLst>
          </p:cNvPr>
          <p:cNvCxnSpPr>
            <a:cxnSpLocks/>
            <a:stCxn id="82" idx="0"/>
            <a:endCxn id="56" idx="2"/>
          </p:cNvCxnSpPr>
          <p:nvPr/>
        </p:nvCxnSpPr>
        <p:spPr>
          <a:xfrm flipV="1">
            <a:off x="2131715" y="4018184"/>
            <a:ext cx="1" cy="42507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88" name="텍스트 개체 틀 2">
            <a:extLst>
              <a:ext uri="{FF2B5EF4-FFF2-40B4-BE49-F238E27FC236}">
                <a16:creationId xmlns:a16="http://schemas.microsoft.com/office/drawing/2014/main" id="{06C407D5-FAA5-4D85-AABE-2536EB23C6F8}"/>
              </a:ext>
            </a:extLst>
          </p:cNvPr>
          <p:cNvSpPr txBox="1">
            <a:spLocks/>
          </p:cNvSpPr>
          <p:nvPr/>
        </p:nvSpPr>
        <p:spPr>
          <a:xfrm>
            <a:off x="1988995" y="2972690"/>
            <a:ext cx="1060169" cy="2177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공사도급계약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endParaRPr lang="en-US" altLang="ko-KR" sz="2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89" name="텍스트 개체 틀 2">
            <a:extLst>
              <a:ext uri="{FF2B5EF4-FFF2-40B4-BE49-F238E27FC236}">
                <a16:creationId xmlns:a16="http://schemas.microsoft.com/office/drawing/2014/main" id="{604DB853-62C6-4A09-A734-506903E963E5}"/>
              </a:ext>
            </a:extLst>
          </p:cNvPr>
          <p:cNvSpPr txBox="1">
            <a:spLocks/>
          </p:cNvSpPr>
          <p:nvPr/>
        </p:nvSpPr>
        <p:spPr>
          <a:xfrm>
            <a:off x="3133819" y="3454820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대출약정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90" name="텍스트 개체 틀 2">
            <a:extLst>
              <a:ext uri="{FF2B5EF4-FFF2-40B4-BE49-F238E27FC236}">
                <a16:creationId xmlns:a16="http://schemas.microsoft.com/office/drawing/2014/main" id="{69180F7D-F1C3-4CEA-B8C9-28B10114B8A8}"/>
              </a:ext>
            </a:extLst>
          </p:cNvPr>
          <p:cNvSpPr txBox="1">
            <a:spLocks/>
          </p:cNvSpPr>
          <p:nvPr/>
        </p:nvSpPr>
        <p:spPr>
          <a:xfrm>
            <a:off x="1988995" y="4144070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담보신탁계약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91" name="텍스트 개체 틀 2">
            <a:extLst>
              <a:ext uri="{FF2B5EF4-FFF2-40B4-BE49-F238E27FC236}">
                <a16:creationId xmlns:a16="http://schemas.microsoft.com/office/drawing/2014/main" id="{2D60DF03-6D7C-4CB7-AB4C-CB7861509D7B}"/>
              </a:ext>
            </a:extLst>
          </p:cNvPr>
          <p:cNvSpPr txBox="1">
            <a:spLocks/>
          </p:cNvSpPr>
          <p:nvPr/>
        </p:nvSpPr>
        <p:spPr>
          <a:xfrm>
            <a:off x="6601377" y="4282949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 </a:t>
            </a:r>
            <a:r>
              <a:rPr lang="ko-KR" altLang="en-US" sz="90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발행</a:t>
            </a:r>
            <a:r>
              <a:rPr lang="en-US" altLang="ko-KR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/</a:t>
            </a: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인수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92" name="표 4">
            <a:extLst>
              <a:ext uri="{FF2B5EF4-FFF2-40B4-BE49-F238E27FC236}">
                <a16:creationId xmlns:a16="http://schemas.microsoft.com/office/drawing/2014/main" id="{34A95E72-1E84-4B8F-ADBF-1A6C04D36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824357"/>
              </p:ext>
            </p:extLst>
          </p:nvPr>
        </p:nvGraphicFramePr>
        <p:xfrm>
          <a:off x="4460643" y="3646087"/>
          <a:ext cx="1960205" cy="3352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0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ㅍ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Tr.B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대주</a:t>
                      </a: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4" name="TextBox 93">
            <a:extLst>
              <a:ext uri="{FF2B5EF4-FFF2-40B4-BE49-F238E27FC236}">
                <a16:creationId xmlns:a16="http://schemas.microsoft.com/office/drawing/2014/main" id="{D5C6A92D-79DA-4BD2-A596-5AED8C6AD6C6}"/>
              </a:ext>
            </a:extLst>
          </p:cNvPr>
          <p:cNvSpPr txBox="1"/>
          <p:nvPr/>
        </p:nvSpPr>
        <p:spPr>
          <a:xfrm>
            <a:off x="861089" y="211548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5A1B2F6-B655-44D0-BC24-622EF8FCE92C}"/>
              </a:ext>
            </a:extLst>
          </p:cNvPr>
          <p:cNvSpPr txBox="1"/>
          <p:nvPr/>
        </p:nvSpPr>
        <p:spPr>
          <a:xfrm>
            <a:off x="746820" y="2504525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19F405-C174-4DF3-97DE-798B0EEE8B42}"/>
              </a:ext>
            </a:extLst>
          </p:cNvPr>
          <p:cNvSpPr txBox="1"/>
          <p:nvPr/>
        </p:nvSpPr>
        <p:spPr>
          <a:xfrm flipH="1">
            <a:off x="476247" y="3369088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76F349-AC0A-48D3-BFDA-65448592DA66}"/>
              </a:ext>
            </a:extLst>
          </p:cNvPr>
          <p:cNvSpPr txBox="1"/>
          <p:nvPr/>
        </p:nvSpPr>
        <p:spPr>
          <a:xfrm flipH="1">
            <a:off x="86903" y="3680978"/>
            <a:ext cx="15878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68F62-E2D8-4D3E-A213-707EB0A137AB}"/>
              </a:ext>
            </a:extLst>
          </p:cNvPr>
          <p:cNvSpPr txBox="1"/>
          <p:nvPr/>
        </p:nvSpPr>
        <p:spPr>
          <a:xfrm>
            <a:off x="785873" y="447130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7478650-264C-4227-AC32-8BD004F608AD}"/>
              </a:ext>
            </a:extLst>
          </p:cNvPr>
          <p:cNvSpPr txBox="1"/>
          <p:nvPr/>
        </p:nvSpPr>
        <p:spPr>
          <a:xfrm>
            <a:off x="652011" y="4850410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2C7C0C4-7A2A-42C0-83DD-D7BCD26BE90F}"/>
              </a:ext>
            </a:extLst>
          </p:cNvPr>
          <p:cNvSpPr txBox="1"/>
          <p:nvPr/>
        </p:nvSpPr>
        <p:spPr>
          <a:xfrm>
            <a:off x="4474914" y="205464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8A06FDD-E7E7-46B5-AFF9-1AE1BC7C34D6}"/>
              </a:ext>
            </a:extLst>
          </p:cNvPr>
          <p:cNvSpPr txBox="1"/>
          <p:nvPr/>
        </p:nvSpPr>
        <p:spPr>
          <a:xfrm>
            <a:off x="6129814" y="2379307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⑤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C73BD37-76AD-4566-9060-766AAC7F2B8A}"/>
              </a:ext>
            </a:extLst>
          </p:cNvPr>
          <p:cNvSpPr txBox="1"/>
          <p:nvPr/>
        </p:nvSpPr>
        <p:spPr>
          <a:xfrm>
            <a:off x="5940852" y="276350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B17A3A7-C67B-44A6-BC83-B9BAEA41E237}"/>
              </a:ext>
            </a:extLst>
          </p:cNvPr>
          <p:cNvSpPr txBox="1"/>
          <p:nvPr/>
        </p:nvSpPr>
        <p:spPr>
          <a:xfrm>
            <a:off x="6131359" y="325936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⑥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09B73C4-A594-4F29-BB99-35A92B351D04}"/>
              </a:ext>
            </a:extLst>
          </p:cNvPr>
          <p:cNvSpPr txBox="1"/>
          <p:nvPr/>
        </p:nvSpPr>
        <p:spPr>
          <a:xfrm>
            <a:off x="5919111" y="3680978"/>
            <a:ext cx="531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DBB1CEC-822F-4BD4-902B-10C0E12C492E}"/>
              </a:ext>
            </a:extLst>
          </p:cNvPr>
          <p:cNvSpPr txBox="1"/>
          <p:nvPr/>
        </p:nvSpPr>
        <p:spPr>
          <a:xfrm>
            <a:off x="6094565" y="4183591"/>
            <a:ext cx="19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C93C331-B31F-4AEF-99BD-DDDA3BAAF2D9}"/>
              </a:ext>
            </a:extLst>
          </p:cNvPr>
          <p:cNvSpPr txBox="1"/>
          <p:nvPr/>
        </p:nvSpPr>
        <p:spPr>
          <a:xfrm>
            <a:off x="5940852" y="4499548"/>
            <a:ext cx="459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1B585D9-950C-48F9-B114-606E47B71955}"/>
              </a:ext>
            </a:extLst>
          </p:cNvPr>
          <p:cNvSpPr txBox="1"/>
          <p:nvPr/>
        </p:nvSpPr>
        <p:spPr>
          <a:xfrm>
            <a:off x="9013997" y="4183591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3195D16-0D99-437A-8415-3461DE7F5FF2}"/>
              </a:ext>
            </a:extLst>
          </p:cNvPr>
          <p:cNvSpPr txBox="1"/>
          <p:nvPr/>
        </p:nvSpPr>
        <p:spPr>
          <a:xfrm>
            <a:off x="9010713" y="4506185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CC01487-298B-4EB5-A933-E8341FC831CB}"/>
              </a:ext>
            </a:extLst>
          </p:cNvPr>
          <p:cNvSpPr txBox="1"/>
          <p:nvPr/>
        </p:nvSpPr>
        <p:spPr>
          <a:xfrm>
            <a:off x="2824145" y="291935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DA8F488-7B76-4234-959B-3F4F3EC6F52E}"/>
              </a:ext>
            </a:extLst>
          </p:cNvPr>
          <p:cNvSpPr txBox="1"/>
          <p:nvPr/>
        </p:nvSpPr>
        <p:spPr>
          <a:xfrm flipH="1">
            <a:off x="2811744" y="4111733"/>
            <a:ext cx="300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B357850-7D57-4B32-97E5-B0B5B60E49BE}"/>
              </a:ext>
            </a:extLst>
          </p:cNvPr>
          <p:cNvSpPr txBox="1"/>
          <p:nvPr/>
        </p:nvSpPr>
        <p:spPr>
          <a:xfrm>
            <a:off x="3180699" y="339785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C1B471-5971-4F07-902F-4B91C8F58EC1}"/>
              </a:ext>
            </a:extLst>
          </p:cNvPr>
          <p:cNvSpPr txBox="1"/>
          <p:nvPr/>
        </p:nvSpPr>
        <p:spPr>
          <a:xfrm>
            <a:off x="6988734" y="406757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</p:spTree>
    <p:extLst>
      <p:ext uri="{BB962C8B-B14F-4D97-AF65-F5344CB8AC3E}">
        <p14:creationId xmlns:p14="http://schemas.microsoft.com/office/powerpoint/2010/main" val="221270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9.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2B776B6-3861-456F-AFC8-6481A3CEE03D}"/>
              </a:ext>
            </a:extLst>
          </p:cNvPr>
          <p:cNvSpPr/>
          <p:nvPr/>
        </p:nvSpPr>
        <p:spPr>
          <a:xfrm>
            <a:off x="5449719" y="2829127"/>
            <a:ext cx="2409326" cy="20830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6" name="표 4">
            <a:extLst>
              <a:ext uri="{FF2B5EF4-FFF2-40B4-BE49-F238E27FC236}">
                <a16:creationId xmlns:a16="http://schemas.microsoft.com/office/drawing/2014/main" id="{66825AB5-D8DE-4228-AE20-B8462963F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82164"/>
              </p:ext>
            </p:extLst>
          </p:nvPr>
        </p:nvGraphicFramePr>
        <p:xfrm>
          <a:off x="1640104" y="3253011"/>
          <a:ext cx="1915993" cy="6959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57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99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)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피엠베스트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직사각형 63">
            <a:extLst>
              <a:ext uri="{FF2B5EF4-FFF2-40B4-BE49-F238E27FC236}">
                <a16:creationId xmlns:a16="http://schemas.microsoft.com/office/drawing/2014/main" id="{42C0B8F0-9454-4C12-8C0D-C38BE49C3C23}"/>
              </a:ext>
            </a:extLst>
          </p:cNvPr>
          <p:cNvSpPr/>
          <p:nvPr/>
        </p:nvSpPr>
        <p:spPr>
          <a:xfrm>
            <a:off x="5519131" y="3101358"/>
            <a:ext cx="2256402" cy="1733109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82" name="표 4">
            <a:extLst>
              <a:ext uri="{FF2B5EF4-FFF2-40B4-BE49-F238E27FC236}">
                <a16:creationId xmlns:a16="http://schemas.microsoft.com/office/drawing/2014/main" id="{A92167F4-B776-497C-A458-1FDF5FDBC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43253"/>
              </p:ext>
            </p:extLst>
          </p:nvPr>
        </p:nvGraphicFramePr>
        <p:xfrm>
          <a:off x="1640104" y="1891094"/>
          <a:ext cx="1915993" cy="695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3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부동산 </a:t>
                      </a:r>
                      <a:r>
                        <a:rPr lang="ko-KR" altLang="en-US" sz="12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lang="ko-KR" altLang="en-US" sz="12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TBD ]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" name="표 4">
            <a:extLst>
              <a:ext uri="{FF2B5EF4-FFF2-40B4-BE49-F238E27FC236}">
                <a16:creationId xmlns:a16="http://schemas.microsoft.com/office/drawing/2014/main" id="{4991C27C-DA10-4642-93E2-D90C89276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476396"/>
              </p:ext>
            </p:extLst>
          </p:nvPr>
        </p:nvGraphicFramePr>
        <p:xfrm>
          <a:off x="1642309" y="4473555"/>
          <a:ext cx="1915993" cy="6905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9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매도자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 TBD ]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4" name="표 4">
            <a:extLst>
              <a:ext uri="{FF2B5EF4-FFF2-40B4-BE49-F238E27FC236}">
                <a16:creationId xmlns:a16="http://schemas.microsoft.com/office/drawing/2014/main" id="{3E0BF48C-AEE0-4E33-8500-5CABDB975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29498"/>
              </p:ext>
            </p:extLst>
          </p:nvPr>
        </p:nvGraphicFramePr>
        <p:xfrm>
          <a:off x="5572261" y="3134301"/>
          <a:ext cx="2130374" cy="72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38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A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200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6EA75351-E8BF-4658-A6C3-8269EFC89E88}"/>
              </a:ext>
            </a:extLst>
          </p:cNvPr>
          <p:cNvCxnSpPr>
            <a:cxnSpLocks/>
            <a:stCxn id="56" idx="2"/>
            <a:endCxn id="83" idx="0"/>
          </p:cNvCxnSpPr>
          <p:nvPr/>
        </p:nvCxnSpPr>
        <p:spPr>
          <a:xfrm>
            <a:off x="2598100" y="3948955"/>
            <a:ext cx="2205" cy="5246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77A69DED-2351-4EFF-A355-18116B25CBF3}"/>
              </a:ext>
            </a:extLst>
          </p:cNvPr>
          <p:cNvCxnSpPr>
            <a:cxnSpLocks/>
          </p:cNvCxnSpPr>
          <p:nvPr/>
        </p:nvCxnSpPr>
        <p:spPr>
          <a:xfrm>
            <a:off x="3750689" y="3600983"/>
            <a:ext cx="1507829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B1A1B529-DA0A-40C7-B329-6E61D84E5218}"/>
              </a:ext>
            </a:extLst>
          </p:cNvPr>
          <p:cNvCxnSpPr>
            <a:cxnSpLocks/>
            <a:stCxn id="82" idx="2"/>
            <a:endCxn id="56" idx="0"/>
          </p:cNvCxnSpPr>
          <p:nvPr/>
        </p:nvCxnSpPr>
        <p:spPr>
          <a:xfrm>
            <a:off x="2598100" y="2587037"/>
            <a:ext cx="0" cy="66597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88" name="텍스트 개체 틀 2">
            <a:extLst>
              <a:ext uri="{FF2B5EF4-FFF2-40B4-BE49-F238E27FC236}">
                <a16:creationId xmlns:a16="http://schemas.microsoft.com/office/drawing/2014/main" id="{06C407D5-FAA5-4D85-AABE-2536EB23C6F8}"/>
              </a:ext>
            </a:extLst>
          </p:cNvPr>
          <p:cNvSpPr txBox="1">
            <a:spLocks/>
          </p:cNvSpPr>
          <p:nvPr/>
        </p:nvSpPr>
        <p:spPr>
          <a:xfrm>
            <a:off x="2489424" y="2829127"/>
            <a:ext cx="1060169" cy="2177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담보신탁계약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endParaRPr lang="en-US" altLang="ko-KR" sz="2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89" name="텍스트 개체 틀 2">
            <a:extLst>
              <a:ext uri="{FF2B5EF4-FFF2-40B4-BE49-F238E27FC236}">
                <a16:creationId xmlns:a16="http://schemas.microsoft.com/office/drawing/2014/main" id="{604DB853-62C6-4A09-A734-506903E963E5}"/>
              </a:ext>
            </a:extLst>
          </p:cNvPr>
          <p:cNvSpPr txBox="1">
            <a:spLocks/>
          </p:cNvSpPr>
          <p:nvPr/>
        </p:nvSpPr>
        <p:spPr>
          <a:xfrm>
            <a:off x="3974518" y="3351304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대출실행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90" name="텍스트 개체 틀 2">
            <a:extLst>
              <a:ext uri="{FF2B5EF4-FFF2-40B4-BE49-F238E27FC236}">
                <a16:creationId xmlns:a16="http://schemas.microsoft.com/office/drawing/2014/main" id="{69180F7D-F1C3-4CEA-B8C9-28B10114B8A8}"/>
              </a:ext>
            </a:extLst>
          </p:cNvPr>
          <p:cNvSpPr txBox="1">
            <a:spLocks/>
          </p:cNvSpPr>
          <p:nvPr/>
        </p:nvSpPr>
        <p:spPr>
          <a:xfrm>
            <a:off x="2420278" y="4126424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매매계약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52" name="표 4">
            <a:extLst>
              <a:ext uri="{FF2B5EF4-FFF2-40B4-BE49-F238E27FC236}">
                <a16:creationId xmlns:a16="http://schemas.microsoft.com/office/drawing/2014/main" id="{B48293F7-5965-4D3B-A353-6CED98EF6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036619"/>
              </p:ext>
            </p:extLst>
          </p:nvPr>
        </p:nvGraphicFramePr>
        <p:xfrm>
          <a:off x="5572261" y="4024192"/>
          <a:ext cx="2130374" cy="72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38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Tranche B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50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A2F44BC8-F289-4368-A797-6C58CE915506}"/>
              </a:ext>
            </a:extLst>
          </p:cNvPr>
          <p:cNvSpPr txBox="1"/>
          <p:nvPr/>
        </p:nvSpPr>
        <p:spPr>
          <a:xfrm>
            <a:off x="5519131" y="2855137"/>
            <a:ext cx="22564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Pretendard ExtraBold"/>
                <a:ea typeface="Pretendard ExtraBold"/>
              </a:rPr>
              <a:t>담보대출 대주</a:t>
            </a:r>
            <a:endParaRPr lang="en-US" altLang="ko-KR" sz="1000" b="1" u="sng" dirty="0">
              <a:latin typeface="Pretendard ExtraBold"/>
              <a:ea typeface="Pretendard ExtraBold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0DC7D6-C990-4CC9-BB50-612ED2342021}"/>
              </a:ext>
            </a:extLst>
          </p:cNvPr>
          <p:cNvSpPr txBox="1"/>
          <p:nvPr/>
        </p:nvSpPr>
        <p:spPr>
          <a:xfrm>
            <a:off x="4504602" y="1973466"/>
            <a:ext cx="2201318" cy="249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/>
            </a:pPr>
            <a:r>
              <a:rPr lang="ko-KR" altLang="en-US" sz="1000" b="1" dirty="0">
                <a:latin typeface="Pretendard ExtraBold"/>
                <a:ea typeface="Pretendard ExtraBold"/>
              </a:rPr>
              <a:t>순위별 우선수익권 제공</a:t>
            </a:r>
            <a:endParaRPr lang="en-US" altLang="ko-KR" sz="1000" b="1" dirty="0">
              <a:latin typeface="Pretendard ExtraBold"/>
              <a:ea typeface="Pretendard ExtraBold"/>
            </a:endParaRP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8707F19D-89EC-43D4-AA0F-199FB50DBE6C}"/>
              </a:ext>
            </a:extLst>
          </p:cNvPr>
          <p:cNvCxnSpPr>
            <a:cxnSpLocks/>
            <a:stCxn id="82" idx="3"/>
            <a:endCxn id="55" idx="0"/>
          </p:cNvCxnSpPr>
          <p:nvPr/>
        </p:nvCxnSpPr>
        <p:spPr>
          <a:xfrm>
            <a:off x="3556097" y="2239065"/>
            <a:ext cx="3091235" cy="616072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C3F3B39-5BD3-49A3-B9F5-21B3F27086E5}"/>
              </a:ext>
            </a:extLst>
          </p:cNvPr>
          <p:cNvSpPr txBox="1"/>
          <p:nvPr/>
        </p:nvSpPr>
        <p:spPr>
          <a:xfrm>
            <a:off x="1361223" y="194559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AA690F-6586-4E18-9349-27881CF4C975}"/>
              </a:ext>
            </a:extLst>
          </p:cNvPr>
          <p:cNvSpPr txBox="1"/>
          <p:nvPr/>
        </p:nvSpPr>
        <p:spPr>
          <a:xfrm>
            <a:off x="1246954" y="2334632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0D685C4-F866-405A-B2FD-206D5710712D}"/>
              </a:ext>
            </a:extLst>
          </p:cNvPr>
          <p:cNvSpPr txBox="1"/>
          <p:nvPr/>
        </p:nvSpPr>
        <p:spPr>
          <a:xfrm>
            <a:off x="1339448" y="451354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A58F39-F0F0-4F3C-AF6A-5E1C790301D0}"/>
              </a:ext>
            </a:extLst>
          </p:cNvPr>
          <p:cNvSpPr txBox="1"/>
          <p:nvPr/>
        </p:nvSpPr>
        <p:spPr>
          <a:xfrm>
            <a:off x="1205586" y="4892646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B41F04D-49B9-4C36-B8FF-33162A30A7C9}"/>
              </a:ext>
            </a:extLst>
          </p:cNvPr>
          <p:cNvSpPr txBox="1"/>
          <p:nvPr/>
        </p:nvSpPr>
        <p:spPr>
          <a:xfrm flipH="1">
            <a:off x="1019034" y="3310916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9DFFC58-6C0C-4BC5-9216-64B73733120B}"/>
              </a:ext>
            </a:extLst>
          </p:cNvPr>
          <p:cNvSpPr txBox="1"/>
          <p:nvPr/>
        </p:nvSpPr>
        <p:spPr>
          <a:xfrm flipH="1">
            <a:off x="1205586" y="3645820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E88F24D-8F53-4F3F-83D5-C6FD762D0D64}"/>
              </a:ext>
            </a:extLst>
          </p:cNvPr>
          <p:cNvSpPr txBox="1"/>
          <p:nvPr/>
        </p:nvSpPr>
        <p:spPr>
          <a:xfrm>
            <a:off x="6038835" y="279950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D4F66EA-469C-4372-8681-A5E56E2672CC}"/>
              </a:ext>
            </a:extLst>
          </p:cNvPr>
          <p:cNvSpPr txBox="1"/>
          <p:nvPr/>
        </p:nvSpPr>
        <p:spPr>
          <a:xfrm>
            <a:off x="7891597" y="3112488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0776033-DF4D-4663-BDA3-ACC7BBC6A02D}"/>
              </a:ext>
            </a:extLst>
          </p:cNvPr>
          <p:cNvSpPr txBox="1"/>
          <p:nvPr/>
        </p:nvSpPr>
        <p:spPr>
          <a:xfrm>
            <a:off x="7797888" y="3496685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35C19E6-5BAF-4480-868F-426A5A67DD62}"/>
              </a:ext>
            </a:extLst>
          </p:cNvPr>
          <p:cNvSpPr txBox="1"/>
          <p:nvPr/>
        </p:nvSpPr>
        <p:spPr>
          <a:xfrm>
            <a:off x="7903092" y="405467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EE3EA9F-DF61-44D3-9950-A49FCE4AC1FB}"/>
              </a:ext>
            </a:extLst>
          </p:cNvPr>
          <p:cNvSpPr txBox="1"/>
          <p:nvPr/>
        </p:nvSpPr>
        <p:spPr>
          <a:xfrm>
            <a:off x="7791993" y="4467193"/>
            <a:ext cx="531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18DEB1A-A321-4BFA-A82E-9CBF24D5373A}"/>
              </a:ext>
            </a:extLst>
          </p:cNvPr>
          <p:cNvSpPr txBox="1"/>
          <p:nvPr/>
        </p:nvSpPr>
        <p:spPr>
          <a:xfrm>
            <a:off x="3281675" y="278427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D693CC5-FDC7-46D4-8AD1-969E85065B5E}"/>
              </a:ext>
            </a:extLst>
          </p:cNvPr>
          <p:cNvSpPr txBox="1"/>
          <p:nvPr/>
        </p:nvSpPr>
        <p:spPr>
          <a:xfrm>
            <a:off x="3126838" y="407275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FEAACF3-D373-47C2-9A64-4FDADB02871F}"/>
              </a:ext>
            </a:extLst>
          </p:cNvPr>
          <p:cNvSpPr txBox="1"/>
          <p:nvPr/>
        </p:nvSpPr>
        <p:spPr>
          <a:xfrm>
            <a:off x="4670760" y="329050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10E2E9C-398B-4AE9-8A22-FA8C0BC6C4B9}"/>
              </a:ext>
            </a:extLst>
          </p:cNvPr>
          <p:cNvSpPr txBox="1"/>
          <p:nvPr/>
        </p:nvSpPr>
        <p:spPr>
          <a:xfrm>
            <a:off x="4725013" y="196206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</p:spTree>
    <p:extLst>
      <p:ext uri="{BB962C8B-B14F-4D97-AF65-F5344CB8AC3E}">
        <p14:creationId xmlns:p14="http://schemas.microsoft.com/office/powerpoint/2010/main" val="1358177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10.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</a:t>
            </a:r>
          </a:p>
        </p:txBody>
      </p:sp>
      <p:graphicFrame>
        <p:nvGraphicFramePr>
          <p:cNvPr id="142" name="Table 15">
            <a:extLst>
              <a:ext uri="{FF2B5EF4-FFF2-40B4-BE49-F238E27FC236}">
                <a16:creationId xmlns:a16="http://schemas.microsoft.com/office/drawing/2014/main" id="{26D0D928-8A4E-4554-BA48-9736EEBA5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463983"/>
              </p:ext>
            </p:extLst>
          </p:nvPr>
        </p:nvGraphicFramePr>
        <p:xfrm>
          <a:off x="3900223" y="4650844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FFFFFF"/>
                          </a:solidFill>
                          <a:latin typeface="Pretendard ExtraBold"/>
                        </a:rPr>
                        <a:t>신탁사</a:t>
                      </a:r>
                      <a:endParaRPr sz="1300" dirty="0">
                        <a:solidFill>
                          <a:srgbClr val="FFFFFF"/>
                        </a:solidFill>
                        <a:latin typeface="Pretendard Extra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00000"/>
                          </a:solidFill>
                          <a:latin typeface="Pretendard ExtraBold"/>
                        </a:rPr>
                        <a:t>㈜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  <a:latin typeface="Pretendard ExtraBold"/>
                        </a:rPr>
                        <a:t>무궁화신탁</a:t>
                      </a:r>
                      <a:endParaRPr sz="1200" dirty="0">
                        <a:solidFill>
                          <a:srgbClr val="000000"/>
                        </a:solidFill>
                        <a:latin typeface="Pretendard Extra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3" name="Table 16">
            <a:extLst>
              <a:ext uri="{FF2B5EF4-FFF2-40B4-BE49-F238E27FC236}">
                <a16:creationId xmlns:a16="http://schemas.microsoft.com/office/drawing/2014/main" id="{68D1AA78-0BD6-46A2-801F-68FFF3161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069671"/>
              </p:ext>
            </p:extLst>
          </p:nvPr>
        </p:nvGraphicFramePr>
        <p:xfrm>
          <a:off x="699823" y="2493000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FFFFFF"/>
                          </a:solidFill>
                          <a:latin typeface="Pretendard ExtraBold"/>
                        </a:rPr>
                        <a:t>시공사</a:t>
                      </a: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00000"/>
                          </a:solidFill>
                          <a:latin typeface="Pretendard ExtraBold"/>
                        </a:rPr>
                        <a:t>㈜</a:t>
                      </a:r>
                      <a:r>
                        <a:rPr sz="1200" dirty="0" err="1">
                          <a:solidFill>
                            <a:srgbClr val="000000"/>
                          </a:solidFill>
                          <a:latin typeface="Pretendard ExtraBold"/>
                        </a:rPr>
                        <a:t>한양건설</a:t>
                      </a:r>
                      <a:endParaRPr sz="1200" dirty="0">
                        <a:solidFill>
                          <a:srgbClr val="000000"/>
                        </a:solidFill>
                        <a:latin typeface="Pretendard Extra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4" name="Table 17">
            <a:extLst>
              <a:ext uri="{FF2B5EF4-FFF2-40B4-BE49-F238E27FC236}">
                <a16:creationId xmlns:a16="http://schemas.microsoft.com/office/drawing/2014/main" id="{6572A3C5-0089-4AAF-9957-4C2AED7D1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19756"/>
              </p:ext>
            </p:extLst>
          </p:nvPr>
        </p:nvGraphicFramePr>
        <p:xfrm>
          <a:off x="3900223" y="2493000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300" dirty="0" err="1">
                          <a:solidFill>
                            <a:srgbClr val="FFFFFF"/>
                          </a:solidFill>
                          <a:latin typeface="Pretendard ExtraBold"/>
                        </a:rPr>
                        <a:t>차주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Pretendard ExtraBold"/>
                        </a:rPr>
                        <a:t>/</a:t>
                      </a:r>
                      <a:r>
                        <a:rPr sz="1300" dirty="0" err="1">
                          <a:solidFill>
                            <a:srgbClr val="FFFFFF"/>
                          </a:solidFill>
                          <a:latin typeface="Pretendard ExtraBold"/>
                        </a:rPr>
                        <a:t>시행사</a:t>
                      </a:r>
                      <a:endParaRPr sz="1300" dirty="0">
                        <a:solidFill>
                          <a:srgbClr val="FFFFFF"/>
                        </a:solidFill>
                        <a:latin typeface="Pretendard Extra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000000"/>
                          </a:solidFill>
                          <a:latin typeface="Pretendard ExtraBold"/>
                        </a:rPr>
                        <a:t>대월지역주택조합</a:t>
                      </a:r>
                      <a:endParaRPr sz="1200" dirty="0">
                        <a:solidFill>
                          <a:srgbClr val="000000"/>
                        </a:solidFill>
                        <a:latin typeface="Pretendard ExtraBold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5" name="Connector 19">
            <a:extLst>
              <a:ext uri="{FF2B5EF4-FFF2-40B4-BE49-F238E27FC236}">
                <a16:creationId xmlns:a16="http://schemas.microsoft.com/office/drawing/2014/main" id="{C5673FC0-DEBD-46E5-B363-4C0A96EB8449}"/>
              </a:ext>
            </a:extLst>
          </p:cNvPr>
          <p:cNvCxnSpPr/>
          <p:nvPr/>
        </p:nvCxnSpPr>
        <p:spPr>
          <a:xfrm>
            <a:off x="4837482" y="3614674"/>
            <a:ext cx="0" cy="98424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E0FC6E0-9663-44EA-BC92-1FB60AC82966}"/>
              </a:ext>
            </a:extLst>
          </p:cNvPr>
          <p:cNvSpPr txBox="1"/>
          <p:nvPr/>
        </p:nvSpPr>
        <p:spPr>
          <a:xfrm>
            <a:off x="4922149" y="3839771"/>
            <a:ext cx="2131137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토지 </a:t>
            </a:r>
            <a:r>
              <a:rPr sz="1050" dirty="0" err="1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신탁</a:t>
            </a:r>
            <a:r>
              <a:rPr 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 / </a:t>
            </a: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대리사무</a:t>
            </a:r>
            <a:r>
              <a:rPr sz="1050" dirty="0" err="1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계약</a:t>
            </a:r>
            <a:endParaRPr lang="en-US" sz="1050" dirty="0">
              <a:solidFill>
                <a:srgbClr val="0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>
              <a:defRPr sz="1050">
                <a:latin typeface="Pretendard ExtraBold"/>
              </a:defRPr>
            </a:pPr>
            <a:r>
              <a:rPr lang="en-US" sz="1050" dirty="0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(</a:t>
            </a:r>
            <a:r>
              <a:rPr lang="ko-KR" altLang="en-US" sz="1050" dirty="0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본 건 </a:t>
            </a:r>
            <a:r>
              <a:rPr lang="ko-KR" altLang="en-US" sz="1050" dirty="0" err="1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상환시</a:t>
            </a:r>
            <a:r>
              <a:rPr lang="ko-KR" altLang="en-US" sz="1050" dirty="0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 까지</a:t>
            </a:r>
            <a:r>
              <a:rPr lang="en-US" altLang="ko-KR" sz="1050" dirty="0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)</a:t>
            </a:r>
          </a:p>
          <a:p>
            <a:pPr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자금 집행에 대한 동의 지위 </a:t>
            </a:r>
            <a:r>
              <a:rPr lang="ko-KR" altLang="en-US" sz="1050" dirty="0" err="1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대주</a:t>
            </a:r>
            <a:r>
              <a:rPr lang="ko-KR" altLang="en-US" sz="1050" dirty="0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 제공</a:t>
            </a:r>
            <a:endParaRPr sz="1050" dirty="0">
              <a:solidFill>
                <a:srgbClr val="C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147" name="Connector 21">
            <a:extLst>
              <a:ext uri="{FF2B5EF4-FFF2-40B4-BE49-F238E27FC236}">
                <a16:creationId xmlns:a16="http://schemas.microsoft.com/office/drawing/2014/main" id="{5930E988-F527-4970-BB74-A1750856C785}"/>
              </a:ext>
            </a:extLst>
          </p:cNvPr>
          <p:cNvCxnSpPr/>
          <p:nvPr/>
        </p:nvCxnSpPr>
        <p:spPr>
          <a:xfrm>
            <a:off x="2574342" y="2961000"/>
            <a:ext cx="1325881" cy="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A314409-E6DB-4D8E-BB1A-A87CB827B262}"/>
              </a:ext>
            </a:extLst>
          </p:cNvPr>
          <p:cNvSpPr txBox="1"/>
          <p:nvPr/>
        </p:nvSpPr>
        <p:spPr>
          <a:xfrm>
            <a:off x="2551482" y="2645533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Pretendard ExtraBold"/>
              </a:defRPr>
            </a:pPr>
            <a:r>
              <a:rPr sz="1050" dirty="0" err="1">
                <a:solidFill>
                  <a:srgbClr val="000000"/>
                </a:solidFill>
                <a:latin typeface="Pretendard ExtraBold"/>
              </a:rPr>
              <a:t>공사도급계약</a:t>
            </a:r>
            <a:endParaRPr sz="1050" dirty="0">
              <a:solidFill>
                <a:srgbClr val="000000"/>
              </a:solidFill>
              <a:latin typeface="Pretendard ExtraBold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F8204E8-417C-4CF2-8CDD-A4990217B54C}"/>
              </a:ext>
            </a:extLst>
          </p:cNvPr>
          <p:cNvSpPr txBox="1"/>
          <p:nvPr/>
        </p:nvSpPr>
        <p:spPr>
          <a:xfrm>
            <a:off x="5843322" y="2645533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Pretendard ExtraBold"/>
              </a:defRPr>
            </a:pPr>
            <a:r>
              <a:rPr sz="1050" dirty="0" err="1">
                <a:solidFill>
                  <a:srgbClr val="000000"/>
                </a:solidFill>
                <a:latin typeface="Pretendard ExtraBold"/>
              </a:rPr>
              <a:t>대출약정</a:t>
            </a:r>
            <a:endParaRPr sz="1050" dirty="0">
              <a:solidFill>
                <a:srgbClr val="000000"/>
              </a:solidFill>
              <a:latin typeface="Pretendard ExtraBold"/>
            </a:endParaRPr>
          </a:p>
        </p:txBody>
      </p:sp>
      <p:cxnSp>
        <p:nvCxnSpPr>
          <p:cNvPr id="150" name="Connector 21">
            <a:extLst>
              <a:ext uri="{FF2B5EF4-FFF2-40B4-BE49-F238E27FC236}">
                <a16:creationId xmlns:a16="http://schemas.microsoft.com/office/drawing/2014/main" id="{C68506BD-90FE-4E61-961C-347F85C519AC}"/>
              </a:ext>
            </a:extLst>
          </p:cNvPr>
          <p:cNvCxnSpPr/>
          <p:nvPr/>
        </p:nvCxnSpPr>
        <p:spPr>
          <a:xfrm>
            <a:off x="5866181" y="2961000"/>
            <a:ext cx="1325881" cy="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1" name="Table 17">
            <a:extLst>
              <a:ext uri="{FF2B5EF4-FFF2-40B4-BE49-F238E27FC236}">
                <a16:creationId xmlns:a16="http://schemas.microsoft.com/office/drawing/2014/main" id="{8C6064AF-5BF5-42FF-B839-19EA6C267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6741"/>
              </p:ext>
            </p:extLst>
          </p:nvPr>
        </p:nvGraphicFramePr>
        <p:xfrm>
          <a:off x="7214922" y="2493000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본 건 </a:t>
                      </a:r>
                      <a:r>
                        <a:rPr lang="ko-KR" altLang="en-US" sz="1300" dirty="0" err="1">
                          <a:solidFill>
                            <a:srgbClr val="FFFFFF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대주</a:t>
                      </a:r>
                      <a:endParaRPr sz="1300" dirty="0">
                        <a:solidFill>
                          <a:srgbClr val="FFFFFF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금융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  <a:endParaRPr sz="1200" dirty="0">
                        <a:solidFill>
                          <a:srgbClr val="000000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A5C510CE-0B7E-4915-BD0E-4CE1ACA64DA4}"/>
              </a:ext>
            </a:extLst>
          </p:cNvPr>
          <p:cNvSpPr/>
          <p:nvPr/>
        </p:nvSpPr>
        <p:spPr>
          <a:xfrm>
            <a:off x="7293663" y="2856090"/>
            <a:ext cx="1722120" cy="2702560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3" name="Table 17">
            <a:extLst>
              <a:ext uri="{FF2B5EF4-FFF2-40B4-BE49-F238E27FC236}">
                <a16:creationId xmlns:a16="http://schemas.microsoft.com/office/drawing/2014/main" id="{65D67172-9F99-4CE3-B3B1-32B201D0B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484136"/>
              </p:ext>
            </p:extLst>
          </p:nvPr>
        </p:nvGraphicFramePr>
        <p:xfrm>
          <a:off x="7344466" y="4751684"/>
          <a:ext cx="1590037" cy="72184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9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87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>
                          <a:solidFill>
                            <a:srgbClr val="FFFFFF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투자자</a:t>
                      </a:r>
                      <a:endParaRPr sz="1300" dirty="0">
                        <a:solidFill>
                          <a:srgbClr val="FFFFFF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7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T.B.D</a:t>
                      </a:r>
                      <a:endParaRPr sz="1200" dirty="0">
                        <a:solidFill>
                          <a:srgbClr val="000000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4" name="Connector 19">
            <a:extLst>
              <a:ext uri="{FF2B5EF4-FFF2-40B4-BE49-F238E27FC236}">
                <a16:creationId xmlns:a16="http://schemas.microsoft.com/office/drawing/2014/main" id="{C15C21C5-6558-428D-8979-652135E3229F}"/>
              </a:ext>
            </a:extLst>
          </p:cNvPr>
          <p:cNvCxnSpPr>
            <a:cxnSpLocks/>
          </p:cNvCxnSpPr>
          <p:nvPr/>
        </p:nvCxnSpPr>
        <p:spPr>
          <a:xfrm>
            <a:off x="8145831" y="3497440"/>
            <a:ext cx="0" cy="1239379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AE2160FB-CF9A-43C9-9193-F6D701882573}"/>
              </a:ext>
            </a:extLst>
          </p:cNvPr>
          <p:cNvSpPr txBox="1"/>
          <p:nvPr/>
        </p:nvSpPr>
        <p:spPr>
          <a:xfrm>
            <a:off x="7833496" y="3970711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</a:t>
            </a:r>
            <a:endParaRPr lang="en-US" altLang="ko-KR" sz="1050" dirty="0">
              <a:solidFill>
                <a:srgbClr val="0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발행</a:t>
            </a:r>
            <a:r>
              <a:rPr lang="en-US" altLang="ko-KR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/</a:t>
            </a: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인수</a:t>
            </a:r>
            <a:endParaRPr sz="1050" dirty="0">
              <a:solidFill>
                <a:srgbClr val="0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156" name="Table 17">
            <a:extLst>
              <a:ext uri="{FF2B5EF4-FFF2-40B4-BE49-F238E27FC236}">
                <a16:creationId xmlns:a16="http://schemas.microsoft.com/office/drawing/2014/main" id="{4D738A4C-986B-450D-925C-4D089B60D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047187"/>
              </p:ext>
            </p:extLst>
          </p:nvPr>
        </p:nvGraphicFramePr>
        <p:xfrm>
          <a:off x="7349546" y="2920050"/>
          <a:ext cx="1590037" cy="44099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9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099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금융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  <a:endParaRPr sz="1200" dirty="0">
                        <a:solidFill>
                          <a:srgbClr val="000000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7" name="연결선: 꺾임 156">
            <a:extLst>
              <a:ext uri="{FF2B5EF4-FFF2-40B4-BE49-F238E27FC236}">
                <a16:creationId xmlns:a16="http://schemas.microsoft.com/office/drawing/2014/main" id="{0793568B-58CC-4A6A-BD7F-6AC0E9BB7DD7}"/>
              </a:ext>
            </a:extLst>
          </p:cNvPr>
          <p:cNvCxnSpPr>
            <a:cxnSpLocks/>
            <a:stCxn id="143" idx="0"/>
            <a:endCxn id="151" idx="0"/>
          </p:cNvCxnSpPr>
          <p:nvPr/>
        </p:nvCxnSpPr>
        <p:spPr>
          <a:xfrm rot="5400000" flipH="1" flipV="1">
            <a:off x="4894631" y="-764549"/>
            <a:ext cx="12700" cy="6515099"/>
          </a:xfrm>
          <a:prstGeom prst="bentConnector3">
            <a:avLst>
              <a:gd name="adj1" fmla="val 5320000"/>
            </a:avLst>
          </a:prstGeom>
          <a:ln w="15875">
            <a:solidFill>
              <a:srgbClr val="595959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926D534-2276-44DF-A6F2-470D725B36F1}"/>
              </a:ext>
            </a:extLst>
          </p:cNvPr>
          <p:cNvSpPr txBox="1"/>
          <p:nvPr/>
        </p:nvSpPr>
        <p:spPr>
          <a:xfrm>
            <a:off x="4151682" y="1583112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C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연대보증 제공</a:t>
            </a:r>
            <a:endParaRPr sz="1050" dirty="0">
              <a:solidFill>
                <a:srgbClr val="C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426A9-BED6-4BB3-A15D-346B7FDE16BC}"/>
              </a:ext>
            </a:extLst>
          </p:cNvPr>
          <p:cNvSpPr txBox="1"/>
          <p:nvPr/>
        </p:nvSpPr>
        <p:spPr>
          <a:xfrm>
            <a:off x="367311" y="24993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731389-A96E-4649-981E-BAA0975C123A}"/>
              </a:ext>
            </a:extLst>
          </p:cNvPr>
          <p:cNvSpPr txBox="1"/>
          <p:nvPr/>
        </p:nvSpPr>
        <p:spPr>
          <a:xfrm>
            <a:off x="253042" y="2888388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1941AD-5EC2-49C2-8F0C-C4FE89B3531C}"/>
              </a:ext>
            </a:extLst>
          </p:cNvPr>
          <p:cNvSpPr txBox="1"/>
          <p:nvPr/>
        </p:nvSpPr>
        <p:spPr>
          <a:xfrm flipH="1">
            <a:off x="3996260" y="2516905"/>
            <a:ext cx="2863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9A1379-88BB-42BA-98B8-70E6FF32E87B}"/>
              </a:ext>
            </a:extLst>
          </p:cNvPr>
          <p:cNvSpPr txBox="1"/>
          <p:nvPr/>
        </p:nvSpPr>
        <p:spPr>
          <a:xfrm flipH="1">
            <a:off x="3890569" y="2793904"/>
            <a:ext cx="4814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5D906F-8B11-4D19-8119-67F47AC7A833}"/>
              </a:ext>
            </a:extLst>
          </p:cNvPr>
          <p:cNvSpPr txBox="1"/>
          <p:nvPr/>
        </p:nvSpPr>
        <p:spPr>
          <a:xfrm>
            <a:off x="9157529" y="250703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63114C-8B1B-4AD0-A19B-1441908AC1AF}"/>
              </a:ext>
            </a:extLst>
          </p:cNvPr>
          <p:cNvSpPr txBox="1"/>
          <p:nvPr/>
        </p:nvSpPr>
        <p:spPr>
          <a:xfrm>
            <a:off x="9095618" y="2959854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0280A4-2B90-4F02-A901-F2F931C82EDE}"/>
              </a:ext>
            </a:extLst>
          </p:cNvPr>
          <p:cNvSpPr txBox="1"/>
          <p:nvPr/>
        </p:nvSpPr>
        <p:spPr>
          <a:xfrm>
            <a:off x="3541331" y="466191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425466-9A13-4471-970F-7863460A682C}"/>
              </a:ext>
            </a:extLst>
          </p:cNvPr>
          <p:cNvSpPr txBox="1"/>
          <p:nvPr/>
        </p:nvSpPr>
        <p:spPr>
          <a:xfrm>
            <a:off x="3399198" y="5013818"/>
            <a:ext cx="52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346B9A-C80F-42E3-A16A-99D034C91EB2}"/>
              </a:ext>
            </a:extLst>
          </p:cNvPr>
          <p:cNvSpPr txBox="1"/>
          <p:nvPr/>
        </p:nvSpPr>
        <p:spPr>
          <a:xfrm>
            <a:off x="9158932" y="4736819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5D584A-9629-4590-9D95-C3F88B6DB81F}"/>
              </a:ext>
            </a:extLst>
          </p:cNvPr>
          <p:cNvSpPr txBox="1"/>
          <p:nvPr/>
        </p:nvSpPr>
        <p:spPr>
          <a:xfrm>
            <a:off x="8985306" y="4982166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E46556-E61B-44FF-8D6A-0314D665A46E}"/>
              </a:ext>
            </a:extLst>
          </p:cNvPr>
          <p:cNvSpPr txBox="1"/>
          <p:nvPr/>
        </p:nvSpPr>
        <p:spPr>
          <a:xfrm>
            <a:off x="4163459" y="151573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2A9E3C-28D2-423C-94BB-ABF30896AEEC}"/>
              </a:ext>
            </a:extLst>
          </p:cNvPr>
          <p:cNvSpPr txBox="1"/>
          <p:nvPr/>
        </p:nvSpPr>
        <p:spPr>
          <a:xfrm flipH="1">
            <a:off x="2612371" y="2585434"/>
            <a:ext cx="3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2D432F2-9121-42E3-BFC4-7B088BAD887C}"/>
              </a:ext>
            </a:extLst>
          </p:cNvPr>
          <p:cNvSpPr txBox="1"/>
          <p:nvPr/>
        </p:nvSpPr>
        <p:spPr>
          <a:xfrm>
            <a:off x="6015119" y="255598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C78402D-8FD0-4CCE-A37A-D95945520F5D}"/>
              </a:ext>
            </a:extLst>
          </p:cNvPr>
          <p:cNvSpPr txBox="1"/>
          <p:nvPr/>
        </p:nvSpPr>
        <p:spPr>
          <a:xfrm>
            <a:off x="4904452" y="356023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617663-D86E-45CD-B353-69BF6C0DF8FE}"/>
              </a:ext>
            </a:extLst>
          </p:cNvPr>
          <p:cNvSpPr txBox="1"/>
          <p:nvPr/>
        </p:nvSpPr>
        <p:spPr>
          <a:xfrm>
            <a:off x="7773572" y="4016809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</p:spTree>
    <p:extLst>
      <p:ext uri="{BB962C8B-B14F-4D97-AF65-F5344CB8AC3E}">
        <p14:creationId xmlns:p14="http://schemas.microsoft.com/office/powerpoint/2010/main" val="129075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11.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담보대출</a:t>
            </a:r>
          </a:p>
        </p:txBody>
      </p:sp>
      <p:graphicFrame>
        <p:nvGraphicFramePr>
          <p:cNvPr id="37" name="표 4">
            <a:extLst>
              <a:ext uri="{FF2B5EF4-FFF2-40B4-BE49-F238E27FC236}">
                <a16:creationId xmlns:a16="http://schemas.microsoft.com/office/drawing/2014/main" id="{D093C3E0-07F2-4ED6-BCE9-BFF866BDA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00215"/>
              </p:ext>
            </p:extLst>
          </p:nvPr>
        </p:nvGraphicFramePr>
        <p:xfrm>
          <a:off x="3983969" y="3182899"/>
          <a:ext cx="2336121" cy="4581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3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1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돈암동 역세권 지역주택조합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표 4">
            <a:extLst>
              <a:ext uri="{FF2B5EF4-FFF2-40B4-BE49-F238E27FC236}">
                <a16:creationId xmlns:a16="http://schemas.microsoft.com/office/drawing/2014/main" id="{162EB8DD-FFEA-4618-9EA6-311318A5A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528965"/>
              </p:ext>
            </p:extLst>
          </p:nvPr>
        </p:nvGraphicFramePr>
        <p:xfrm>
          <a:off x="7329678" y="2538531"/>
          <a:ext cx="1522966" cy="13947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22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78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5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담보대출 </a:t>
                      </a:r>
                      <a:r>
                        <a:rPr lang="en-US" altLang="ko-KR" sz="105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[30</a:t>
                      </a:r>
                      <a:r>
                        <a:rPr lang="ko-KR" altLang="en-US" sz="105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5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  <a:endParaRPr lang="ko-KR" altLang="en-US" sz="105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71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금융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[30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표 4">
            <a:extLst>
              <a:ext uri="{FF2B5EF4-FFF2-40B4-BE49-F238E27FC236}">
                <a16:creationId xmlns:a16="http://schemas.microsoft.com/office/drawing/2014/main" id="{28BEC346-D86A-4972-998F-F212DB7EF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420861"/>
              </p:ext>
            </p:extLst>
          </p:nvPr>
        </p:nvGraphicFramePr>
        <p:xfrm>
          <a:off x="7549065" y="4634526"/>
          <a:ext cx="1091980" cy="5872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35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투자자</a:t>
                      </a:r>
                    </a:p>
                  </a:txBody>
                  <a:tcPr marL="156067" marR="156067" marT="70939" marB="70939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8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[30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C321759-78C3-4D8C-BD1C-8DE9B67D7D09}"/>
              </a:ext>
            </a:extLst>
          </p:cNvPr>
          <p:cNvCxnSpPr>
            <a:cxnSpLocks/>
          </p:cNvCxnSpPr>
          <p:nvPr/>
        </p:nvCxnSpPr>
        <p:spPr>
          <a:xfrm flipH="1" flipV="1">
            <a:off x="8102318" y="3973189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D54758C-7F68-486D-878B-A6163C4FA8E9}"/>
              </a:ext>
            </a:extLst>
          </p:cNvPr>
          <p:cNvSpPr txBox="1"/>
          <p:nvPr/>
        </p:nvSpPr>
        <p:spPr>
          <a:xfrm>
            <a:off x="6184078" y="3162134"/>
            <a:ext cx="1371600" cy="1874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Pretendard ExtraBold"/>
              </a:defRPr>
            </a:pPr>
            <a:r>
              <a:rPr sz="1050" dirty="0" err="1">
                <a:solidFill>
                  <a:srgbClr val="000000"/>
                </a:solidFill>
                <a:latin typeface="Pretendard ExtraBold"/>
              </a:rPr>
              <a:t>대출약정</a:t>
            </a:r>
            <a:endParaRPr sz="1050" dirty="0">
              <a:solidFill>
                <a:srgbClr val="000000"/>
              </a:solidFill>
              <a:latin typeface="Pretendard Extra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49AECD-0D53-43F5-AA7D-1710ED0B3B2F}"/>
              </a:ext>
            </a:extLst>
          </p:cNvPr>
          <p:cNvSpPr txBox="1"/>
          <p:nvPr/>
        </p:nvSpPr>
        <p:spPr>
          <a:xfrm>
            <a:off x="7744772" y="4171739"/>
            <a:ext cx="1371600" cy="4581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</a:t>
            </a:r>
            <a:endParaRPr lang="en-US" altLang="ko-KR" sz="1050" dirty="0">
              <a:solidFill>
                <a:srgbClr val="0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발행</a:t>
            </a:r>
            <a:r>
              <a:rPr lang="en-US" altLang="ko-KR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/</a:t>
            </a: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인수</a:t>
            </a:r>
            <a:endParaRPr sz="1050" dirty="0">
              <a:solidFill>
                <a:srgbClr val="0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cxnSp>
        <p:nvCxnSpPr>
          <p:cNvPr id="43" name="Connector 21">
            <a:extLst>
              <a:ext uri="{FF2B5EF4-FFF2-40B4-BE49-F238E27FC236}">
                <a16:creationId xmlns:a16="http://schemas.microsoft.com/office/drawing/2014/main" id="{0CCF65AC-329C-4276-A3BD-A7C30B225D0A}"/>
              </a:ext>
            </a:extLst>
          </p:cNvPr>
          <p:cNvCxnSpPr>
            <a:cxnSpLocks/>
          </p:cNvCxnSpPr>
          <p:nvPr/>
        </p:nvCxnSpPr>
        <p:spPr>
          <a:xfrm>
            <a:off x="6396988" y="3429000"/>
            <a:ext cx="932690" cy="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16">
            <a:extLst>
              <a:ext uri="{FF2B5EF4-FFF2-40B4-BE49-F238E27FC236}">
                <a16:creationId xmlns:a16="http://schemas.microsoft.com/office/drawing/2014/main" id="{97266CE6-25F7-4DB1-8CCA-872DC4EAE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190677"/>
              </p:ext>
            </p:extLst>
          </p:nvPr>
        </p:nvGraphicFramePr>
        <p:xfrm>
          <a:off x="968504" y="2961000"/>
          <a:ext cx="1874519" cy="9360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err="1">
                          <a:solidFill>
                            <a:srgbClr val="FFFFFF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sz="1200" dirty="0">
                        <a:solidFill>
                          <a:srgbClr val="FFFFFF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TBD</a:t>
                      </a:r>
                      <a:endParaRPr sz="1200" dirty="0">
                        <a:solidFill>
                          <a:srgbClr val="000000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9144" marB="9144" anchor="ctr">
                    <a:lnL w="28575" cap="flat" cmpd="sng" algn="ctr">
                      <a:solidFill>
                        <a:srgbClr val="FFFFFF"/>
                      </a:solidFill>
                      <a:prstDash val="soli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5" name="Connector 21">
            <a:extLst>
              <a:ext uri="{FF2B5EF4-FFF2-40B4-BE49-F238E27FC236}">
                <a16:creationId xmlns:a16="http://schemas.microsoft.com/office/drawing/2014/main" id="{021C02C1-0372-4F9A-BB70-A03271EA4CBC}"/>
              </a:ext>
            </a:extLst>
          </p:cNvPr>
          <p:cNvCxnSpPr>
            <a:cxnSpLocks/>
          </p:cNvCxnSpPr>
          <p:nvPr/>
        </p:nvCxnSpPr>
        <p:spPr>
          <a:xfrm>
            <a:off x="2937508" y="3436279"/>
            <a:ext cx="932690" cy="0"/>
          </a:xfrm>
          <a:prstGeom prst="line">
            <a:avLst/>
          </a:prstGeom>
          <a:ln w="15875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D5955AD-C8E4-472C-9433-22164F69CB3D}"/>
              </a:ext>
            </a:extLst>
          </p:cNvPr>
          <p:cNvSpPr txBox="1"/>
          <p:nvPr/>
        </p:nvSpPr>
        <p:spPr>
          <a:xfrm>
            <a:off x="2718053" y="3033210"/>
            <a:ext cx="1371600" cy="445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부동산</a:t>
            </a:r>
            <a:endParaRPr lang="en-US" altLang="ko-KR" sz="1050" dirty="0">
              <a:solidFill>
                <a:srgbClr val="0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  <a:p>
            <a:pPr algn="ctr">
              <a:defRPr sz="1050">
                <a:latin typeface="Pretendard ExtraBold"/>
              </a:defRPr>
            </a:pPr>
            <a:r>
              <a:rPr lang="ko-KR" altLang="en-US" sz="1050" dirty="0">
                <a:solidFill>
                  <a:srgbClr val="000000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담보신탁</a:t>
            </a:r>
            <a:endParaRPr sz="1050" dirty="0">
              <a:solidFill>
                <a:srgbClr val="000000"/>
              </a:solidFill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6FAEDE-D79E-4D5E-80D9-B7BB2B43C63C}"/>
              </a:ext>
            </a:extLst>
          </p:cNvPr>
          <p:cNvSpPr txBox="1"/>
          <p:nvPr/>
        </p:nvSpPr>
        <p:spPr>
          <a:xfrm>
            <a:off x="694250" y="294583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C6DFBA-8F02-48EB-986D-14A9DE9E57D8}"/>
              </a:ext>
            </a:extLst>
          </p:cNvPr>
          <p:cNvSpPr txBox="1"/>
          <p:nvPr/>
        </p:nvSpPr>
        <p:spPr>
          <a:xfrm>
            <a:off x="540863" y="3419599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D1F764-24CA-4CBF-A82A-FC53E27DE7D2}"/>
              </a:ext>
            </a:extLst>
          </p:cNvPr>
          <p:cNvSpPr txBox="1"/>
          <p:nvPr/>
        </p:nvSpPr>
        <p:spPr>
          <a:xfrm flipH="1">
            <a:off x="4639622" y="2945835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801171-2B48-4187-B484-49FD3D8D14D7}"/>
              </a:ext>
            </a:extLst>
          </p:cNvPr>
          <p:cNvSpPr txBox="1"/>
          <p:nvPr/>
        </p:nvSpPr>
        <p:spPr>
          <a:xfrm>
            <a:off x="8922044" y="2631823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7783B2-6F38-4540-9D35-653C27EA6A5F}"/>
              </a:ext>
            </a:extLst>
          </p:cNvPr>
          <p:cNvSpPr txBox="1"/>
          <p:nvPr/>
        </p:nvSpPr>
        <p:spPr>
          <a:xfrm>
            <a:off x="8795320" y="3172672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D6BF39-AC2D-4EC8-8A81-F3135B159DA8}"/>
              </a:ext>
            </a:extLst>
          </p:cNvPr>
          <p:cNvSpPr txBox="1"/>
          <p:nvPr/>
        </p:nvSpPr>
        <p:spPr>
          <a:xfrm>
            <a:off x="7207226" y="462985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181B5E-1818-4754-B77E-A2F5B2A87469}"/>
              </a:ext>
            </a:extLst>
          </p:cNvPr>
          <p:cNvSpPr txBox="1"/>
          <p:nvPr/>
        </p:nvSpPr>
        <p:spPr>
          <a:xfrm>
            <a:off x="6990952" y="4948035"/>
            <a:ext cx="52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A46C5C-865D-469A-961D-C8AA69B17622}"/>
              </a:ext>
            </a:extLst>
          </p:cNvPr>
          <p:cNvSpPr txBox="1"/>
          <p:nvPr/>
        </p:nvSpPr>
        <p:spPr>
          <a:xfrm>
            <a:off x="3227250" y="277978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89F1C0-AD1F-4791-A798-9075317097D8}"/>
              </a:ext>
            </a:extLst>
          </p:cNvPr>
          <p:cNvSpPr txBox="1"/>
          <p:nvPr/>
        </p:nvSpPr>
        <p:spPr>
          <a:xfrm flipH="1">
            <a:off x="6682303" y="2918280"/>
            <a:ext cx="399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CA46BE-7955-457F-A58D-E5BBED4685F9}"/>
              </a:ext>
            </a:extLst>
          </p:cNvPr>
          <p:cNvSpPr txBox="1"/>
          <p:nvPr/>
        </p:nvSpPr>
        <p:spPr>
          <a:xfrm>
            <a:off x="8678746" y="4197176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</p:spTree>
    <p:extLst>
      <p:ext uri="{BB962C8B-B14F-4D97-AF65-F5344CB8AC3E}">
        <p14:creationId xmlns:p14="http://schemas.microsoft.com/office/powerpoint/2010/main" val="4281329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195E0F-D49C-4C2F-8051-B3237C00DAE3}"/>
              </a:ext>
            </a:extLst>
          </p:cNvPr>
          <p:cNvSpPr txBox="1"/>
          <p:nvPr/>
        </p:nvSpPr>
        <p:spPr>
          <a:xfrm>
            <a:off x="224600" y="40041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12. 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담보대출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F71F7F5-4544-4150-B0DD-A5731DD2C9EA}"/>
              </a:ext>
            </a:extLst>
          </p:cNvPr>
          <p:cNvSpPr/>
          <p:nvPr/>
        </p:nvSpPr>
        <p:spPr>
          <a:xfrm>
            <a:off x="4550174" y="1535649"/>
            <a:ext cx="2409326" cy="45540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DC79B9-A5E7-4679-AC9B-F094AC0492C4}"/>
              </a:ext>
            </a:extLst>
          </p:cNvPr>
          <p:cNvSpPr txBox="1"/>
          <p:nvPr/>
        </p:nvSpPr>
        <p:spPr>
          <a:xfrm>
            <a:off x="4654321" y="1600321"/>
            <a:ext cx="22564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Pretendard ExtraBold"/>
                <a:ea typeface="Pretendard ExtraBold"/>
              </a:rPr>
              <a:t>8,500억원</a:t>
            </a:r>
          </a:p>
        </p:txBody>
      </p:sp>
      <p:graphicFrame>
        <p:nvGraphicFramePr>
          <p:cNvPr id="27" name="표 4">
            <a:extLst>
              <a:ext uri="{FF2B5EF4-FFF2-40B4-BE49-F238E27FC236}">
                <a16:creationId xmlns:a16="http://schemas.microsoft.com/office/drawing/2014/main" id="{4B688789-2DF2-4300-A475-30DD04655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630228"/>
              </p:ext>
            </p:extLst>
          </p:nvPr>
        </p:nvGraphicFramePr>
        <p:xfrm>
          <a:off x="868434" y="2615900"/>
          <a:ext cx="1915993" cy="67928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13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 및 시행사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4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헌인타운개발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표 4">
            <a:extLst>
              <a:ext uri="{FF2B5EF4-FFF2-40B4-BE49-F238E27FC236}">
                <a16:creationId xmlns:a16="http://schemas.microsoft.com/office/drawing/2014/main" id="{6BCBD668-9E5A-4965-BBD2-D85388EDD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042450"/>
              </p:ext>
            </p:extLst>
          </p:nvPr>
        </p:nvGraphicFramePr>
        <p:xfrm>
          <a:off x="4689649" y="3974510"/>
          <a:ext cx="2130374" cy="94491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09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 B 3,900억원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8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표 4">
            <a:extLst>
              <a:ext uri="{FF2B5EF4-FFF2-40B4-BE49-F238E27FC236}">
                <a16:creationId xmlns:a16="http://schemas.microsoft.com/office/drawing/2014/main" id="{BE6D325E-9B7F-4112-9B60-0DBE19333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067562"/>
              </p:ext>
            </p:extLst>
          </p:nvPr>
        </p:nvGraphicFramePr>
        <p:xfrm>
          <a:off x="865213" y="3727936"/>
          <a:ext cx="1915993" cy="148704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320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810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표 4">
            <a:extLst>
              <a:ext uri="{FF2B5EF4-FFF2-40B4-BE49-F238E27FC236}">
                <a16:creationId xmlns:a16="http://schemas.microsoft.com/office/drawing/2014/main" id="{EE3C4FB0-ABA6-4AD5-A405-4059513EF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023813"/>
              </p:ext>
            </p:extLst>
          </p:nvPr>
        </p:nvGraphicFramePr>
        <p:xfrm>
          <a:off x="868434" y="1519403"/>
          <a:ext cx="1915993" cy="66375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1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시공사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8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롯데건설(주)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표 4">
            <a:extLst>
              <a:ext uri="{FF2B5EF4-FFF2-40B4-BE49-F238E27FC236}">
                <a16:creationId xmlns:a16="http://schemas.microsoft.com/office/drawing/2014/main" id="{3BD68498-4803-4E43-8771-E2CD644CE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061441"/>
              </p:ext>
            </p:extLst>
          </p:nvPr>
        </p:nvGraphicFramePr>
        <p:xfrm>
          <a:off x="4732177" y="1844409"/>
          <a:ext cx="2076868" cy="195008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07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93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 A 3,600억원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215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7EC5812-6E16-459E-B01C-7F78D1267ED8}"/>
              </a:ext>
            </a:extLst>
          </p:cNvPr>
          <p:cNvCxnSpPr>
            <a:cxnSpLocks/>
            <a:stCxn id="27" idx="0"/>
            <a:endCxn id="31" idx="2"/>
          </p:cNvCxnSpPr>
          <p:nvPr/>
        </p:nvCxnSpPr>
        <p:spPr>
          <a:xfrm flipV="1">
            <a:off x="1826430" y="2183153"/>
            <a:ext cx="0" cy="43274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EA478BE-1A3D-4E95-BDC4-9AB6558549C2}"/>
              </a:ext>
            </a:extLst>
          </p:cNvPr>
          <p:cNvCxnSpPr>
            <a:cxnSpLocks/>
          </p:cNvCxnSpPr>
          <p:nvPr/>
        </p:nvCxnSpPr>
        <p:spPr>
          <a:xfrm flipH="1">
            <a:off x="2900891" y="3052895"/>
            <a:ext cx="158644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50" name="텍스트 개체 틀 2">
            <a:extLst>
              <a:ext uri="{FF2B5EF4-FFF2-40B4-BE49-F238E27FC236}">
                <a16:creationId xmlns:a16="http://schemas.microsoft.com/office/drawing/2014/main" id="{FA23A891-80E5-4EAE-9AC1-6F7EC7A9FF98}"/>
              </a:ext>
            </a:extLst>
          </p:cNvPr>
          <p:cNvSpPr txBox="1">
            <a:spLocks/>
          </p:cNvSpPr>
          <p:nvPr/>
        </p:nvSpPr>
        <p:spPr>
          <a:xfrm>
            <a:off x="1775654" y="2325693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공사도급계약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57" name="텍스트 개체 틀 2">
            <a:extLst>
              <a:ext uri="{FF2B5EF4-FFF2-40B4-BE49-F238E27FC236}">
                <a16:creationId xmlns:a16="http://schemas.microsoft.com/office/drawing/2014/main" id="{E576456D-3998-470E-B4AB-41641D789195}"/>
              </a:ext>
            </a:extLst>
          </p:cNvPr>
          <p:cNvSpPr txBox="1">
            <a:spLocks/>
          </p:cNvSpPr>
          <p:nvPr/>
        </p:nvSpPr>
        <p:spPr>
          <a:xfrm>
            <a:off x="3212333" y="2852783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PF 대출약정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5BA6795C-C83E-47BC-B39F-E53164B2B35D}"/>
              </a:ext>
            </a:extLst>
          </p:cNvPr>
          <p:cNvSpPr txBox="1">
            <a:spLocks/>
          </p:cNvSpPr>
          <p:nvPr/>
        </p:nvSpPr>
        <p:spPr>
          <a:xfrm>
            <a:off x="1724126" y="3429221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부동산신탁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60" name="표 4">
            <a:extLst>
              <a:ext uri="{FF2B5EF4-FFF2-40B4-BE49-F238E27FC236}">
                <a16:creationId xmlns:a16="http://schemas.microsoft.com/office/drawing/2014/main" id="{040A2AA4-0CD0-4BEA-9B38-EBEBC9DBF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921184"/>
              </p:ext>
            </p:extLst>
          </p:nvPr>
        </p:nvGraphicFramePr>
        <p:xfrm>
          <a:off x="4837604" y="2234202"/>
          <a:ext cx="1868120" cy="3352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6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0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기타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.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A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대주</a:t>
                      </a: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" name="표 4">
            <a:extLst>
              <a:ext uri="{FF2B5EF4-FFF2-40B4-BE49-F238E27FC236}">
                <a16:creationId xmlns:a16="http://schemas.microsoft.com/office/drawing/2014/main" id="{EF9A4B08-F378-4D68-91A1-D9AFAD5C7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813029"/>
              </p:ext>
            </p:extLst>
          </p:nvPr>
        </p:nvGraphicFramePr>
        <p:xfrm>
          <a:off x="4689649" y="5022177"/>
          <a:ext cx="2130374" cy="92313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130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49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 C 1,000억원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3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표 4">
            <a:extLst>
              <a:ext uri="{FF2B5EF4-FFF2-40B4-BE49-F238E27FC236}">
                <a16:creationId xmlns:a16="http://schemas.microsoft.com/office/drawing/2014/main" id="{8BAEA511-6617-4EEB-A5EA-F4A383E1F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841128"/>
              </p:ext>
            </p:extLst>
          </p:nvPr>
        </p:nvGraphicFramePr>
        <p:xfrm>
          <a:off x="4764845" y="5423916"/>
          <a:ext cx="1960205" cy="40044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4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.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C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대주</a:t>
                      </a:r>
                    </a:p>
                  </a:txBody>
                  <a:tcPr marL="0" marR="0" marT="7200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0795D27B-1871-413C-AF47-DA248EE19C30}"/>
              </a:ext>
            </a:extLst>
          </p:cNvPr>
          <p:cNvSpPr/>
          <p:nvPr/>
        </p:nvSpPr>
        <p:spPr>
          <a:xfrm>
            <a:off x="4723893" y="2694780"/>
            <a:ext cx="4565102" cy="988496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64" name="표 4">
            <a:extLst>
              <a:ext uri="{FF2B5EF4-FFF2-40B4-BE49-F238E27FC236}">
                <a16:creationId xmlns:a16="http://schemas.microsoft.com/office/drawing/2014/main" id="{7B5E06FA-08FB-41DD-8BA7-5661032BB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550105"/>
              </p:ext>
            </p:extLst>
          </p:nvPr>
        </p:nvGraphicFramePr>
        <p:xfrm>
          <a:off x="4847959" y="2821802"/>
          <a:ext cx="1857764" cy="70598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5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신규 유동화 SPC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32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T.B.D. [*억 원]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5" name="표 4">
            <a:extLst>
              <a:ext uri="{FF2B5EF4-FFF2-40B4-BE49-F238E27FC236}">
                <a16:creationId xmlns:a16="http://schemas.microsoft.com/office/drawing/2014/main" id="{2709E1B2-C28D-4B46-9DC1-19E37FD3D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027256"/>
              </p:ext>
            </p:extLst>
          </p:nvPr>
        </p:nvGraphicFramePr>
        <p:xfrm>
          <a:off x="7878849" y="2852783"/>
          <a:ext cx="1217353" cy="6476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7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lt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사채권자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9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T.B.D. [*억 원]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3F665270-0C8C-4854-AAB1-EA6CDDADE706}"/>
              </a:ext>
            </a:extLst>
          </p:cNvPr>
          <p:cNvCxnSpPr>
            <a:cxnSpLocks/>
            <a:endCxn id="64" idx="3"/>
          </p:cNvCxnSpPr>
          <p:nvPr/>
        </p:nvCxnSpPr>
        <p:spPr>
          <a:xfrm flipH="1">
            <a:off x="6705723" y="3169107"/>
            <a:ext cx="1193245" cy="568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67" name="텍스트 개체 틀 2">
            <a:extLst>
              <a:ext uri="{FF2B5EF4-FFF2-40B4-BE49-F238E27FC236}">
                <a16:creationId xmlns:a16="http://schemas.microsoft.com/office/drawing/2014/main" id="{85386CA8-E9E5-4D4D-B4D6-6CA950D66E25}"/>
              </a:ext>
            </a:extLst>
          </p:cNvPr>
          <p:cNvSpPr txBox="1">
            <a:spLocks/>
          </p:cNvSpPr>
          <p:nvPr/>
        </p:nvSpPr>
        <p:spPr>
          <a:xfrm>
            <a:off x="6761042" y="2974929"/>
            <a:ext cx="1273746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사모사채</a:t>
            </a:r>
            <a:r>
              <a:rPr lang="en-US" altLang="ko-KR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 </a:t>
            </a: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발행/인수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68" name="표 4">
            <a:extLst>
              <a:ext uri="{FF2B5EF4-FFF2-40B4-BE49-F238E27FC236}">
                <a16:creationId xmlns:a16="http://schemas.microsoft.com/office/drawing/2014/main" id="{107F3B78-D265-4694-A5C4-286DE9264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70474"/>
              </p:ext>
            </p:extLst>
          </p:nvPr>
        </p:nvGraphicFramePr>
        <p:xfrm>
          <a:off x="4764845" y="4381335"/>
          <a:ext cx="1960205" cy="4243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6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438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기타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.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B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대주</a:t>
                      </a:r>
                    </a:p>
                  </a:txBody>
                  <a:tcPr marL="0" marR="0" marT="7200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5DD51625-F2B2-4654-9852-2D1E56E191E8}"/>
              </a:ext>
            </a:extLst>
          </p:cNvPr>
          <p:cNvCxnSpPr>
            <a:cxnSpLocks/>
            <a:stCxn id="31" idx="0"/>
            <a:endCxn id="25" idx="0"/>
          </p:cNvCxnSpPr>
          <p:nvPr/>
        </p:nvCxnSpPr>
        <p:spPr>
          <a:xfrm rot="16200000" flipH="1">
            <a:off x="3782510" y="-436677"/>
            <a:ext cx="16246" cy="3928407"/>
          </a:xfrm>
          <a:prstGeom prst="bentConnector3">
            <a:avLst>
              <a:gd name="adj1" fmla="val -1407116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70" name="텍스트 개체 틀 2">
            <a:extLst>
              <a:ext uri="{FF2B5EF4-FFF2-40B4-BE49-F238E27FC236}">
                <a16:creationId xmlns:a16="http://schemas.microsoft.com/office/drawing/2014/main" id="{1566B842-1B00-483C-8699-B14A9566BD04}"/>
              </a:ext>
            </a:extLst>
          </p:cNvPr>
          <p:cNvSpPr txBox="1">
            <a:spLocks/>
          </p:cNvSpPr>
          <p:nvPr/>
        </p:nvSpPr>
        <p:spPr>
          <a:xfrm>
            <a:off x="3012884" y="1084838"/>
            <a:ext cx="1940116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책임준공확약</a:t>
            </a:r>
            <a:r>
              <a:rPr lang="en-US" altLang="ko-KR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 / </a:t>
            </a: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책임분양확약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71" name="표 4">
            <a:extLst>
              <a:ext uri="{FF2B5EF4-FFF2-40B4-BE49-F238E27FC236}">
                <a16:creationId xmlns:a16="http://schemas.microsoft.com/office/drawing/2014/main" id="{3F304EB7-DF0C-41D2-A81E-5895A6DA1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187803"/>
              </p:ext>
            </p:extLst>
          </p:nvPr>
        </p:nvGraphicFramePr>
        <p:xfrm>
          <a:off x="894014" y="5344036"/>
          <a:ext cx="1933676" cy="66561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33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물상보증인</a:t>
                      </a:r>
                      <a:r>
                        <a:rPr lang="en-US" altLang="ko-KR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연대보증인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67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㈜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어퍼하우스헌인</a:t>
                      </a: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5E48A0B-6016-4A91-ADDC-9D2AAA21D48B}"/>
              </a:ext>
            </a:extLst>
          </p:cNvPr>
          <p:cNvCxnSpPr>
            <a:cxnSpLocks/>
          </p:cNvCxnSpPr>
          <p:nvPr/>
        </p:nvCxnSpPr>
        <p:spPr>
          <a:xfrm flipH="1">
            <a:off x="2898478" y="5679364"/>
            <a:ext cx="1580907" cy="857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73" name="텍스트 개체 틀 2">
            <a:extLst>
              <a:ext uri="{FF2B5EF4-FFF2-40B4-BE49-F238E27FC236}">
                <a16:creationId xmlns:a16="http://schemas.microsoft.com/office/drawing/2014/main" id="{7D4CE51C-5A02-43BF-AFAF-46C86D05611B}"/>
              </a:ext>
            </a:extLst>
          </p:cNvPr>
          <p:cNvSpPr txBox="1">
            <a:spLocks/>
          </p:cNvSpPr>
          <p:nvPr/>
        </p:nvSpPr>
        <p:spPr>
          <a:xfrm>
            <a:off x="3204385" y="5454477"/>
            <a:ext cx="1060169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담보제공</a:t>
            </a:r>
            <a:r>
              <a:rPr lang="en-US" altLang="ko-KR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/</a:t>
            </a:r>
            <a:r>
              <a:rPr lang="ko-KR" altLang="en-US" sz="900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연대보증</a:t>
            </a:r>
            <a:endParaRPr lang="en-US" altLang="ko-KR" sz="900" dirty="0">
              <a:latin typeface="Pretendard ExtraBold" panose="020B0600000101010101" pitchFamily="50" charset="-127"/>
              <a:ea typeface="Pretendard ExtraBold" panose="020B0600000101010101" pitchFamily="50" charset="-127"/>
            </a:endParaRPr>
          </a:p>
        </p:txBody>
      </p:sp>
      <p:graphicFrame>
        <p:nvGraphicFramePr>
          <p:cNvPr id="37" name="표 4">
            <a:extLst>
              <a:ext uri="{FF2B5EF4-FFF2-40B4-BE49-F238E27FC236}">
                <a16:creationId xmlns:a16="http://schemas.microsoft.com/office/drawing/2014/main" id="{6DE53DF8-D003-44C3-AA01-12257B1C7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229329"/>
              </p:ext>
            </p:extLst>
          </p:nvPr>
        </p:nvGraphicFramePr>
        <p:xfrm>
          <a:off x="988148" y="4141925"/>
          <a:ext cx="1670189" cy="925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670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66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한국토지신탁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신영부동산신탁</a:t>
                      </a:r>
                    </a:p>
                    <a:p>
                      <a:pPr algn="ctr" latinLnBrk="1"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대신자산신탁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코람코자산신탁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(처분신탁)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DB77A26-6A86-4B62-BC30-6434DE581D11}"/>
              </a:ext>
            </a:extLst>
          </p:cNvPr>
          <p:cNvCxnSpPr>
            <a:cxnSpLocks/>
            <a:stCxn id="30" idx="0"/>
            <a:endCxn id="27" idx="2"/>
          </p:cNvCxnSpPr>
          <p:nvPr/>
        </p:nvCxnSpPr>
        <p:spPr>
          <a:xfrm flipV="1">
            <a:off x="1823209" y="3295189"/>
            <a:ext cx="3221" cy="43274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CA50287-C022-4851-BCC2-6F0E8F494BD1}"/>
              </a:ext>
            </a:extLst>
          </p:cNvPr>
          <p:cNvSpPr txBox="1"/>
          <p:nvPr/>
        </p:nvSpPr>
        <p:spPr>
          <a:xfrm>
            <a:off x="554748" y="158463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297F69-49A9-4EDF-8544-D8CDE71E5A2F}"/>
              </a:ext>
            </a:extLst>
          </p:cNvPr>
          <p:cNvSpPr txBox="1"/>
          <p:nvPr/>
        </p:nvSpPr>
        <p:spPr>
          <a:xfrm>
            <a:off x="450641" y="1886172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9DFBA4-D3AA-4DCB-A334-F82465013C9C}"/>
              </a:ext>
            </a:extLst>
          </p:cNvPr>
          <p:cNvSpPr txBox="1"/>
          <p:nvPr/>
        </p:nvSpPr>
        <p:spPr>
          <a:xfrm>
            <a:off x="530627" y="384382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7158EB-CAEC-4089-9C64-B64EFF18A783}"/>
              </a:ext>
            </a:extLst>
          </p:cNvPr>
          <p:cNvSpPr txBox="1"/>
          <p:nvPr/>
        </p:nvSpPr>
        <p:spPr>
          <a:xfrm>
            <a:off x="396765" y="4222931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FD6805-7CD6-4DBD-873F-041DEC87E935}"/>
              </a:ext>
            </a:extLst>
          </p:cNvPr>
          <p:cNvSpPr txBox="1"/>
          <p:nvPr/>
        </p:nvSpPr>
        <p:spPr>
          <a:xfrm flipH="1">
            <a:off x="210213" y="2641201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34419D-8476-4953-A5D5-F4322B1F6857}"/>
              </a:ext>
            </a:extLst>
          </p:cNvPr>
          <p:cNvSpPr txBox="1"/>
          <p:nvPr/>
        </p:nvSpPr>
        <p:spPr>
          <a:xfrm flipH="1">
            <a:off x="396765" y="2976105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E42C9B-8D34-47B7-A33B-D5E0F821CCD3}"/>
              </a:ext>
            </a:extLst>
          </p:cNvPr>
          <p:cNvSpPr txBox="1"/>
          <p:nvPr/>
        </p:nvSpPr>
        <p:spPr>
          <a:xfrm>
            <a:off x="538898" y="536059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F2D006-21A1-439D-8AE1-EDF645AD9C05}"/>
              </a:ext>
            </a:extLst>
          </p:cNvPr>
          <p:cNvSpPr txBox="1"/>
          <p:nvPr/>
        </p:nvSpPr>
        <p:spPr>
          <a:xfrm>
            <a:off x="396765" y="5712502"/>
            <a:ext cx="52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A0CBC9-20EB-4D94-A980-0B6372745E99}"/>
              </a:ext>
            </a:extLst>
          </p:cNvPr>
          <p:cNvSpPr txBox="1"/>
          <p:nvPr/>
        </p:nvSpPr>
        <p:spPr>
          <a:xfrm>
            <a:off x="4410868" y="1930305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52D101-6050-405E-8C2E-64F810622B76}"/>
              </a:ext>
            </a:extLst>
          </p:cNvPr>
          <p:cNvSpPr txBox="1"/>
          <p:nvPr/>
        </p:nvSpPr>
        <p:spPr>
          <a:xfrm>
            <a:off x="4246421" y="225569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A772CB-8194-424F-B014-50E0557F1594}"/>
              </a:ext>
            </a:extLst>
          </p:cNvPr>
          <p:cNvSpPr txBox="1"/>
          <p:nvPr/>
        </p:nvSpPr>
        <p:spPr>
          <a:xfrm>
            <a:off x="4423222" y="286269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140567-504B-453D-89B4-51F50D8BFBC1}"/>
              </a:ext>
            </a:extLst>
          </p:cNvPr>
          <p:cNvSpPr txBox="1"/>
          <p:nvPr/>
        </p:nvSpPr>
        <p:spPr>
          <a:xfrm>
            <a:off x="4319005" y="3221298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2C54BD-B363-4F71-85A8-0C943DA61ED0}"/>
              </a:ext>
            </a:extLst>
          </p:cNvPr>
          <p:cNvSpPr txBox="1"/>
          <p:nvPr/>
        </p:nvSpPr>
        <p:spPr>
          <a:xfrm>
            <a:off x="9262050" y="2836044"/>
            <a:ext cx="19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9E84D1-6AF5-4EF4-BF03-9117ABA005F2}"/>
              </a:ext>
            </a:extLst>
          </p:cNvPr>
          <p:cNvSpPr txBox="1"/>
          <p:nvPr/>
        </p:nvSpPr>
        <p:spPr>
          <a:xfrm>
            <a:off x="9108337" y="3152001"/>
            <a:ext cx="459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E677BD-C3A0-4716-8AE4-98409BC170BE}"/>
              </a:ext>
            </a:extLst>
          </p:cNvPr>
          <p:cNvSpPr txBox="1"/>
          <p:nvPr/>
        </p:nvSpPr>
        <p:spPr>
          <a:xfrm>
            <a:off x="4171814" y="4040674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B029A6-0648-400E-AC95-10449225B40E}"/>
              </a:ext>
            </a:extLst>
          </p:cNvPr>
          <p:cNvSpPr txBox="1"/>
          <p:nvPr/>
        </p:nvSpPr>
        <p:spPr>
          <a:xfrm>
            <a:off x="4149079" y="440737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19640D-DCC3-4D3A-A71D-D9E8E18E6B7F}"/>
              </a:ext>
            </a:extLst>
          </p:cNvPr>
          <p:cNvSpPr txBox="1"/>
          <p:nvPr/>
        </p:nvSpPr>
        <p:spPr>
          <a:xfrm>
            <a:off x="6924156" y="50694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980BEE-9834-4422-A58B-BC0AABB5CBE7}"/>
              </a:ext>
            </a:extLst>
          </p:cNvPr>
          <p:cNvSpPr txBox="1"/>
          <p:nvPr/>
        </p:nvSpPr>
        <p:spPr>
          <a:xfrm>
            <a:off x="6796778" y="5479733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518A01-0BD6-4B86-AB01-C281C158ED4D}"/>
              </a:ext>
            </a:extLst>
          </p:cNvPr>
          <p:cNvSpPr txBox="1"/>
          <p:nvPr/>
        </p:nvSpPr>
        <p:spPr>
          <a:xfrm>
            <a:off x="3763854" y="78834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89DA74-58EB-4DB7-A2CC-4B2CD1C2F4B1}"/>
              </a:ext>
            </a:extLst>
          </p:cNvPr>
          <p:cNvSpPr txBox="1"/>
          <p:nvPr/>
        </p:nvSpPr>
        <p:spPr>
          <a:xfrm flipH="1">
            <a:off x="2605728" y="2261543"/>
            <a:ext cx="399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CFCA5BB-E0AC-4957-B274-DD1C14707033}"/>
              </a:ext>
            </a:extLst>
          </p:cNvPr>
          <p:cNvSpPr txBox="1"/>
          <p:nvPr/>
        </p:nvSpPr>
        <p:spPr>
          <a:xfrm>
            <a:off x="3533826" y="2532573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52BA92-AA90-4643-8BA9-E0B6ACEE1251}"/>
              </a:ext>
            </a:extLst>
          </p:cNvPr>
          <p:cNvSpPr txBox="1"/>
          <p:nvPr/>
        </p:nvSpPr>
        <p:spPr>
          <a:xfrm>
            <a:off x="2745779" y="3369065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C0D9CD-432C-4BD7-B997-9B4564C9392B}"/>
              </a:ext>
            </a:extLst>
          </p:cNvPr>
          <p:cNvSpPr txBox="1"/>
          <p:nvPr/>
        </p:nvSpPr>
        <p:spPr>
          <a:xfrm>
            <a:off x="3574035" y="5086195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1C37602-C03A-430A-A683-63E678EDFF9D}"/>
              </a:ext>
            </a:extLst>
          </p:cNvPr>
          <p:cNvSpPr txBox="1"/>
          <p:nvPr/>
        </p:nvSpPr>
        <p:spPr>
          <a:xfrm>
            <a:off x="5173874" y="1567408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ⓕ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BE947F-C181-40E3-A1F2-605AEE60E286}"/>
              </a:ext>
            </a:extLst>
          </p:cNvPr>
          <p:cNvSpPr txBox="1"/>
          <p:nvPr/>
        </p:nvSpPr>
        <p:spPr>
          <a:xfrm>
            <a:off x="7180533" y="268369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ⓖ</a:t>
            </a:r>
          </a:p>
        </p:txBody>
      </p:sp>
    </p:spTree>
    <p:extLst>
      <p:ext uri="{BB962C8B-B14F-4D97-AF65-F5344CB8AC3E}">
        <p14:creationId xmlns:p14="http://schemas.microsoft.com/office/powerpoint/2010/main" val="1140772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6BCF7E5-5AD6-4BD2-AD42-93BAF261F846}"/>
              </a:ext>
            </a:extLst>
          </p:cNvPr>
          <p:cNvSpPr/>
          <p:nvPr/>
        </p:nvSpPr>
        <p:spPr>
          <a:xfrm rot="5400000">
            <a:off x="8071589" y="3017727"/>
            <a:ext cx="1958101" cy="1222181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246DAC-ACC7-4C73-97A2-DDE854C4A1FE}"/>
              </a:ext>
            </a:extLst>
          </p:cNvPr>
          <p:cNvSpPr/>
          <p:nvPr/>
        </p:nvSpPr>
        <p:spPr>
          <a:xfrm>
            <a:off x="6173822" y="2481169"/>
            <a:ext cx="1844824" cy="18099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6ED01B-2E65-4BC1-8303-BEFFCE71CD3D}"/>
              </a:ext>
            </a:extLst>
          </p:cNvPr>
          <p:cNvSpPr/>
          <p:nvPr/>
        </p:nvSpPr>
        <p:spPr>
          <a:xfrm>
            <a:off x="3668990" y="2811540"/>
            <a:ext cx="2175049" cy="15195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467CD1-F755-4485-841F-3228706FA7C8}"/>
              </a:ext>
            </a:extLst>
          </p:cNvPr>
          <p:cNvSpPr/>
          <p:nvPr/>
        </p:nvSpPr>
        <p:spPr>
          <a:xfrm>
            <a:off x="6342616" y="2747526"/>
            <a:ext cx="3277635" cy="725507"/>
          </a:xfrm>
          <a:prstGeom prst="rect">
            <a:avLst/>
          </a:prstGeom>
          <a:solidFill>
            <a:schemeClr val="accent1">
              <a:lumMod val="20000"/>
              <a:lumOff val="80000"/>
              <a:alpha val="55000"/>
            </a:schemeClr>
          </a:solidFill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4">
            <a:extLst>
              <a:ext uri="{FF2B5EF4-FFF2-40B4-BE49-F238E27FC236}">
                <a16:creationId xmlns:a16="http://schemas.microsoft.com/office/drawing/2014/main" id="{22D5C4B6-AD53-4291-828B-73F6BA7C8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643470"/>
              </p:ext>
            </p:extLst>
          </p:nvPr>
        </p:nvGraphicFramePr>
        <p:xfrm>
          <a:off x="3796065" y="3126046"/>
          <a:ext cx="1907453" cy="5109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07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1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</a:t>
                      </a: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Tr.A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800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미래에셋자산운용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펀드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4">
            <a:extLst>
              <a:ext uri="{FF2B5EF4-FFF2-40B4-BE49-F238E27FC236}">
                <a16:creationId xmlns:a16="http://schemas.microsoft.com/office/drawing/2014/main" id="{BA72D71A-A732-40EB-91B9-6F6EAF20E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013040"/>
              </p:ext>
            </p:extLst>
          </p:nvPr>
        </p:nvGraphicFramePr>
        <p:xfrm>
          <a:off x="1934693" y="3293098"/>
          <a:ext cx="1319637" cy="55425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담보대출 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PFV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4">
            <a:extLst>
              <a:ext uri="{FF2B5EF4-FFF2-40B4-BE49-F238E27FC236}">
                <a16:creationId xmlns:a16="http://schemas.microsoft.com/office/drawing/2014/main" id="{F5D0EDDE-98BE-49E5-9861-EBE7AD3F9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920902"/>
              </p:ext>
            </p:extLst>
          </p:nvPr>
        </p:nvGraphicFramePr>
        <p:xfrm>
          <a:off x="1935718" y="2035794"/>
          <a:ext cx="1319635" cy="5542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424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자산관리자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(AMC)]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TBD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자산운용</a:t>
                      </a:r>
                      <a:endParaRPr lang="en-US" altLang="ko-KR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4">
            <a:extLst>
              <a:ext uri="{FF2B5EF4-FFF2-40B4-BE49-F238E27FC236}">
                <a16:creationId xmlns:a16="http://schemas.microsoft.com/office/drawing/2014/main" id="{E50207EF-EED2-4436-9E23-F2786BA1B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962846"/>
              </p:ext>
            </p:extLst>
          </p:nvPr>
        </p:nvGraphicFramePr>
        <p:xfrm>
          <a:off x="1934692" y="4521138"/>
          <a:ext cx="1319637" cy="5542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42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신탁사</a:t>
                      </a:r>
                      <a:endParaRPr lang="en-US" altLang="ko-KR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[T.B.D]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4">
            <a:extLst>
              <a:ext uri="{FF2B5EF4-FFF2-40B4-BE49-F238E27FC236}">
                <a16:creationId xmlns:a16="http://schemas.microsoft.com/office/drawing/2014/main" id="{E04A74DD-DCEF-4489-AB96-A012D2423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892969"/>
              </p:ext>
            </p:extLst>
          </p:nvPr>
        </p:nvGraphicFramePr>
        <p:xfrm>
          <a:off x="6414505" y="3576512"/>
          <a:ext cx="1447288" cy="5481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447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7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2</a:t>
                      </a:r>
                      <a:r>
                        <a:rPr lang="ko-KR" altLang="en-US" sz="105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종 수익권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35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5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[200</a:t>
                      </a: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altLang="ko-KR" sz="105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050" b="1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0" marR="0" marT="36000" marB="36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4AB1610-8AC8-42DB-9598-BFE5666E8895}"/>
              </a:ext>
            </a:extLst>
          </p:cNvPr>
          <p:cNvCxnSpPr>
            <a:cxnSpLocks/>
            <a:stCxn id="5" idx="1"/>
            <a:endCxn id="8" idx="3"/>
          </p:cNvCxnSpPr>
          <p:nvPr/>
        </p:nvCxnSpPr>
        <p:spPr>
          <a:xfrm flipH="1" flipV="1">
            <a:off x="5703518" y="3381537"/>
            <a:ext cx="470304" cy="460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4D70932-4F41-4288-948A-C9C16B707F8C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>
          <a:xfrm flipV="1">
            <a:off x="2594510" y="3847348"/>
            <a:ext cx="1" cy="67379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5690A75-D5A8-49E7-88BE-EB88F0D44943}"/>
              </a:ext>
            </a:extLst>
          </p:cNvPr>
          <p:cNvCxnSpPr>
            <a:cxnSpLocks/>
            <a:stCxn id="9" idx="1"/>
            <a:endCxn id="27" idx="3"/>
          </p:cNvCxnSpPr>
          <p:nvPr/>
        </p:nvCxnSpPr>
        <p:spPr>
          <a:xfrm flipH="1" flipV="1">
            <a:off x="1347295" y="3565008"/>
            <a:ext cx="587398" cy="521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E6E9FF5-0662-48D6-B470-5ED1997CC23B}"/>
              </a:ext>
            </a:extLst>
          </p:cNvPr>
          <p:cNvCxnSpPr>
            <a:cxnSpLocks/>
            <a:stCxn id="17" idx="3"/>
            <a:endCxn id="30" idx="1"/>
          </p:cNvCxnSpPr>
          <p:nvPr/>
        </p:nvCxnSpPr>
        <p:spPr>
          <a:xfrm flipV="1">
            <a:off x="7861793" y="3085954"/>
            <a:ext cx="682646" cy="245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graphicFrame>
        <p:nvGraphicFramePr>
          <p:cNvPr id="17" name="표 4">
            <a:extLst>
              <a:ext uri="{FF2B5EF4-FFF2-40B4-BE49-F238E27FC236}">
                <a16:creationId xmlns:a16="http://schemas.microsoft.com/office/drawing/2014/main" id="{3332BE91-F22D-4384-9EDB-97EECAB68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748688"/>
              </p:ext>
            </p:extLst>
          </p:nvPr>
        </p:nvGraphicFramePr>
        <p:xfrm>
          <a:off x="6414505" y="2849708"/>
          <a:ext cx="1447288" cy="47739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447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1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종 수익권</a:t>
                      </a:r>
                    </a:p>
                  </a:txBody>
                  <a:tcPr marL="156067" marR="156067" marT="70939" marB="70939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12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[600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억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4D6D930-4690-45DD-9095-065A2B7E6580}"/>
              </a:ext>
            </a:extLst>
          </p:cNvPr>
          <p:cNvCxnSpPr>
            <a:cxnSpLocks/>
            <a:stCxn id="6" idx="1"/>
            <a:endCxn id="9" idx="3"/>
          </p:cNvCxnSpPr>
          <p:nvPr/>
        </p:nvCxnSpPr>
        <p:spPr>
          <a:xfrm flipH="1" flipV="1">
            <a:off x="3254330" y="3570223"/>
            <a:ext cx="414660" cy="10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6DBFD9C5-8732-44D8-990B-70BCF2719040}"/>
              </a:ext>
            </a:extLst>
          </p:cNvPr>
          <p:cNvSpPr txBox="1">
            <a:spLocks/>
          </p:cNvSpPr>
          <p:nvPr/>
        </p:nvSpPr>
        <p:spPr>
          <a:xfrm>
            <a:off x="3391735" y="4607867"/>
            <a:ext cx="1085360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우선수익권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/>
              <a:t>1,2</a:t>
            </a:r>
            <a:r>
              <a:rPr lang="ko-KR" altLang="en-US" sz="900" dirty="0"/>
              <a:t>순위 제공</a:t>
            </a:r>
          </a:p>
        </p:txBody>
      </p: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3E97B748-8173-4491-8133-054753F1A7BE}"/>
              </a:ext>
            </a:extLst>
          </p:cNvPr>
          <p:cNvSpPr txBox="1">
            <a:spLocks/>
          </p:cNvSpPr>
          <p:nvPr/>
        </p:nvSpPr>
        <p:spPr>
          <a:xfrm>
            <a:off x="4016270" y="2879743"/>
            <a:ext cx="1368704" cy="19793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1050" dirty="0"/>
              <a:t>토지담보대출</a:t>
            </a:r>
            <a:r>
              <a:rPr lang="en-US" altLang="ko-KR" sz="1050" dirty="0"/>
              <a:t>[850]</a:t>
            </a:r>
            <a:r>
              <a:rPr lang="ko-KR" altLang="en-US" sz="1050" dirty="0"/>
              <a:t>억원</a:t>
            </a: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626F7877-759E-46B4-BD8D-F472AC19390C}"/>
              </a:ext>
            </a:extLst>
          </p:cNvPr>
          <p:cNvCxnSpPr>
            <a:cxnSpLocks/>
          </p:cNvCxnSpPr>
          <p:nvPr/>
        </p:nvCxnSpPr>
        <p:spPr>
          <a:xfrm flipV="1">
            <a:off x="1013521" y="3702533"/>
            <a:ext cx="903267" cy="74535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8A66094E-0BD2-4F6C-808D-6A9AEA1E5804}"/>
              </a:ext>
            </a:extLst>
          </p:cNvPr>
          <p:cNvSpPr txBox="1">
            <a:spLocks/>
          </p:cNvSpPr>
          <p:nvPr/>
        </p:nvSpPr>
        <p:spPr>
          <a:xfrm>
            <a:off x="3134227" y="3402852"/>
            <a:ext cx="67368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이자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대출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C787E4E0-6827-4EC8-B876-0826C16248E5}"/>
              </a:ext>
            </a:extLst>
          </p:cNvPr>
          <p:cNvSpPr txBox="1">
            <a:spLocks/>
          </p:cNvSpPr>
          <p:nvPr/>
        </p:nvSpPr>
        <p:spPr>
          <a:xfrm>
            <a:off x="6285022" y="4493887"/>
            <a:ext cx="1053375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펀드운용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D1C3EFC6-26D3-433C-825D-3DBBFDFF189F}"/>
              </a:ext>
            </a:extLst>
          </p:cNvPr>
          <p:cNvCxnSpPr>
            <a:cxnSpLocks/>
            <a:stCxn id="11" idx="3"/>
            <a:endCxn id="26" idx="2"/>
          </p:cNvCxnSpPr>
          <p:nvPr/>
        </p:nvCxnSpPr>
        <p:spPr>
          <a:xfrm flipV="1">
            <a:off x="3254329" y="4224285"/>
            <a:ext cx="1495459" cy="573977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5556D3F-2160-4A4C-A29D-7C94F78C98FC}"/>
              </a:ext>
            </a:extLst>
          </p:cNvPr>
          <p:cNvSpPr txBox="1">
            <a:spLocks/>
          </p:cNvSpPr>
          <p:nvPr/>
        </p:nvSpPr>
        <p:spPr>
          <a:xfrm>
            <a:off x="2504093" y="3990337"/>
            <a:ext cx="73243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담보신탁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계약</a:t>
            </a:r>
            <a:endParaRPr lang="en-US" altLang="ko-KR" sz="900" dirty="0"/>
          </a:p>
        </p:txBody>
      </p:sp>
      <p:graphicFrame>
        <p:nvGraphicFramePr>
          <p:cNvPr id="26" name="표 4">
            <a:extLst>
              <a:ext uri="{FF2B5EF4-FFF2-40B4-BE49-F238E27FC236}">
                <a16:creationId xmlns:a16="http://schemas.microsoft.com/office/drawing/2014/main" id="{0EC99A6C-40C2-4DD1-B240-85379AE71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289251"/>
              </p:ext>
            </p:extLst>
          </p:nvPr>
        </p:nvGraphicFramePr>
        <p:xfrm>
          <a:off x="3796061" y="3713303"/>
          <a:ext cx="1907454" cy="5109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907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1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</a:t>
                      </a:r>
                      <a:r>
                        <a:rPr lang="en-US" altLang="ko-KR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Tr.B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50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[T.B.D]</a:t>
                      </a: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5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표 4">
            <a:extLst>
              <a:ext uri="{FF2B5EF4-FFF2-40B4-BE49-F238E27FC236}">
                <a16:creationId xmlns:a16="http://schemas.microsoft.com/office/drawing/2014/main" id="{18527EAB-C67B-4F23-B58F-A2132F052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774056"/>
              </p:ext>
            </p:extLst>
          </p:nvPr>
        </p:nvGraphicFramePr>
        <p:xfrm>
          <a:off x="346013" y="3334575"/>
          <a:ext cx="1001282" cy="46086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0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864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시행사</a:t>
                      </a:r>
                      <a:endParaRPr lang="en-US" altLang="ko-KR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[</a:t>
                      </a:r>
                      <a:r>
                        <a:rPr lang="ko-KR" altLang="en-US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정앤정펌</a:t>
                      </a: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]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4">
            <a:extLst>
              <a:ext uri="{FF2B5EF4-FFF2-40B4-BE49-F238E27FC236}">
                <a16:creationId xmlns:a16="http://schemas.microsoft.com/office/drawing/2014/main" id="{229C75A8-3F08-4556-8718-510EC36A0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408926"/>
              </p:ext>
            </p:extLst>
          </p:nvPr>
        </p:nvGraphicFramePr>
        <p:xfrm>
          <a:off x="342030" y="2058551"/>
          <a:ext cx="1001282" cy="4581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0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11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기계약</a:t>
                      </a: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토지주</a:t>
                      </a:r>
                      <a:endParaRPr lang="ko-KR" altLang="en-US" sz="1000" dirty="0"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DBEA59A9-15AF-4B1C-8350-869DDE37AFBA}"/>
              </a:ext>
            </a:extLst>
          </p:cNvPr>
          <p:cNvSpPr txBox="1">
            <a:spLocks/>
          </p:cNvSpPr>
          <p:nvPr/>
        </p:nvSpPr>
        <p:spPr>
          <a:xfrm>
            <a:off x="6368924" y="2501331"/>
            <a:ext cx="1368704" cy="19793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1050" dirty="0"/>
              <a:t>블라인드펀드 </a:t>
            </a:r>
            <a:r>
              <a:rPr lang="en-US" altLang="ko-KR" sz="1050" dirty="0"/>
              <a:t>[800]</a:t>
            </a:r>
            <a:r>
              <a:rPr lang="ko-KR" altLang="en-US" sz="1050" dirty="0"/>
              <a:t>억원</a:t>
            </a:r>
          </a:p>
        </p:txBody>
      </p:sp>
      <p:graphicFrame>
        <p:nvGraphicFramePr>
          <p:cNvPr id="30" name="표 4">
            <a:extLst>
              <a:ext uri="{FF2B5EF4-FFF2-40B4-BE49-F238E27FC236}">
                <a16:creationId xmlns:a16="http://schemas.microsoft.com/office/drawing/2014/main" id="{EACEF60F-C32D-4E9A-AC9D-7CA3748A8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379502"/>
              </p:ext>
            </p:extLst>
          </p:nvPr>
        </p:nvGraphicFramePr>
        <p:xfrm>
          <a:off x="8544439" y="2844801"/>
          <a:ext cx="1001282" cy="4823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0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230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유동화 </a:t>
                      </a:r>
                      <a:endParaRPr lang="en-US" altLang="ko-KR" sz="1000" b="1" kern="1200" dirty="0">
                        <a:solidFill>
                          <a:schemeClr val="lt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SPC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FA5F81B-D681-4E05-BE7D-B7E252C36E86}"/>
              </a:ext>
            </a:extLst>
          </p:cNvPr>
          <p:cNvCxnSpPr>
            <a:cxnSpLocks/>
            <a:stCxn id="41" idx="0"/>
            <a:endCxn id="5" idx="2"/>
          </p:cNvCxnSpPr>
          <p:nvPr/>
        </p:nvCxnSpPr>
        <p:spPr>
          <a:xfrm flipH="1" flipV="1">
            <a:off x="7096234" y="4291108"/>
            <a:ext cx="7842" cy="48730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DBCD762-78C1-4539-8CA7-349CCC888BF0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flipH="1">
            <a:off x="2594511" y="2590042"/>
            <a:ext cx="1024" cy="70305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AA6F745-F2F3-472B-90E1-CE162AC3170C}"/>
              </a:ext>
            </a:extLst>
          </p:cNvPr>
          <p:cNvCxnSpPr>
            <a:cxnSpLocks/>
            <a:stCxn id="27" idx="0"/>
            <a:endCxn id="28" idx="2"/>
          </p:cNvCxnSpPr>
          <p:nvPr/>
        </p:nvCxnSpPr>
        <p:spPr>
          <a:xfrm flipH="1" flipV="1">
            <a:off x="842671" y="2516666"/>
            <a:ext cx="3983" cy="81790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F814BCBF-1862-4388-8B92-77899E5A5470}"/>
              </a:ext>
            </a:extLst>
          </p:cNvPr>
          <p:cNvCxnSpPr>
            <a:cxnSpLocks/>
            <a:stCxn id="42" idx="1"/>
          </p:cNvCxnSpPr>
          <p:nvPr/>
        </p:nvCxnSpPr>
        <p:spPr>
          <a:xfrm rot="10800000" flipV="1">
            <a:off x="3290104" y="1695506"/>
            <a:ext cx="2768560" cy="1609756"/>
          </a:xfrm>
          <a:prstGeom prst="bentConnector3">
            <a:avLst>
              <a:gd name="adj1" fmla="val 92332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A83F755E-C31A-4FF9-B572-B059EBE3A3B7}"/>
              </a:ext>
            </a:extLst>
          </p:cNvPr>
          <p:cNvSpPr txBox="1">
            <a:spLocks/>
          </p:cNvSpPr>
          <p:nvPr/>
        </p:nvSpPr>
        <p:spPr>
          <a:xfrm>
            <a:off x="5648040" y="3219381"/>
            <a:ext cx="67368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/>
              <a:t>투자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배당</a:t>
            </a:r>
          </a:p>
        </p:txBody>
      </p:sp>
      <p:sp>
        <p:nvSpPr>
          <p:cNvPr id="36" name="텍스트 개체 틀 2">
            <a:extLst>
              <a:ext uri="{FF2B5EF4-FFF2-40B4-BE49-F238E27FC236}">
                <a16:creationId xmlns:a16="http://schemas.microsoft.com/office/drawing/2014/main" id="{46F62247-DA73-43A2-9D5A-00F2819C2CEC}"/>
              </a:ext>
            </a:extLst>
          </p:cNvPr>
          <p:cNvSpPr txBox="1">
            <a:spLocks/>
          </p:cNvSpPr>
          <p:nvPr/>
        </p:nvSpPr>
        <p:spPr>
          <a:xfrm>
            <a:off x="7870424" y="2911098"/>
            <a:ext cx="673681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/>
              <a:t>ABL </a:t>
            </a:r>
            <a:r>
              <a:rPr lang="ko-KR" altLang="en-US" sz="900" dirty="0"/>
              <a:t>대출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원리금 상환</a:t>
            </a:r>
          </a:p>
        </p:txBody>
      </p:sp>
      <p:sp>
        <p:nvSpPr>
          <p:cNvPr id="37" name="텍스트 개체 틀 2">
            <a:extLst>
              <a:ext uri="{FF2B5EF4-FFF2-40B4-BE49-F238E27FC236}">
                <a16:creationId xmlns:a16="http://schemas.microsoft.com/office/drawing/2014/main" id="{384D1424-D0CC-49BD-B0DD-CD983901EE11}"/>
              </a:ext>
            </a:extLst>
          </p:cNvPr>
          <p:cNvSpPr txBox="1">
            <a:spLocks/>
          </p:cNvSpPr>
          <p:nvPr/>
        </p:nvSpPr>
        <p:spPr>
          <a:xfrm>
            <a:off x="2504093" y="2773439"/>
            <a:ext cx="732439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/>
              <a:t>PFV</a:t>
            </a: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자산관리</a:t>
            </a:r>
            <a:endParaRPr lang="en-US" altLang="ko-KR" sz="900" dirty="0"/>
          </a:p>
        </p:txBody>
      </p:sp>
      <p:sp>
        <p:nvSpPr>
          <p:cNvPr id="38" name="텍스트 개체 틀 2">
            <a:extLst>
              <a:ext uri="{FF2B5EF4-FFF2-40B4-BE49-F238E27FC236}">
                <a16:creationId xmlns:a16="http://schemas.microsoft.com/office/drawing/2014/main" id="{D320AEB8-DAAE-4E54-982C-FE035E8FE85D}"/>
              </a:ext>
            </a:extLst>
          </p:cNvPr>
          <p:cNvSpPr txBox="1">
            <a:spLocks/>
          </p:cNvSpPr>
          <p:nvPr/>
        </p:nvSpPr>
        <p:spPr>
          <a:xfrm>
            <a:off x="1152595" y="3019981"/>
            <a:ext cx="1025830" cy="52976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토지매매계약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당사자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지위양수도</a:t>
            </a:r>
            <a:endParaRPr lang="en-US" altLang="ko-KR" sz="900" dirty="0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0276DA5C-7FB6-4EAA-A53B-B7B040E6E804}"/>
              </a:ext>
            </a:extLst>
          </p:cNvPr>
          <p:cNvSpPr txBox="1">
            <a:spLocks/>
          </p:cNvSpPr>
          <p:nvPr/>
        </p:nvSpPr>
        <p:spPr>
          <a:xfrm>
            <a:off x="117271" y="2780462"/>
            <a:ext cx="776496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토지매매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계약</a:t>
            </a:r>
            <a:endParaRPr lang="en-US" altLang="ko-KR" sz="900" dirty="0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362874F7-41C7-4D0B-A360-DDFC9D4E869D}"/>
              </a:ext>
            </a:extLst>
          </p:cNvPr>
          <p:cNvSpPr txBox="1">
            <a:spLocks/>
          </p:cNvSpPr>
          <p:nvPr/>
        </p:nvSpPr>
        <p:spPr>
          <a:xfrm>
            <a:off x="4157942" y="1467670"/>
            <a:ext cx="1085360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en-US" altLang="ko-KR" sz="900" dirty="0" err="1"/>
              <a:t>Tr.A</a:t>
            </a:r>
            <a:r>
              <a:rPr lang="en-US" altLang="ko-KR" sz="900" dirty="0"/>
              <a:t> </a:t>
            </a:r>
            <a:r>
              <a:rPr lang="ko-KR" altLang="en-US" sz="900" dirty="0"/>
              <a:t>조건부 </a:t>
            </a:r>
            <a:r>
              <a:rPr lang="en-US" altLang="ko-KR" sz="900" dirty="0"/>
              <a:t>LOC</a:t>
            </a:r>
            <a:r>
              <a:rPr lang="ko-KR" altLang="en-US" sz="900" dirty="0"/>
              <a:t>제공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5A410351-8209-425D-B57C-45C3848D8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733" y="4778412"/>
            <a:ext cx="1514686" cy="381053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ADE1E4FB-95B0-4C09-9CEA-605BEE51C1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664" y="1471637"/>
            <a:ext cx="1028844" cy="44773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7371218-2F8D-4886-9A61-94024A472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51" y="4023253"/>
            <a:ext cx="776496" cy="1237541"/>
          </a:xfrm>
          <a:prstGeom prst="rect">
            <a:avLst/>
          </a:prstGeom>
        </p:spPr>
      </p:pic>
      <p:sp>
        <p:nvSpPr>
          <p:cNvPr id="44" name="텍스트 개체 틀 2">
            <a:extLst>
              <a:ext uri="{FF2B5EF4-FFF2-40B4-BE49-F238E27FC236}">
                <a16:creationId xmlns:a16="http://schemas.microsoft.com/office/drawing/2014/main" id="{063B2757-3EF3-497C-BD81-5AD54EF8FE92}"/>
              </a:ext>
            </a:extLst>
          </p:cNvPr>
          <p:cNvSpPr txBox="1">
            <a:spLocks/>
          </p:cNvSpPr>
          <p:nvPr/>
        </p:nvSpPr>
        <p:spPr>
          <a:xfrm>
            <a:off x="1002914" y="4053056"/>
            <a:ext cx="486796" cy="3497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우선주</a:t>
            </a:r>
            <a:endParaRPr lang="en-US" altLang="ko-KR" sz="900" dirty="0"/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출자</a:t>
            </a:r>
            <a:endParaRPr lang="en-US" altLang="ko-KR" sz="900" dirty="0"/>
          </a:p>
        </p:txBody>
      </p:sp>
      <p:sp>
        <p:nvSpPr>
          <p:cNvPr id="45" name="텍스트 개체 틀 2">
            <a:extLst>
              <a:ext uri="{FF2B5EF4-FFF2-40B4-BE49-F238E27FC236}">
                <a16:creationId xmlns:a16="http://schemas.microsoft.com/office/drawing/2014/main" id="{F1B7ACBC-E674-43A9-BA71-F7BE900162DD}"/>
              </a:ext>
            </a:extLst>
          </p:cNvPr>
          <p:cNvSpPr txBox="1">
            <a:spLocks/>
          </p:cNvSpPr>
          <p:nvPr/>
        </p:nvSpPr>
        <p:spPr>
          <a:xfrm>
            <a:off x="1094692" y="4484632"/>
            <a:ext cx="296826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/>
              <a:t>배당</a:t>
            </a:r>
            <a:endParaRPr lang="en-US" altLang="ko-KR" sz="900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7E1BC53-51CD-42B3-94C8-F243982C964F}"/>
              </a:ext>
            </a:extLst>
          </p:cNvPr>
          <p:cNvCxnSpPr>
            <a:cxnSpLocks/>
            <a:stCxn id="47" idx="0"/>
            <a:endCxn id="30" idx="2"/>
          </p:cNvCxnSpPr>
          <p:nvPr/>
        </p:nvCxnSpPr>
        <p:spPr>
          <a:xfrm flipH="1" flipV="1">
            <a:off x="9045080" y="3327107"/>
            <a:ext cx="6024" cy="64868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graphicFrame>
        <p:nvGraphicFramePr>
          <p:cNvPr id="47" name="표 4">
            <a:extLst>
              <a:ext uri="{FF2B5EF4-FFF2-40B4-BE49-F238E27FC236}">
                <a16:creationId xmlns:a16="http://schemas.microsoft.com/office/drawing/2014/main" id="{374351B5-3EBE-4C94-B365-347EA0824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034761"/>
              </p:ext>
            </p:extLst>
          </p:nvPr>
        </p:nvGraphicFramePr>
        <p:xfrm>
          <a:off x="8550297" y="3975796"/>
          <a:ext cx="1001614" cy="47739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01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0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사채권자</a:t>
                      </a:r>
                    </a:p>
                  </a:txBody>
                  <a:tcPr marL="156067" marR="156067" marT="70939" marB="70939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12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  <a:cs typeface="+mn-cs"/>
                        </a:rPr>
                        <a:t>T.B.D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텍스트 개체 틀 2">
            <a:extLst>
              <a:ext uri="{FF2B5EF4-FFF2-40B4-BE49-F238E27FC236}">
                <a16:creationId xmlns:a16="http://schemas.microsoft.com/office/drawing/2014/main" id="{6D069842-F8D4-4387-9057-1996C9E4AD38}"/>
              </a:ext>
            </a:extLst>
          </p:cNvPr>
          <p:cNvSpPr txBox="1">
            <a:spLocks/>
          </p:cNvSpPr>
          <p:nvPr/>
        </p:nvSpPr>
        <p:spPr>
          <a:xfrm>
            <a:off x="8614340" y="3615808"/>
            <a:ext cx="673681" cy="16966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Pretendard ExtraBold" panose="020B0600000101010101" pitchFamily="50" charset="-127"/>
                <a:ea typeface="Pretendard ExtraBold" panose="020B060000010101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/>
              <a:t>사모사채  발행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36884F-A0C8-47E6-A3E1-212C8E37D376}"/>
              </a:ext>
            </a:extLst>
          </p:cNvPr>
          <p:cNvSpPr txBox="1"/>
          <p:nvPr/>
        </p:nvSpPr>
        <p:spPr>
          <a:xfrm>
            <a:off x="72035" y="217441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D494D9-A0BD-45DE-BE56-220BDF74F084}"/>
              </a:ext>
            </a:extLst>
          </p:cNvPr>
          <p:cNvSpPr txBox="1"/>
          <p:nvPr/>
        </p:nvSpPr>
        <p:spPr>
          <a:xfrm>
            <a:off x="1613307" y="217399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30142AB-A9E3-4E93-8A0F-D8E966E20E4C}"/>
              </a:ext>
            </a:extLst>
          </p:cNvPr>
          <p:cNvSpPr txBox="1"/>
          <p:nvPr/>
        </p:nvSpPr>
        <p:spPr>
          <a:xfrm flipH="1">
            <a:off x="-41608" y="3459218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9718A7-E2DB-44A6-9987-DCDD9B846111}"/>
              </a:ext>
            </a:extLst>
          </p:cNvPr>
          <p:cNvSpPr txBox="1"/>
          <p:nvPr/>
        </p:nvSpPr>
        <p:spPr>
          <a:xfrm>
            <a:off x="1927775" y="328599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④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F0EEE1-C9DF-426D-BB67-432340C8AC1F}"/>
              </a:ext>
            </a:extLst>
          </p:cNvPr>
          <p:cNvSpPr txBox="1"/>
          <p:nvPr/>
        </p:nvSpPr>
        <p:spPr>
          <a:xfrm>
            <a:off x="1862963" y="3570768"/>
            <a:ext cx="52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985B62-6604-4572-8234-9A383A91C5A3}"/>
              </a:ext>
            </a:extLst>
          </p:cNvPr>
          <p:cNvSpPr txBox="1"/>
          <p:nvPr/>
        </p:nvSpPr>
        <p:spPr>
          <a:xfrm>
            <a:off x="1599199" y="4677342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A3CA7C-0D0C-41FB-83E7-60FE509AD71F}"/>
              </a:ext>
            </a:extLst>
          </p:cNvPr>
          <p:cNvSpPr txBox="1"/>
          <p:nvPr/>
        </p:nvSpPr>
        <p:spPr>
          <a:xfrm>
            <a:off x="3777036" y="285317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⑥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119F57-EE4F-41D5-9A16-3C486E6D29FB}"/>
              </a:ext>
            </a:extLst>
          </p:cNvPr>
          <p:cNvSpPr txBox="1"/>
          <p:nvPr/>
        </p:nvSpPr>
        <p:spPr>
          <a:xfrm>
            <a:off x="3893215" y="3236756"/>
            <a:ext cx="19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⑦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A5D24D-8D14-4C0B-8326-4003610206F9}"/>
              </a:ext>
            </a:extLst>
          </p:cNvPr>
          <p:cNvSpPr txBox="1"/>
          <p:nvPr/>
        </p:nvSpPr>
        <p:spPr>
          <a:xfrm>
            <a:off x="3781692" y="3820316"/>
            <a:ext cx="459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378B3D-6690-4DF7-86D2-8BB91BD34831}"/>
              </a:ext>
            </a:extLst>
          </p:cNvPr>
          <p:cNvSpPr txBox="1"/>
          <p:nvPr/>
        </p:nvSpPr>
        <p:spPr>
          <a:xfrm>
            <a:off x="6002528" y="2497365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6AEED2-4D72-4B03-8745-CC0DA83E0E5C}"/>
              </a:ext>
            </a:extLst>
          </p:cNvPr>
          <p:cNvSpPr txBox="1"/>
          <p:nvPr/>
        </p:nvSpPr>
        <p:spPr>
          <a:xfrm>
            <a:off x="6471100" y="285250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43B910F-E569-4C2A-9D87-BE9C76D3F83A}"/>
              </a:ext>
            </a:extLst>
          </p:cNvPr>
          <p:cNvSpPr txBox="1"/>
          <p:nvPr/>
        </p:nvSpPr>
        <p:spPr>
          <a:xfrm>
            <a:off x="6354972" y="3088611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5C91CD-9EFC-488D-9AA9-2CD19799E9EA}"/>
              </a:ext>
            </a:extLst>
          </p:cNvPr>
          <p:cNvSpPr txBox="1"/>
          <p:nvPr/>
        </p:nvSpPr>
        <p:spPr>
          <a:xfrm>
            <a:off x="6058456" y="3597466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⑩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E5AE5D-C028-4ED5-8742-1F790ADD6EF9}"/>
              </a:ext>
            </a:extLst>
          </p:cNvPr>
          <p:cNvSpPr txBox="1"/>
          <p:nvPr/>
        </p:nvSpPr>
        <p:spPr>
          <a:xfrm>
            <a:off x="5942328" y="3833570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⑩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68C493-A089-4C70-B651-85A8EE84D2F0}"/>
              </a:ext>
            </a:extLst>
          </p:cNvPr>
          <p:cNvSpPr txBox="1"/>
          <p:nvPr/>
        </p:nvSpPr>
        <p:spPr>
          <a:xfrm>
            <a:off x="9579243" y="292562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⑪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7813A9A-7E8D-43A1-8238-83229824A44D}"/>
              </a:ext>
            </a:extLst>
          </p:cNvPr>
          <p:cNvSpPr txBox="1"/>
          <p:nvPr/>
        </p:nvSpPr>
        <p:spPr>
          <a:xfrm>
            <a:off x="8172350" y="3975753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⑫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1241B68-C170-4E45-AA7D-44FA649B44AC}"/>
              </a:ext>
            </a:extLst>
          </p:cNvPr>
          <p:cNvSpPr txBox="1"/>
          <p:nvPr/>
        </p:nvSpPr>
        <p:spPr>
          <a:xfrm>
            <a:off x="8084458" y="4240343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⑫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943988-57B5-49DC-A99E-6E2F9C7F7CF6}"/>
              </a:ext>
            </a:extLst>
          </p:cNvPr>
          <p:cNvSpPr txBox="1"/>
          <p:nvPr/>
        </p:nvSpPr>
        <p:spPr>
          <a:xfrm>
            <a:off x="4509210" y="120697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E12C97-458B-4DB8-AF96-630183AB625B}"/>
              </a:ext>
            </a:extLst>
          </p:cNvPr>
          <p:cNvSpPr txBox="1"/>
          <p:nvPr/>
        </p:nvSpPr>
        <p:spPr>
          <a:xfrm flipH="1">
            <a:off x="26908" y="2844801"/>
            <a:ext cx="399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D20A50-512A-4FDD-B394-FA2E0E4E6C30}"/>
              </a:ext>
            </a:extLst>
          </p:cNvPr>
          <p:cNvSpPr txBox="1"/>
          <p:nvPr/>
        </p:nvSpPr>
        <p:spPr>
          <a:xfrm>
            <a:off x="1513453" y="2773439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5465E13-5DD4-4951-9741-13B16ABE0357}"/>
              </a:ext>
            </a:extLst>
          </p:cNvPr>
          <p:cNvSpPr txBox="1"/>
          <p:nvPr/>
        </p:nvSpPr>
        <p:spPr>
          <a:xfrm>
            <a:off x="1081120" y="3799681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8F0F54-92A5-43E1-A942-F7E1C64CE7C2}"/>
              </a:ext>
            </a:extLst>
          </p:cNvPr>
          <p:cNvSpPr txBox="1"/>
          <p:nvPr/>
        </p:nvSpPr>
        <p:spPr>
          <a:xfrm>
            <a:off x="1121146" y="4600676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35292E3-D1A8-4402-A4FB-651D79610337}"/>
              </a:ext>
            </a:extLst>
          </p:cNvPr>
          <p:cNvSpPr txBox="1"/>
          <p:nvPr/>
        </p:nvSpPr>
        <p:spPr>
          <a:xfrm>
            <a:off x="3064729" y="2799518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ⓕ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ACDD06-468C-41AC-9376-882B40802DBB}"/>
              </a:ext>
            </a:extLst>
          </p:cNvPr>
          <p:cNvSpPr txBox="1"/>
          <p:nvPr/>
        </p:nvSpPr>
        <p:spPr>
          <a:xfrm>
            <a:off x="3014750" y="4054062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ⓖ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690268-7D65-4EFA-BDB4-BA15F3DA56F2}"/>
              </a:ext>
            </a:extLst>
          </p:cNvPr>
          <p:cNvSpPr txBox="1"/>
          <p:nvPr/>
        </p:nvSpPr>
        <p:spPr>
          <a:xfrm>
            <a:off x="3668990" y="4402767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ⓗ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89B0970-E4E9-4EB7-881A-960B259639D6}"/>
              </a:ext>
            </a:extLst>
          </p:cNvPr>
          <p:cNvSpPr txBox="1"/>
          <p:nvPr/>
        </p:nvSpPr>
        <p:spPr>
          <a:xfrm>
            <a:off x="5811703" y="2936520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ⓘ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75785C1-1FD3-4710-BACC-C1B1AB74AB52}"/>
              </a:ext>
            </a:extLst>
          </p:cNvPr>
          <p:cNvSpPr txBox="1"/>
          <p:nvPr/>
        </p:nvSpPr>
        <p:spPr>
          <a:xfrm>
            <a:off x="6263412" y="442056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ⓙ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396D87D-487A-44BA-A79C-397C4B4900D4}"/>
              </a:ext>
            </a:extLst>
          </p:cNvPr>
          <p:cNvSpPr txBox="1"/>
          <p:nvPr/>
        </p:nvSpPr>
        <p:spPr>
          <a:xfrm>
            <a:off x="8038202" y="245186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Ⓚ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BC40110-BFF0-42AB-A6DF-E0861562F6EF}"/>
              </a:ext>
            </a:extLst>
          </p:cNvPr>
          <p:cNvSpPr txBox="1"/>
          <p:nvPr/>
        </p:nvSpPr>
        <p:spPr>
          <a:xfrm>
            <a:off x="9330595" y="3597465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Ⓛ</a:t>
            </a: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E341B390-2CE3-43D0-9DD5-E28B87EDA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87" name="액자 86">
            <a:extLst>
              <a:ext uri="{FF2B5EF4-FFF2-40B4-BE49-F238E27FC236}">
                <a16:creationId xmlns:a16="http://schemas.microsoft.com/office/drawing/2014/main" id="{287C7D4D-CEC1-43BD-A7BD-DBE9C610ED37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8D4334-EC03-44F3-AF18-CAC535460663}"/>
              </a:ext>
            </a:extLst>
          </p:cNvPr>
          <p:cNvSpPr txBox="1"/>
          <p:nvPr/>
        </p:nvSpPr>
        <p:spPr>
          <a:xfrm>
            <a:off x="224600" y="400417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13. </a:t>
            </a:r>
            <a:r>
              <a:rPr lang="ko-KR" altLang="en-US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브릿지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 대출</a:t>
            </a:r>
          </a:p>
        </p:txBody>
      </p:sp>
    </p:spTree>
    <p:extLst>
      <p:ext uri="{BB962C8B-B14F-4D97-AF65-F5344CB8AC3E}">
        <p14:creationId xmlns:p14="http://schemas.microsoft.com/office/powerpoint/2010/main" val="3210664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B7D041D-F047-4408-B20F-47E8C7E660BE}"/>
              </a:ext>
            </a:extLst>
          </p:cNvPr>
          <p:cNvSpPr/>
          <p:nvPr/>
        </p:nvSpPr>
        <p:spPr>
          <a:xfrm>
            <a:off x="6010145" y="2119767"/>
            <a:ext cx="1743836" cy="3098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6B169-5219-435F-AE81-505272107DC2}"/>
              </a:ext>
            </a:extLst>
          </p:cNvPr>
          <p:cNvSpPr txBox="1"/>
          <p:nvPr/>
        </p:nvSpPr>
        <p:spPr>
          <a:xfrm>
            <a:off x="6042728" y="2216306"/>
            <a:ext cx="1517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000" b="1" u="sng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담보대출금 </a:t>
            </a:r>
            <a:r>
              <a:rPr lang="en-US" altLang="ko-KR" sz="1000" b="1" u="sng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[1,700</a:t>
            </a:r>
            <a:r>
              <a:rPr lang="ko-KR" altLang="en-US" sz="1000" b="1" u="sng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억원</a:t>
            </a:r>
            <a:r>
              <a:rPr lang="en-US" altLang="ko-KR" sz="1000" b="1" u="sng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]</a:t>
            </a:r>
          </a:p>
        </p:txBody>
      </p:sp>
      <p:graphicFrame>
        <p:nvGraphicFramePr>
          <p:cNvPr id="6" name="표 4">
            <a:extLst>
              <a:ext uri="{FF2B5EF4-FFF2-40B4-BE49-F238E27FC236}">
                <a16:creationId xmlns:a16="http://schemas.microsoft.com/office/drawing/2014/main" id="{ABDBFB47-CB46-4973-B5E2-8730A4005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865357"/>
              </p:ext>
            </p:extLst>
          </p:nvPr>
        </p:nvGraphicFramePr>
        <p:xfrm>
          <a:off x="555486" y="3190901"/>
          <a:ext cx="1875306" cy="15669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75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57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시행자 겸 물상 보증인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801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600" b="1" dirty="0">
                        <a:solidFill>
                          <a:schemeClr val="tx1"/>
                        </a:solidFill>
                        <a:latin typeface="Pretendard ExtraBold" panose="020B0600000101010101" pitchFamily="50" charset="-127"/>
                        <a:ea typeface="Pretendard Extra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4">
            <a:extLst>
              <a:ext uri="{FF2B5EF4-FFF2-40B4-BE49-F238E27FC236}">
                <a16:creationId xmlns:a16="http://schemas.microsoft.com/office/drawing/2014/main" id="{0B876993-B23D-471D-9561-1498427CA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725562"/>
              </p:ext>
            </p:extLst>
          </p:nvPr>
        </p:nvGraphicFramePr>
        <p:xfrm>
          <a:off x="6075389" y="3831254"/>
          <a:ext cx="1541935" cy="12353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4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000" dirty="0"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Tranche B [500</a:t>
                      </a:r>
                      <a:r>
                        <a:rPr lang="ko-KR" altLang="en-US" sz="1000" dirty="0"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억원</a:t>
                      </a:r>
                      <a:r>
                        <a:rPr lang="en-US" altLang="ko-KR" sz="1000" dirty="0"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]</a:t>
                      </a:r>
                      <a:endParaRPr lang="ko-KR" altLang="en-US" sz="1000" dirty="0"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</a:txBody>
                  <a:tcPr marL="126315" marR="126315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  <a:p>
                      <a:pPr algn="ctr" latinLnBrk="1">
                        <a:defRPr/>
                      </a:pPr>
                      <a:endParaRPr lang="en-US" altLang="ko-KR" sz="300" b="1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</a:txBody>
                  <a:tcPr marL="126315" marR="126315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0D91960F-48C3-4C21-9612-27D3BD43146A}"/>
              </a:ext>
            </a:extLst>
          </p:cNvPr>
          <p:cNvSpPr/>
          <p:nvPr/>
        </p:nvSpPr>
        <p:spPr>
          <a:xfrm>
            <a:off x="6042728" y="4185214"/>
            <a:ext cx="3537246" cy="743427"/>
          </a:xfrm>
          <a:prstGeom prst="rect">
            <a:avLst/>
          </a:prstGeom>
          <a:solidFill>
            <a:schemeClr val="bg1">
              <a:lumMod val="95000"/>
              <a:alpha val="74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graphicFrame>
        <p:nvGraphicFramePr>
          <p:cNvPr id="9" name="표 4">
            <a:extLst>
              <a:ext uri="{FF2B5EF4-FFF2-40B4-BE49-F238E27FC236}">
                <a16:creationId xmlns:a16="http://schemas.microsoft.com/office/drawing/2014/main" id="{BD1A9617-3110-4E50-80EF-93D3F01DD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009"/>
              </p:ext>
            </p:extLst>
          </p:nvPr>
        </p:nvGraphicFramePr>
        <p:xfrm>
          <a:off x="6119827" y="4275593"/>
          <a:ext cx="1418770" cy="5893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41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450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dirty="0"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신규 유동화 </a:t>
                      </a:r>
                      <a:r>
                        <a:rPr lang="en-US" altLang="ko-KR" sz="1100" dirty="0"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SPC</a:t>
                      </a:r>
                      <a:endParaRPr lang="ko-KR" altLang="en-US" sz="1100" dirty="0"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</a:txBody>
                  <a:tcPr marL="104972" marR="104972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1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T.B.D</a:t>
                      </a:r>
                    </a:p>
                  </a:txBody>
                  <a:tcPr marL="104972" marR="104972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4">
            <a:extLst>
              <a:ext uri="{FF2B5EF4-FFF2-40B4-BE49-F238E27FC236}">
                <a16:creationId xmlns:a16="http://schemas.microsoft.com/office/drawing/2014/main" id="{5C279977-931A-450B-A202-954A2B37B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474390"/>
              </p:ext>
            </p:extLst>
          </p:nvPr>
        </p:nvGraphicFramePr>
        <p:xfrm>
          <a:off x="8258770" y="4275592"/>
          <a:ext cx="1217353" cy="5893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7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2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lt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사채권자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T.B.D</a:t>
                      </a:r>
                    </a:p>
                  </a:txBody>
                  <a:tcPr marL="127016" marR="127016" marT="63508" marB="63508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421FB8A-E798-4B6B-AC93-50111B241707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flipH="1">
            <a:off x="7538597" y="4570248"/>
            <a:ext cx="720173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graphicFrame>
        <p:nvGraphicFramePr>
          <p:cNvPr id="12" name="표 4">
            <a:extLst>
              <a:ext uri="{FF2B5EF4-FFF2-40B4-BE49-F238E27FC236}">
                <a16:creationId xmlns:a16="http://schemas.microsoft.com/office/drawing/2014/main" id="{1269AF4E-03CD-45D2-9038-B85C7F54E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347781"/>
              </p:ext>
            </p:extLst>
          </p:nvPr>
        </p:nvGraphicFramePr>
        <p:xfrm>
          <a:off x="3456201" y="1232362"/>
          <a:ext cx="1528535" cy="69594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2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3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 err="1"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신탁사</a:t>
                      </a:r>
                      <a:endParaRPr lang="ko-KR" altLang="en-US" sz="1200" dirty="0"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0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교보자산신탁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표 4">
            <a:extLst>
              <a:ext uri="{FF2B5EF4-FFF2-40B4-BE49-F238E27FC236}">
                <a16:creationId xmlns:a16="http://schemas.microsoft.com/office/drawing/2014/main" id="{BD08AC20-A61F-4427-9F02-32D855750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800877"/>
              </p:ext>
            </p:extLst>
          </p:nvPr>
        </p:nvGraphicFramePr>
        <p:xfrm>
          <a:off x="3459848" y="3661966"/>
          <a:ext cx="1528535" cy="91386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2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9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Pretendard ExtraBold" panose="020B0600000101010101" pitchFamily="50" charset="-127"/>
                          <a:ea typeface="Pretendard ExtraBold" panose="020B0600000101010101" pitchFamily="50" charset="-127"/>
                        </a:rPr>
                        <a:t>차주</a:t>
                      </a: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2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디케이마포홀딩스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(</a:t>
                      </a:r>
                      <a:r>
                        <a:rPr lang="ko-KR" altLang="en-US" sz="1050" b="0" kern="1200" dirty="0" err="1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건사리테일</a:t>
                      </a: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50%</a:t>
                      </a:r>
                    </a:p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도시미학 </a:t>
                      </a:r>
                      <a:r>
                        <a:rPr lang="en-US" altLang="ko-KR" sz="1050" b="0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50%)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4">
            <a:extLst>
              <a:ext uri="{FF2B5EF4-FFF2-40B4-BE49-F238E27FC236}">
                <a16:creationId xmlns:a16="http://schemas.microsoft.com/office/drawing/2014/main" id="{F393D2CE-AD3C-4D85-AD87-1C6F11BF7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08002"/>
              </p:ext>
            </p:extLst>
          </p:nvPr>
        </p:nvGraphicFramePr>
        <p:xfrm>
          <a:off x="6082439" y="2533687"/>
          <a:ext cx="1541935" cy="12126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4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49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lt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Tranche A [1200</a:t>
                      </a:r>
                      <a:r>
                        <a:rPr lang="ko-KR" altLang="en-US" sz="1000" b="1" kern="1200" dirty="0">
                          <a:solidFill>
                            <a:schemeClr val="lt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억원</a:t>
                      </a:r>
                      <a:r>
                        <a:rPr lang="en-US" altLang="ko-KR" sz="1000" b="1" kern="1200" dirty="0">
                          <a:solidFill>
                            <a:schemeClr val="lt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]</a:t>
                      </a:r>
                      <a:endParaRPr lang="ko-KR" altLang="en-US" sz="1000" b="1" kern="1200" dirty="0">
                        <a:solidFill>
                          <a:schemeClr val="lt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</a:txBody>
                  <a:tcPr marL="126315" marR="126315" marT="69474" marB="6947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25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b="1" kern="1200" dirty="0" err="1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Tr.A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대주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Pretendard ExtraBold" panose="02000A03000000020004" pitchFamily="50" charset="-127"/>
                        <a:ea typeface="Pretendard ExtraBold" panose="02000A03000000020004" pitchFamily="50" charset="-127"/>
                        <a:cs typeface="Pretendard ExtraBold" panose="02000A03000000020004" pitchFamily="50" charset="-127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(</a:t>
                      </a:r>
                      <a:r>
                        <a:rPr lang="ko-KR" altLang="en-US" sz="1100" b="1" kern="1200" dirty="0" err="1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메리츠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 승인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Pretendard ExtraBold" panose="02000A03000000020004" pitchFamily="50" charset="-127"/>
                          <a:ea typeface="Pretendard ExtraBold" panose="02000A03000000020004" pitchFamily="50" charset="-127"/>
                          <a:cs typeface="Pretendard ExtraBold" panose="02000A03000000020004" pitchFamily="50" charset="-127"/>
                        </a:rPr>
                        <a:t>)</a:t>
                      </a:r>
                    </a:p>
                  </a:txBody>
                  <a:tcPr marL="126315" marR="126315" marT="69474" marB="6947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72FA5E3-57EE-40D3-A4D6-A31C1119B023}"/>
              </a:ext>
            </a:extLst>
          </p:cNvPr>
          <p:cNvCxnSpPr>
            <a:cxnSpLocks/>
          </p:cNvCxnSpPr>
          <p:nvPr/>
        </p:nvCxnSpPr>
        <p:spPr>
          <a:xfrm flipH="1">
            <a:off x="2608985" y="3840099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D8C78201-A9F9-4AD9-A2C3-A1EA0B7411AE}"/>
              </a:ext>
            </a:extLst>
          </p:cNvPr>
          <p:cNvSpPr txBox="1">
            <a:spLocks/>
          </p:cNvSpPr>
          <p:nvPr/>
        </p:nvSpPr>
        <p:spPr>
          <a:xfrm>
            <a:off x="2463375" y="3652134"/>
            <a:ext cx="1060169" cy="16305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대여금 상환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B20EBE10-A614-4715-9A62-1B21E0CEC37E}"/>
              </a:ext>
            </a:extLst>
          </p:cNvPr>
          <p:cNvSpPr txBox="1">
            <a:spLocks/>
          </p:cNvSpPr>
          <p:nvPr/>
        </p:nvSpPr>
        <p:spPr>
          <a:xfrm>
            <a:off x="2259534" y="1383885"/>
            <a:ext cx="1060169" cy="16305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담보신탁계약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11102E76-D32D-4266-94AB-E17391892C16}"/>
              </a:ext>
            </a:extLst>
          </p:cNvPr>
          <p:cNvSpPr txBox="1">
            <a:spLocks/>
          </p:cNvSpPr>
          <p:nvPr/>
        </p:nvSpPr>
        <p:spPr>
          <a:xfrm>
            <a:off x="7368598" y="4415469"/>
            <a:ext cx="1060169" cy="34310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사모사채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발행</a:t>
            </a:r>
            <a:r>
              <a:rPr lang="en-US" altLang="ko-KR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/</a:t>
            </a:r>
            <a:r>
              <a:rPr lang="ko-KR" altLang="en-US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인수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3985D8C-6785-4194-AF02-868E1DFBF6C4}"/>
              </a:ext>
            </a:extLst>
          </p:cNvPr>
          <p:cNvCxnSpPr>
            <a:cxnSpLocks/>
          </p:cNvCxnSpPr>
          <p:nvPr/>
        </p:nvCxnSpPr>
        <p:spPr>
          <a:xfrm flipH="1">
            <a:off x="2608985" y="4099663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id="{5C23B4F7-FE23-4CAA-A7C5-8CD6C86B78E2}"/>
              </a:ext>
            </a:extLst>
          </p:cNvPr>
          <p:cNvSpPr txBox="1">
            <a:spLocks/>
          </p:cNvSpPr>
          <p:nvPr/>
        </p:nvSpPr>
        <p:spPr>
          <a:xfrm>
            <a:off x="2463375" y="4156086"/>
            <a:ext cx="1060169" cy="16305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사업자금 대여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98C47262-AE90-41B4-B030-BC539C995ACE}"/>
              </a:ext>
            </a:extLst>
          </p:cNvPr>
          <p:cNvCxnSpPr>
            <a:cxnSpLocks/>
            <a:stCxn id="12" idx="1"/>
            <a:endCxn id="6" idx="0"/>
          </p:cNvCxnSpPr>
          <p:nvPr/>
        </p:nvCxnSpPr>
        <p:spPr>
          <a:xfrm rot="10800000" flipV="1">
            <a:off x="1493139" y="1580333"/>
            <a:ext cx="1963062" cy="1610568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EE885C93-C82E-4E4C-B54A-BBF30B58DD2A}"/>
              </a:ext>
            </a:extLst>
          </p:cNvPr>
          <p:cNvCxnSpPr>
            <a:cxnSpLocks/>
            <a:stCxn id="4" idx="2"/>
            <a:endCxn id="6" idx="2"/>
          </p:cNvCxnSpPr>
          <p:nvPr/>
        </p:nvCxnSpPr>
        <p:spPr>
          <a:xfrm rot="5400000" flipH="1">
            <a:off x="3957366" y="2293638"/>
            <a:ext cx="460470" cy="5388924"/>
          </a:xfrm>
          <a:prstGeom prst="bentConnector3">
            <a:avLst>
              <a:gd name="adj1" fmla="val -49645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1BD47FC-AA7F-4FCB-BC31-A0B5B81AB5B0}"/>
              </a:ext>
            </a:extLst>
          </p:cNvPr>
          <p:cNvSpPr txBox="1">
            <a:spLocks/>
          </p:cNvSpPr>
          <p:nvPr/>
        </p:nvSpPr>
        <p:spPr>
          <a:xfrm>
            <a:off x="3815458" y="5526275"/>
            <a:ext cx="1060169" cy="16305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법인 연대보증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B0F78A8-0890-4F4B-A526-020D9F029469}"/>
              </a:ext>
            </a:extLst>
          </p:cNvPr>
          <p:cNvCxnSpPr>
            <a:cxnSpLocks/>
          </p:cNvCxnSpPr>
          <p:nvPr/>
        </p:nvCxnSpPr>
        <p:spPr>
          <a:xfrm flipH="1">
            <a:off x="5126699" y="3840099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3AB55726-C9A3-4228-ADCC-56BB5BF74683}"/>
              </a:ext>
            </a:extLst>
          </p:cNvPr>
          <p:cNvSpPr txBox="1">
            <a:spLocks/>
          </p:cNvSpPr>
          <p:nvPr/>
        </p:nvSpPr>
        <p:spPr>
          <a:xfrm>
            <a:off x="4981089" y="3652134"/>
            <a:ext cx="1060169" cy="16305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원리금 상환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30E4147-25EA-4B95-8383-FE5AA9B149EA}"/>
              </a:ext>
            </a:extLst>
          </p:cNvPr>
          <p:cNvCxnSpPr>
            <a:cxnSpLocks/>
          </p:cNvCxnSpPr>
          <p:nvPr/>
        </p:nvCxnSpPr>
        <p:spPr>
          <a:xfrm flipH="1">
            <a:off x="5126699" y="4099663"/>
            <a:ext cx="762354" cy="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sm" len="sm"/>
          </a:ln>
          <a:effectLst/>
        </p:spPr>
      </p:cxn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64B73509-649D-4F6F-BCB3-F76FF33ED0AB}"/>
              </a:ext>
            </a:extLst>
          </p:cNvPr>
          <p:cNvSpPr txBox="1">
            <a:spLocks/>
          </p:cNvSpPr>
          <p:nvPr/>
        </p:nvSpPr>
        <p:spPr>
          <a:xfrm>
            <a:off x="4981089" y="4156086"/>
            <a:ext cx="1060169" cy="16305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대출실행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3CF4BA0C-A6C1-43A4-84C5-CA43C5AE2764}"/>
              </a:ext>
            </a:extLst>
          </p:cNvPr>
          <p:cNvCxnSpPr>
            <a:cxnSpLocks/>
            <a:stCxn id="4" idx="0"/>
            <a:endCxn id="12" idx="3"/>
          </p:cNvCxnSpPr>
          <p:nvPr/>
        </p:nvCxnSpPr>
        <p:spPr>
          <a:xfrm rot="16200000" flipV="1">
            <a:off x="5663683" y="901386"/>
            <a:ext cx="539434" cy="1897327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6E72ECBD-CF60-4CF4-81E2-5586D98B9F0D}"/>
              </a:ext>
            </a:extLst>
          </p:cNvPr>
          <p:cNvSpPr txBox="1">
            <a:spLocks/>
          </p:cNvSpPr>
          <p:nvPr/>
        </p:nvSpPr>
        <p:spPr>
          <a:xfrm>
            <a:off x="5741150" y="1383885"/>
            <a:ext cx="1060169" cy="16305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retendard Light" panose="02000503000000000000" pitchFamily="2" charset="-127"/>
                <a:ea typeface="Pretendard Light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lang="ko-KR" altLang="en-US" sz="900"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순위별 우선수익권</a:t>
            </a:r>
            <a:endParaRPr lang="en-US" altLang="ko-KR" sz="900" dirty="0"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20209C1-9188-43AA-83FE-BE6FFA339703}"/>
              </a:ext>
            </a:extLst>
          </p:cNvPr>
          <p:cNvSpPr/>
          <p:nvPr/>
        </p:nvSpPr>
        <p:spPr>
          <a:xfrm>
            <a:off x="640754" y="3608334"/>
            <a:ext cx="1749964" cy="104682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공동사업협약</a:t>
            </a:r>
            <a:endParaRPr lang="ko-KR" altLang="en-US" sz="1100" b="1" dirty="0">
              <a:solidFill>
                <a:schemeClr val="tx1"/>
              </a:solidFill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60306B3-A250-4D4F-8828-D84E5445D8D2}"/>
              </a:ext>
            </a:extLst>
          </p:cNvPr>
          <p:cNvSpPr/>
          <p:nvPr/>
        </p:nvSpPr>
        <p:spPr>
          <a:xfrm>
            <a:off x="720298" y="3915719"/>
            <a:ext cx="1590876" cy="2558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㈜</a:t>
            </a:r>
            <a:r>
              <a:rPr lang="ko-KR" altLang="en-US" sz="1000" b="1" dirty="0" err="1">
                <a:solidFill>
                  <a:schemeClr val="tx1"/>
                </a:solidFill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도시미학더벨류</a:t>
            </a:r>
            <a:endParaRPr lang="ko-KR" altLang="en-US" sz="1000" b="1" dirty="0">
              <a:solidFill>
                <a:schemeClr val="tx1"/>
              </a:solidFill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FC8935-2476-411B-BE2E-52DF0B6ECCC8}"/>
              </a:ext>
            </a:extLst>
          </p:cNvPr>
          <p:cNvSpPr/>
          <p:nvPr/>
        </p:nvSpPr>
        <p:spPr>
          <a:xfrm>
            <a:off x="720298" y="4241391"/>
            <a:ext cx="1590876" cy="3231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㈜ </a:t>
            </a:r>
            <a:r>
              <a:rPr lang="ko-KR" altLang="en-US" sz="1000" b="1" dirty="0" err="1">
                <a:solidFill>
                  <a:schemeClr val="tx1"/>
                </a:solidFill>
                <a:latin typeface="Pretendard ExtraBold" panose="02000A03000000020004" pitchFamily="50" charset="-127"/>
                <a:ea typeface="Pretendard ExtraBold" panose="02000A03000000020004" pitchFamily="50" charset="-127"/>
                <a:cs typeface="Pretendard ExtraBold" panose="02000A03000000020004" pitchFamily="50" charset="-127"/>
              </a:rPr>
              <a:t>건사리테일앤에스테이트</a:t>
            </a:r>
            <a:endParaRPr lang="ko-KR" altLang="en-US" sz="1000" b="1" dirty="0">
              <a:solidFill>
                <a:schemeClr val="tx1"/>
              </a:solidFill>
              <a:latin typeface="Pretendard ExtraBold" panose="02000A03000000020004" pitchFamily="50" charset="-127"/>
              <a:ea typeface="Pretendard ExtraBold" panose="02000A03000000020004" pitchFamily="50" charset="-127"/>
              <a:cs typeface="Pretendard ExtraBold" panose="02000A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BD6026-2174-4665-8E16-8B0195663AC1}"/>
              </a:ext>
            </a:extLst>
          </p:cNvPr>
          <p:cNvSpPr txBox="1"/>
          <p:nvPr/>
        </p:nvSpPr>
        <p:spPr>
          <a:xfrm>
            <a:off x="3499094" y="128024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E17763-2D8D-4833-B5E6-0FC195F2E49B}"/>
              </a:ext>
            </a:extLst>
          </p:cNvPr>
          <p:cNvSpPr txBox="1"/>
          <p:nvPr/>
        </p:nvSpPr>
        <p:spPr>
          <a:xfrm>
            <a:off x="3419055" y="1621143"/>
            <a:ext cx="4697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①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CFEBF2-20F8-40B5-8301-F91B43A7A900}"/>
              </a:ext>
            </a:extLst>
          </p:cNvPr>
          <p:cNvSpPr txBox="1"/>
          <p:nvPr/>
        </p:nvSpPr>
        <p:spPr>
          <a:xfrm flipH="1">
            <a:off x="908" y="3190900"/>
            <a:ext cx="870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77871E-1E79-45D6-B739-7FABE07EEBD9}"/>
              </a:ext>
            </a:extLst>
          </p:cNvPr>
          <p:cNvSpPr txBox="1"/>
          <p:nvPr/>
        </p:nvSpPr>
        <p:spPr>
          <a:xfrm flipH="1">
            <a:off x="123483" y="3634906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69B677-3CBA-46AE-A016-2D262E635AAE}"/>
              </a:ext>
            </a:extLst>
          </p:cNvPr>
          <p:cNvSpPr txBox="1"/>
          <p:nvPr/>
        </p:nvSpPr>
        <p:spPr>
          <a:xfrm flipH="1">
            <a:off x="100920" y="3940412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-2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BFC259-897B-4CBB-AF5F-0172510571E1}"/>
              </a:ext>
            </a:extLst>
          </p:cNvPr>
          <p:cNvSpPr txBox="1"/>
          <p:nvPr/>
        </p:nvSpPr>
        <p:spPr>
          <a:xfrm flipH="1">
            <a:off x="101542" y="4287569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②</a:t>
            </a:r>
            <a:r>
              <a:rPr lang="en-US" altLang="ko-KR" sz="1200" dirty="0"/>
              <a:t>-3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0DFDCD-58FC-464E-ACE6-F50AD7DFBAAF}"/>
              </a:ext>
            </a:extLst>
          </p:cNvPr>
          <p:cNvSpPr txBox="1"/>
          <p:nvPr/>
        </p:nvSpPr>
        <p:spPr>
          <a:xfrm>
            <a:off x="3453565" y="366043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③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E8B62B-3F78-4631-AB08-C2DD145171DF}"/>
              </a:ext>
            </a:extLst>
          </p:cNvPr>
          <p:cNvSpPr txBox="1"/>
          <p:nvPr/>
        </p:nvSpPr>
        <p:spPr>
          <a:xfrm>
            <a:off x="3230169" y="3960616"/>
            <a:ext cx="507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189235-3AA2-4AB7-9F95-DD092B020D25}"/>
              </a:ext>
            </a:extLst>
          </p:cNvPr>
          <p:cNvSpPr txBox="1"/>
          <p:nvPr/>
        </p:nvSpPr>
        <p:spPr>
          <a:xfrm>
            <a:off x="5741150" y="2200628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④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B9FA54-CF20-48C2-BE65-65CF69FD53CA}"/>
              </a:ext>
            </a:extLst>
          </p:cNvPr>
          <p:cNvSpPr txBox="1"/>
          <p:nvPr/>
        </p:nvSpPr>
        <p:spPr>
          <a:xfrm>
            <a:off x="5768396" y="2537030"/>
            <a:ext cx="263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5DA4D4-5219-49BA-BD5A-D7ACFEF25DB7}"/>
              </a:ext>
            </a:extLst>
          </p:cNvPr>
          <p:cNvSpPr txBox="1"/>
          <p:nvPr/>
        </p:nvSpPr>
        <p:spPr>
          <a:xfrm>
            <a:off x="5603949" y="2888928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⑤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247BD5-6347-4D1C-AE29-D234361DA803}"/>
              </a:ext>
            </a:extLst>
          </p:cNvPr>
          <p:cNvSpPr txBox="1"/>
          <p:nvPr/>
        </p:nvSpPr>
        <p:spPr>
          <a:xfrm>
            <a:off x="5774403" y="3831601"/>
            <a:ext cx="198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⑦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B260B9-2D96-4640-9751-0B239EBE06B0}"/>
              </a:ext>
            </a:extLst>
          </p:cNvPr>
          <p:cNvSpPr txBox="1"/>
          <p:nvPr/>
        </p:nvSpPr>
        <p:spPr>
          <a:xfrm>
            <a:off x="5610415" y="4268422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695248-5AC9-4949-AB3D-FC65A86D8660}"/>
              </a:ext>
            </a:extLst>
          </p:cNvPr>
          <p:cNvSpPr txBox="1"/>
          <p:nvPr/>
        </p:nvSpPr>
        <p:spPr>
          <a:xfrm>
            <a:off x="5563809" y="4595619"/>
            <a:ext cx="500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⑧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75E45A-AF76-4FF1-9629-E0D2B8146886}"/>
              </a:ext>
            </a:extLst>
          </p:cNvPr>
          <p:cNvSpPr txBox="1"/>
          <p:nvPr/>
        </p:nvSpPr>
        <p:spPr>
          <a:xfrm>
            <a:off x="9555880" y="4276969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29FBBA-209C-4907-842A-1C82857EA266}"/>
              </a:ext>
            </a:extLst>
          </p:cNvPr>
          <p:cNvSpPr txBox="1"/>
          <p:nvPr/>
        </p:nvSpPr>
        <p:spPr>
          <a:xfrm>
            <a:off x="9457662" y="4588963"/>
            <a:ext cx="5268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⑨</a:t>
            </a:r>
            <a:r>
              <a:rPr lang="en-US" altLang="ko-KR" sz="1200" dirty="0"/>
              <a:t>-1</a:t>
            </a:r>
            <a:endParaRPr lang="ko-KR" alt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C8F924-18FF-44E5-A516-34AEE0683F2E}"/>
              </a:ext>
            </a:extLst>
          </p:cNvPr>
          <p:cNvSpPr txBox="1"/>
          <p:nvPr/>
        </p:nvSpPr>
        <p:spPr>
          <a:xfrm>
            <a:off x="2608985" y="114765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ⓐ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E5F0BD-1AE6-4AC4-B495-14CCE9A1AABA}"/>
              </a:ext>
            </a:extLst>
          </p:cNvPr>
          <p:cNvSpPr txBox="1"/>
          <p:nvPr/>
        </p:nvSpPr>
        <p:spPr>
          <a:xfrm flipH="1">
            <a:off x="6075389" y="1151381"/>
            <a:ext cx="399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ⓑ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162DE4-4DD1-4D3E-BC91-9209CF087FE5}"/>
              </a:ext>
            </a:extLst>
          </p:cNvPr>
          <p:cNvSpPr txBox="1"/>
          <p:nvPr/>
        </p:nvSpPr>
        <p:spPr>
          <a:xfrm>
            <a:off x="2846966" y="3385800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8DCB32-9D3F-483F-B046-18D9AE625849}"/>
              </a:ext>
            </a:extLst>
          </p:cNvPr>
          <p:cNvSpPr txBox="1"/>
          <p:nvPr/>
        </p:nvSpPr>
        <p:spPr>
          <a:xfrm>
            <a:off x="2867325" y="4295137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ⓓ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A9DFE5-2DFA-4572-9AF0-07A864880627}"/>
              </a:ext>
            </a:extLst>
          </p:cNvPr>
          <p:cNvSpPr txBox="1"/>
          <p:nvPr/>
        </p:nvSpPr>
        <p:spPr>
          <a:xfrm>
            <a:off x="5355760" y="3430373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9AAEB0-4A69-4677-BACC-B1E2484F7021}"/>
              </a:ext>
            </a:extLst>
          </p:cNvPr>
          <p:cNvSpPr txBox="1"/>
          <p:nvPr/>
        </p:nvSpPr>
        <p:spPr>
          <a:xfrm>
            <a:off x="5326732" y="4297449"/>
            <a:ext cx="26372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ⓕ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ACFCC0-EE7A-451D-A1C5-29EFD8F8FF9D}"/>
              </a:ext>
            </a:extLst>
          </p:cNvPr>
          <p:cNvSpPr txBox="1"/>
          <p:nvPr/>
        </p:nvSpPr>
        <p:spPr>
          <a:xfrm>
            <a:off x="3733969" y="5469304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ⓖ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76D6EC-7B15-434E-92A5-C79FC7F4909D}"/>
              </a:ext>
            </a:extLst>
          </p:cNvPr>
          <p:cNvSpPr txBox="1"/>
          <p:nvPr/>
        </p:nvSpPr>
        <p:spPr>
          <a:xfrm>
            <a:off x="7732997" y="4178121"/>
            <a:ext cx="3096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ⓗ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F14B4E6F-22A4-40E2-B8EC-28B2D689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65" name="액자 64">
            <a:extLst>
              <a:ext uri="{FF2B5EF4-FFF2-40B4-BE49-F238E27FC236}">
                <a16:creationId xmlns:a16="http://schemas.microsoft.com/office/drawing/2014/main" id="{A78D5C4B-C842-43E2-8CDD-F20C1D952A99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92A039-11C9-45D0-9584-B84F64855CA9}"/>
              </a:ext>
            </a:extLst>
          </p:cNvPr>
          <p:cNvSpPr txBox="1"/>
          <p:nvPr/>
        </p:nvSpPr>
        <p:spPr>
          <a:xfrm>
            <a:off x="224600" y="400417"/>
            <a:ext cx="201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14. </a:t>
            </a:r>
            <a:r>
              <a:rPr lang="ko-KR" altLang="en-US" dirty="0" err="1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브릿지</a:t>
            </a:r>
            <a:r>
              <a:rPr lang="ko-KR" altLang="en-US" dirty="0">
                <a:latin typeface="Pretendard ExtraBold" panose="020B0600000101010101" pitchFamily="50" charset="-127"/>
                <a:ea typeface="Pretendard ExtraBold" panose="020B0600000101010101" pitchFamily="50" charset="-127"/>
              </a:rPr>
              <a:t> 담보대출</a:t>
            </a:r>
          </a:p>
        </p:txBody>
      </p:sp>
    </p:spTree>
    <p:extLst>
      <p:ext uri="{BB962C8B-B14F-4D97-AF65-F5344CB8AC3E}">
        <p14:creationId xmlns:p14="http://schemas.microsoft.com/office/powerpoint/2010/main" val="2183221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Pretendard ExtraBold"/>
        <a:cs typeface=""/>
        <a:font script="Jpan" typeface="游ゴシック Light"/>
        <a:font script="Hang" typeface="Pretendard ExtraBol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Pretendard Light"/>
        <a:cs typeface=""/>
        <a:font script="Jpan" typeface="游ゴシック"/>
        <a:font script="Hang" typeface="Pretendard Light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ExtraBold" panose="020F0302020204030204"/>
        <a:ea typeface="Pretendard ExtraBold"/>
        <a:cs typeface=""/>
        <a:font script="Jpan" typeface="游ゴシック Light"/>
        <a:font script="Hang" typeface="Pretendard ExtraBol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Light" panose="020F0502020204030204"/>
        <a:ea typeface="Pretendard Light"/>
        <a:cs typeface=""/>
        <a:font script="Jpan" typeface="游ゴシック"/>
        <a:font script="Hang" typeface="Pretendard Light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1412</TotalTime>
  <Words>1442</Words>
  <Application>Microsoft Office PowerPoint</Application>
  <PresentationFormat>A4 용지(210x297mm)</PresentationFormat>
  <Paragraphs>653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Pretendard Black</vt:lpstr>
      <vt:lpstr>맑은 고딕</vt:lpstr>
      <vt:lpstr>피플폰트 Bold</vt:lpstr>
      <vt:lpstr>피플폰트 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137</cp:revision>
  <dcterms:created xsi:type="dcterms:W3CDTF">2026-02-10T06:23:32Z</dcterms:created>
  <dcterms:modified xsi:type="dcterms:W3CDTF">2026-10-19T03:39:53Z</dcterms:modified>
</cp:coreProperties>
</file>