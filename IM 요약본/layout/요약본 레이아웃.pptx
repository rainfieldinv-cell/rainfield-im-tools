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9" r:id="rId3"/>
    <p:sldId id="270" r:id="rId4"/>
    <p:sldId id="272" r:id="rId5"/>
    <p:sldId id="260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6EAB"/>
    <a:srgbClr val="2E75B6"/>
    <a:srgbClr val="FFFFFF"/>
    <a:srgbClr val="73A9DB"/>
    <a:srgbClr val="002E56"/>
    <a:srgbClr val="01254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50" y="9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deac549ad58e74e9" providerId="LiveId" clId="{9A1C5CB3-C32B-4F76-9B5A-79D195692619}"/>
    <pc:docChg chg="undo custSel modSld">
      <pc:chgData name="" userId="deac549ad58e74e9" providerId="LiveId" clId="{9A1C5CB3-C32B-4F76-9B5A-79D195692619}" dt="2026-08-10T06:36:38.033" v="203" actId="1076"/>
      <pc:docMkLst>
        <pc:docMk/>
      </pc:docMkLst>
      <pc:sldChg chg="modSp">
        <pc:chgData name="" userId="deac549ad58e74e9" providerId="LiveId" clId="{9A1C5CB3-C32B-4F76-9B5A-79D195692619}" dt="2026-08-10T06:26:28.644" v="51" actId="20577"/>
        <pc:sldMkLst>
          <pc:docMk/>
          <pc:sldMk cId="3290786611" sldId="262"/>
        </pc:sldMkLst>
        <pc:spChg chg="mod">
          <ac:chgData name="" userId="deac549ad58e74e9" providerId="LiveId" clId="{9A1C5CB3-C32B-4F76-9B5A-79D195692619}" dt="2026-08-10T06:25:39.748" v="10" actId="20577"/>
          <ac:spMkLst>
            <pc:docMk/>
            <pc:sldMk cId="3290786611" sldId="262"/>
            <ac:spMk id="32" creationId="{EA96A542-644D-4A24-ADAE-724B9FD033EA}"/>
          </ac:spMkLst>
        </pc:spChg>
        <pc:spChg chg="mod">
          <ac:chgData name="" userId="deac549ad58e74e9" providerId="LiveId" clId="{9A1C5CB3-C32B-4F76-9B5A-79D195692619}" dt="2026-08-10T06:26:28.644" v="51" actId="20577"/>
          <ac:spMkLst>
            <pc:docMk/>
            <pc:sldMk cId="3290786611" sldId="262"/>
            <ac:spMk id="33" creationId="{C4A78911-7507-47CC-8DDD-37C0A8F35B32}"/>
          </ac:spMkLst>
        </pc:spChg>
      </pc:sldChg>
      <pc:sldChg chg="addSp delSp modSp">
        <pc:chgData name="" userId="deac549ad58e74e9" providerId="LiveId" clId="{9A1C5CB3-C32B-4F76-9B5A-79D195692619}" dt="2026-08-10T06:36:38.033" v="203" actId="1076"/>
        <pc:sldMkLst>
          <pc:docMk/>
          <pc:sldMk cId="1791971862" sldId="269"/>
        </pc:sldMkLst>
        <pc:spChg chg="add mod">
          <ac:chgData name="" userId="deac549ad58e74e9" providerId="LiveId" clId="{9A1C5CB3-C32B-4F76-9B5A-79D195692619}" dt="2026-08-10T06:36:27.190" v="200" actId="1076"/>
          <ac:spMkLst>
            <pc:docMk/>
            <pc:sldMk cId="1791971862" sldId="269"/>
            <ac:spMk id="25" creationId="{F117CA2D-D2FC-4820-948D-082385DBD7E3}"/>
          </ac:spMkLst>
        </pc:spChg>
        <pc:spChg chg="add mod">
          <ac:chgData name="" userId="deac549ad58e74e9" providerId="LiveId" clId="{9A1C5CB3-C32B-4F76-9B5A-79D195692619}" dt="2026-08-10T06:36:38.033" v="203" actId="1076"/>
          <ac:spMkLst>
            <pc:docMk/>
            <pc:sldMk cId="1791971862" sldId="269"/>
            <ac:spMk id="32" creationId="{04A25A8B-B76B-46AB-B2C5-5EB6725C8E44}"/>
          </ac:spMkLst>
        </pc:spChg>
        <pc:spChg chg="mod">
          <ac:chgData name="" userId="deac549ad58e74e9" providerId="LiveId" clId="{9A1C5CB3-C32B-4F76-9B5A-79D195692619}" dt="2026-08-10T06:33:56.971" v="188" actId="20577"/>
          <ac:spMkLst>
            <pc:docMk/>
            <pc:sldMk cId="1791971862" sldId="269"/>
            <ac:spMk id="44" creationId="{CB6DCFB6-B3CC-47EA-99D6-7AFB1B33ED07}"/>
          </ac:spMkLst>
        </pc:spChg>
        <pc:spChg chg="mod">
          <ac:chgData name="" userId="deac549ad58e74e9" providerId="LiveId" clId="{9A1C5CB3-C32B-4F76-9B5A-79D195692619}" dt="2026-08-10T06:29:07.323" v="162" actId="14100"/>
          <ac:spMkLst>
            <pc:docMk/>
            <pc:sldMk cId="1791971862" sldId="269"/>
            <ac:spMk id="46" creationId="{69DC1874-428B-4C18-AE5E-9C395B10BD5C}"/>
          </ac:spMkLst>
        </pc:spChg>
        <pc:spChg chg="mod">
          <ac:chgData name="" userId="deac549ad58e74e9" providerId="LiveId" clId="{9A1C5CB3-C32B-4F76-9B5A-79D195692619}" dt="2026-08-10T06:36:27.190" v="200" actId="1076"/>
          <ac:spMkLst>
            <pc:docMk/>
            <pc:sldMk cId="1791971862" sldId="269"/>
            <ac:spMk id="48" creationId="{D96A902C-58D1-4D00-9ADE-A5557F0D0B0B}"/>
          </ac:spMkLst>
        </pc:spChg>
        <pc:spChg chg="mod">
          <ac:chgData name="" userId="deac549ad58e74e9" providerId="LiveId" clId="{9A1C5CB3-C32B-4F76-9B5A-79D195692619}" dt="2026-08-10T06:36:30.603" v="202" actId="1076"/>
          <ac:spMkLst>
            <pc:docMk/>
            <pc:sldMk cId="1791971862" sldId="269"/>
            <ac:spMk id="49" creationId="{98B31954-C8A0-41F3-BC57-D4C12283BEA4}"/>
          </ac:spMkLst>
        </pc:spChg>
        <pc:spChg chg="mod">
          <ac:chgData name="" userId="deac549ad58e74e9" providerId="LiveId" clId="{9A1C5CB3-C32B-4F76-9B5A-79D195692619}" dt="2026-08-10T06:36:27.190" v="200" actId="1076"/>
          <ac:spMkLst>
            <pc:docMk/>
            <pc:sldMk cId="1791971862" sldId="269"/>
            <ac:spMk id="50" creationId="{9A182597-EBD9-4385-B02A-CAFA83488202}"/>
          </ac:spMkLst>
        </pc:spChg>
        <pc:spChg chg="del">
          <ac:chgData name="" userId="deac549ad58e74e9" providerId="LiveId" clId="{9A1C5CB3-C32B-4F76-9B5A-79D195692619}" dt="2026-08-10T06:34:01.894" v="190" actId="478"/>
          <ac:spMkLst>
            <pc:docMk/>
            <pc:sldMk cId="1791971862" sldId="269"/>
            <ac:spMk id="51" creationId="{C172D9C5-E87C-41FE-8BEA-B34A5A1CCCC0}"/>
          </ac:spMkLst>
        </pc:spChg>
        <pc:spChg chg="add del">
          <ac:chgData name="" userId="deac549ad58e74e9" providerId="LiveId" clId="{9A1C5CB3-C32B-4F76-9B5A-79D195692619}" dt="2026-08-10T06:34:19.539" v="194" actId="478"/>
          <ac:spMkLst>
            <pc:docMk/>
            <pc:sldMk cId="1791971862" sldId="269"/>
            <ac:spMk id="58" creationId="{634B8AB3-04E7-46F6-B972-90B9EB9DCB58}"/>
          </ac:spMkLst>
        </pc:spChg>
        <pc:grpChg chg="add mod">
          <ac:chgData name="" userId="deac549ad58e74e9" providerId="LiveId" clId="{9A1C5CB3-C32B-4F76-9B5A-79D195692619}" dt="2026-08-10T06:36:27.190" v="200" actId="1076"/>
          <ac:grpSpMkLst>
            <pc:docMk/>
            <pc:sldMk cId="1791971862" sldId="269"/>
            <ac:grpSpMk id="26" creationId="{D2A3725E-061B-48C4-BC36-39BA366FF7CE}"/>
          </ac:grpSpMkLst>
        </pc:grpChg>
        <pc:grpChg chg="add mod">
          <ac:chgData name="" userId="deac549ad58e74e9" providerId="LiveId" clId="{9A1C5CB3-C32B-4F76-9B5A-79D195692619}" dt="2026-08-10T06:36:38.033" v="203" actId="1076"/>
          <ac:grpSpMkLst>
            <pc:docMk/>
            <pc:sldMk cId="1791971862" sldId="269"/>
            <ac:grpSpMk id="33" creationId="{1D623340-CF2D-4B45-83CB-9FEFBB2A3D49}"/>
          </ac:grpSpMkLst>
        </pc:grpChg>
        <pc:grpChg chg="mod">
          <ac:chgData name="" userId="deac549ad58e74e9" providerId="LiveId" clId="{9A1C5CB3-C32B-4F76-9B5A-79D195692619}" dt="2026-08-10T06:29:19.331" v="165" actId="12788"/>
          <ac:grpSpMkLst>
            <pc:docMk/>
            <pc:sldMk cId="1791971862" sldId="269"/>
            <ac:grpSpMk id="45" creationId="{D854F264-B996-4EF5-8ED3-D3FA4BED7453}"/>
          </ac:grpSpMkLst>
        </pc:grpChg>
        <pc:grpChg chg="del">
          <ac:chgData name="" userId="deac549ad58e74e9" providerId="LiveId" clId="{9A1C5CB3-C32B-4F76-9B5A-79D195692619}" dt="2026-08-10T06:34:00.403" v="189" actId="478"/>
          <ac:grpSpMkLst>
            <pc:docMk/>
            <pc:sldMk cId="1791971862" sldId="269"/>
            <ac:grpSpMk id="52" creationId="{C7012D84-0DD3-463D-AA04-A99E2F95BAB9}"/>
          </ac:grpSpMkLst>
        </pc:grpChg>
        <pc:grpChg chg="del mod">
          <ac:chgData name="" userId="deac549ad58e74e9" providerId="LiveId" clId="{9A1C5CB3-C32B-4F76-9B5A-79D195692619}" dt="2026-08-10T06:34:03.418" v="191" actId="478"/>
          <ac:grpSpMkLst>
            <pc:docMk/>
            <pc:sldMk cId="1791971862" sldId="269"/>
            <ac:grpSpMk id="59" creationId="{FFB73DBC-F907-40BA-8BDE-16FA97D6C374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09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9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7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33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7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1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69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24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30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7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3">
            <a:extLst>
              <a:ext uri="{FF2B5EF4-FFF2-40B4-BE49-F238E27FC236}">
                <a16:creationId xmlns:a16="http://schemas.microsoft.com/office/drawing/2014/main" id="{A7223628-81DB-4D00-A34F-EFE03ACD0417}"/>
              </a:ext>
            </a:extLst>
          </p:cNvPr>
          <p:cNvSpPr/>
          <p:nvPr/>
        </p:nvSpPr>
        <p:spPr>
          <a:xfrm flipH="1" flipV="1">
            <a:off x="4236331" y="119008"/>
            <a:ext cx="5546297" cy="6630135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A03D817-1B91-49BA-BB53-55C585DA6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0" y="2930340"/>
            <a:ext cx="2665584" cy="213076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9634CABE-4CD8-4D7E-B6D3-EFA33C6FDF61}"/>
              </a:ext>
            </a:extLst>
          </p:cNvPr>
          <p:cNvGrpSpPr/>
          <p:nvPr/>
        </p:nvGrpSpPr>
        <p:grpSpPr>
          <a:xfrm>
            <a:off x="594419" y="3146343"/>
            <a:ext cx="5819777" cy="607150"/>
            <a:chOff x="638173" y="2173129"/>
            <a:chExt cx="5556310" cy="60715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96A542-644D-4A24-ADAE-724B9FD033EA}"/>
                </a:ext>
              </a:extLst>
            </p:cNvPr>
            <p:cNvSpPr txBox="1"/>
            <p:nvPr/>
          </p:nvSpPr>
          <p:spPr>
            <a:xfrm>
              <a:off x="638173" y="2315678"/>
              <a:ext cx="54129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사업명</a:t>
              </a:r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요약본</a:t>
              </a:r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)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4A78911-7507-47CC-8DDD-37C0A8F35B32}"/>
                </a:ext>
              </a:extLst>
            </p:cNvPr>
            <p:cNvSpPr txBox="1"/>
            <p:nvPr/>
          </p:nvSpPr>
          <p:spPr>
            <a:xfrm>
              <a:off x="638173" y="2549447"/>
              <a:ext cx="555631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 err="1">
                  <a:solidFill>
                    <a:schemeClr val="bg1">
                      <a:lumMod val="7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몇월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(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영어 표시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) </a:t>
              </a:r>
              <a:r>
                <a:rPr lang="ko-KR" altLang="en-US" sz="900" dirty="0" err="1">
                  <a:solidFill>
                    <a:schemeClr val="bg1">
                      <a:lumMod val="7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그해년도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(2026)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55632AE-C762-47D6-877A-EFB28D56B2F3}"/>
                </a:ext>
              </a:extLst>
            </p:cNvPr>
            <p:cNvSpPr txBox="1"/>
            <p:nvPr/>
          </p:nvSpPr>
          <p:spPr>
            <a:xfrm>
              <a:off x="657223" y="2173129"/>
              <a:ext cx="478155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Information Memorandum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</p:grpSp>
      <p:sp>
        <p:nvSpPr>
          <p:cNvPr id="8" name="액자 7">
            <a:extLst>
              <a:ext uri="{FF2B5EF4-FFF2-40B4-BE49-F238E27FC236}">
                <a16:creationId xmlns:a16="http://schemas.microsoft.com/office/drawing/2014/main" id="{BF41A14E-39F0-4FFC-B989-DEA9791388B6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CE61509-B4CA-4DD1-B45E-D0ABFE80F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71" y="127475"/>
            <a:ext cx="907166" cy="19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86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4140AFE-62BE-49FA-8861-3E7ADE540888}"/>
              </a:ext>
            </a:extLst>
          </p:cNvPr>
          <p:cNvGrpSpPr/>
          <p:nvPr/>
        </p:nvGrpSpPr>
        <p:grpSpPr>
          <a:xfrm>
            <a:off x="1016940" y="718551"/>
            <a:ext cx="3138689" cy="369332"/>
            <a:chOff x="4106291" y="765140"/>
            <a:chExt cx="3138689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E540B77-F656-4A9B-92D5-E9B60CFF6206}"/>
                </a:ext>
              </a:extLst>
            </p:cNvPr>
            <p:cNvSpPr txBox="1"/>
            <p:nvPr/>
          </p:nvSpPr>
          <p:spPr>
            <a:xfrm>
              <a:off x="4528596" y="836773"/>
              <a:ext cx="27163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Deal Highlight</a:t>
              </a:r>
            </a:p>
          </p:txBody>
        </p:sp>
        <p:pic>
          <p:nvPicPr>
            <p:cNvPr id="39" name="Picture 5">
              <a:extLst>
                <a:ext uri="{FF2B5EF4-FFF2-40B4-BE49-F238E27FC236}">
                  <a16:creationId xmlns:a16="http://schemas.microsoft.com/office/drawing/2014/main" id="{32E43EE9-97A1-4712-9D8E-C238FC4FF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6291" y="765140"/>
              <a:ext cx="432811" cy="369332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1409636-C99C-47C9-8774-A59F7529E8A8}"/>
              </a:ext>
            </a:extLst>
          </p:cNvPr>
          <p:cNvGrpSpPr/>
          <p:nvPr/>
        </p:nvGrpSpPr>
        <p:grpSpPr>
          <a:xfrm>
            <a:off x="1018805" y="1208917"/>
            <a:ext cx="7868390" cy="1598802"/>
            <a:chOff x="1018805" y="1237945"/>
            <a:chExt cx="7868390" cy="159880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026A9B-E4CD-466E-99B8-73D6F0A279C5}"/>
                </a:ext>
              </a:extLst>
            </p:cNvPr>
            <p:cNvSpPr txBox="1"/>
            <p:nvPr/>
          </p:nvSpPr>
          <p:spPr>
            <a:xfrm>
              <a:off x="1321980" y="1237945"/>
              <a:ext cx="214115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&lt;</a:t>
              </a:r>
              <a:r>
                <a:rPr lang="ko-KR" altLang="en-US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낮은 인허가 리스크</a:t>
              </a:r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&gt;</a:t>
              </a:r>
            </a:p>
          </p:txBody>
        </p:sp>
        <p:sp>
          <p:nvSpPr>
            <p:cNvPr id="42" name="양쪽 대괄호 41">
              <a:extLst>
                <a:ext uri="{FF2B5EF4-FFF2-40B4-BE49-F238E27FC236}">
                  <a16:creationId xmlns:a16="http://schemas.microsoft.com/office/drawing/2014/main" id="{A745DC86-9501-430C-AE3C-5BBB8988B60B}"/>
                </a:ext>
              </a:extLst>
            </p:cNvPr>
            <p:cNvSpPr/>
            <p:nvPr/>
          </p:nvSpPr>
          <p:spPr>
            <a:xfrm>
              <a:off x="1018805" y="1316327"/>
              <a:ext cx="7868390" cy="1520420"/>
            </a:xfrm>
            <a:prstGeom prst="bracketPair">
              <a:avLst>
                <a:gd name="adj" fmla="val 7153"/>
              </a:avLst>
            </a:prstGeom>
            <a:ln w="76200">
              <a:solidFill>
                <a:srgbClr val="629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6543732-E81F-419D-A856-9DFF9489F3B9}"/>
                </a:ext>
              </a:extLst>
            </p:cNvPr>
            <p:cNvSpPr txBox="1"/>
            <p:nvPr/>
          </p:nvSpPr>
          <p:spPr>
            <a:xfrm>
              <a:off x="1321980" y="1588328"/>
              <a:ext cx="7349580" cy="9864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285750" indent="-285750">
                <a:buFont typeface="Batang" panose="02030600000101010101" pitchFamily="18" charset="-127"/>
                <a:buChar char="→"/>
                <a:defRPr sz="1000">
                  <a:solidFill>
                    <a:srgbClr val="000000"/>
                  </a:solidFill>
                  <a:latin typeface="Pretendard ExtraBold" panose="020B0600000101010101" pitchFamily="50" charset="-127"/>
                  <a:ea typeface="Pretendard ExtraBold" panose="020B0600000101010101" pitchFamily="50" charset="-127"/>
                </a:defRPr>
              </a:lvl1pPr>
            </a:lstStyle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4-9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지구는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'25.05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사업시행인가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’25.11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관리처분인가를 완료하였으나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'25.11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월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2030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서울시 주거환경 정비기본계획 변경으로 용적률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고도제한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임대주택배치 완화 등 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사업성 개선을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 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위한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, 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인허가 변경절차 진행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중</a:t>
              </a:r>
            </a:p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본사업지 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인근지역 본건 사업과 유사한 인허가 사례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(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마포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4-10, 3-3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지구 등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)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가 다수 존재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하여 원만한 인허가 진행이 예상됨</a:t>
              </a:r>
              <a:endPara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정비계획 변경 전 기준으로도 사업수지 및 사업성이 나오는 사업장으로 변경 인허가와 관계 없이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2027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년 상반기 내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PF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및 착공 예정 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7BEEA16-3AC0-40C4-95D7-062C30542920}"/>
              </a:ext>
            </a:extLst>
          </p:cNvPr>
          <p:cNvGrpSpPr/>
          <p:nvPr/>
        </p:nvGrpSpPr>
        <p:grpSpPr>
          <a:xfrm>
            <a:off x="1018805" y="3117750"/>
            <a:ext cx="7868390" cy="1176281"/>
            <a:chOff x="1018805" y="3051764"/>
            <a:chExt cx="7868390" cy="1176281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CE5753D-5C47-4F51-9DAF-F702896295A4}"/>
                </a:ext>
              </a:extLst>
            </p:cNvPr>
            <p:cNvSpPr txBox="1"/>
            <p:nvPr/>
          </p:nvSpPr>
          <p:spPr>
            <a:xfrm>
              <a:off x="1321980" y="3051764"/>
              <a:ext cx="408953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&lt;</a:t>
              </a:r>
              <a:r>
                <a:rPr lang="ko-KR" altLang="en-US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토지확보 완료 예정 </a:t>
              </a:r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/ </a:t>
              </a:r>
              <a:r>
                <a:rPr lang="ko-KR" altLang="en-US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명도 협의 완료</a:t>
              </a:r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 &gt;</a:t>
              </a:r>
            </a:p>
          </p:txBody>
        </p:sp>
        <p:sp>
          <p:nvSpPr>
            <p:cNvPr id="53" name="양쪽 대괄호 52">
              <a:extLst>
                <a:ext uri="{FF2B5EF4-FFF2-40B4-BE49-F238E27FC236}">
                  <a16:creationId xmlns:a16="http://schemas.microsoft.com/office/drawing/2014/main" id="{2BE66430-D183-4B60-9F84-AEADB7D103FD}"/>
                </a:ext>
              </a:extLst>
            </p:cNvPr>
            <p:cNvSpPr/>
            <p:nvPr/>
          </p:nvSpPr>
          <p:spPr>
            <a:xfrm>
              <a:off x="1018805" y="3104202"/>
              <a:ext cx="7868390" cy="1123843"/>
            </a:xfrm>
            <a:prstGeom prst="bracketPair">
              <a:avLst>
                <a:gd name="adj" fmla="val 10527"/>
              </a:avLst>
            </a:prstGeom>
            <a:ln w="76200">
              <a:solidFill>
                <a:srgbClr val="629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93A994E-6E31-4A30-9216-18E162286B7E}"/>
                </a:ext>
              </a:extLst>
            </p:cNvPr>
            <p:cNvSpPr txBox="1"/>
            <p:nvPr/>
          </p:nvSpPr>
          <p:spPr>
            <a:xfrm>
              <a:off x="1321980" y="3372877"/>
              <a:ext cx="7349580" cy="7405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285750" indent="-285750">
                <a:buFont typeface="Batang" panose="02030600000101010101" pitchFamily="18" charset="-127"/>
                <a:buChar char="→"/>
                <a:defRPr sz="1000">
                  <a:solidFill>
                    <a:srgbClr val="000000"/>
                  </a:solidFill>
                  <a:latin typeface="Pretendard ExtraBold" panose="020B0600000101010101" pitchFamily="50" charset="-127"/>
                  <a:ea typeface="Pretendard ExtraBold" panose="020B0600000101010101" pitchFamily="50" charset="-127"/>
                </a:defRPr>
              </a:lvl1pPr>
            </a:lstStyle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본 건 대출 이후 사업구역 내 </a:t>
              </a:r>
              <a:r>
                <a:rPr lang="ko-KR" altLang="en-US" sz="1100" u="sng" dirty="0" err="1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기계약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 토지 및 협의매수 토지 소유권 우선 확보하여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, 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사업구역 內 사유지 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100%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에 대하여 소유권 이전 완료 예정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으로 토지 확보 및 사업비 증가 위험 제한적 </a:t>
              </a:r>
              <a:endPara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명도 대상 토지에 대한 </a:t>
              </a:r>
              <a:r>
                <a:rPr lang="ko-KR" altLang="en-US" sz="11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대주가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인정할 만한 수준의 명도확약서 제출하여 명도 리스크 적음</a:t>
              </a:r>
              <a:r>
                <a:rPr lang="en-US" altLang="ko-KR" sz="1100" u="sng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 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(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명도 확약서 제출 선행 조건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)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01D1B3D-CB6B-41A3-8C4D-090AEAA08D52}"/>
              </a:ext>
            </a:extLst>
          </p:cNvPr>
          <p:cNvGrpSpPr/>
          <p:nvPr/>
        </p:nvGrpSpPr>
        <p:grpSpPr>
          <a:xfrm>
            <a:off x="1018805" y="4595939"/>
            <a:ext cx="7868390" cy="1815368"/>
            <a:chOff x="1018805" y="4550310"/>
            <a:chExt cx="7868390" cy="1815368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CDA8AFE-B082-489C-B2F8-19B16EFB6E75}"/>
                </a:ext>
              </a:extLst>
            </p:cNvPr>
            <p:cNvSpPr txBox="1"/>
            <p:nvPr/>
          </p:nvSpPr>
          <p:spPr>
            <a:xfrm>
              <a:off x="1321980" y="4550310"/>
              <a:ext cx="408953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&lt;</a:t>
              </a:r>
              <a:r>
                <a:rPr lang="ko-KR" altLang="en-US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높은 </a:t>
              </a:r>
              <a:r>
                <a:rPr lang="ko-KR" altLang="en-US" sz="1600" dirty="0" err="1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분양성</a:t>
              </a:r>
              <a:r>
                <a:rPr lang="ko-KR" altLang="en-US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 및 사업 </a:t>
              </a:r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Buffer&gt;</a:t>
              </a:r>
            </a:p>
          </p:txBody>
        </p:sp>
        <p:sp>
          <p:nvSpPr>
            <p:cNvPr id="60" name="양쪽 대괄호 59">
              <a:extLst>
                <a:ext uri="{FF2B5EF4-FFF2-40B4-BE49-F238E27FC236}">
                  <a16:creationId xmlns:a16="http://schemas.microsoft.com/office/drawing/2014/main" id="{835038CB-D2B3-4F32-BA7F-1610E5F3BF35}"/>
                </a:ext>
              </a:extLst>
            </p:cNvPr>
            <p:cNvSpPr/>
            <p:nvPr/>
          </p:nvSpPr>
          <p:spPr>
            <a:xfrm>
              <a:off x="1018805" y="4654350"/>
              <a:ext cx="7868390" cy="1711327"/>
            </a:xfrm>
            <a:prstGeom prst="bracketPair">
              <a:avLst>
                <a:gd name="adj" fmla="val 7630"/>
              </a:avLst>
            </a:prstGeom>
            <a:ln w="76200">
              <a:solidFill>
                <a:srgbClr val="629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6E1E93D-3969-4586-95CB-6A5E9827D839}"/>
                </a:ext>
              </a:extLst>
            </p:cNvPr>
            <p:cNvSpPr txBox="1"/>
            <p:nvPr/>
          </p:nvSpPr>
          <p:spPr>
            <a:xfrm>
              <a:off x="1321980" y="4871423"/>
              <a:ext cx="7349580" cy="14942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285750" indent="-285750">
                <a:buFont typeface="Batang" panose="02030600000101010101" pitchFamily="18" charset="-127"/>
                <a:buChar char="→"/>
                <a:defRPr sz="1000">
                  <a:solidFill>
                    <a:srgbClr val="000000"/>
                  </a:solidFill>
                  <a:latin typeface="Pretendard ExtraBold" panose="020B0600000101010101" pitchFamily="50" charset="-127"/>
                  <a:ea typeface="Pretendard ExtraBold" panose="020B0600000101010101" pitchFamily="50" charset="-127"/>
                </a:defRPr>
              </a:lvl1pPr>
            </a:lstStyle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본 건 사업지는 서울 지하철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호선 신촌역 및 </a:t>
              </a:r>
              <a:r>
                <a:rPr lang="ko-KR" altLang="en-US" sz="11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경의중앙선역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역 인근 버스정류장과 도보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5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분 이내에 위치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인근 공동주택 매매시세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(7,900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만원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평 내외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최근 분양사례인 </a:t>
              </a:r>
              <a:r>
                <a:rPr lang="ko-KR" altLang="en-US" sz="11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공덕역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11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자이르네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(7,100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만원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평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충정로역 </a:t>
              </a:r>
              <a:r>
                <a:rPr lang="ko-KR" altLang="en-US" sz="11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자이르네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(7,061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만원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평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와 비교 시 </a:t>
              </a:r>
              <a:r>
                <a:rPr lang="ko-KR" altLang="en-US" sz="1100" u="sng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본건 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공동주택 평균 계획 분양가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(6,500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만원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/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평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)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는 시세 대비 </a:t>
              </a:r>
              <a:r>
                <a:rPr lang="ko-KR" altLang="en-US" sz="1100" u="sng" dirty="0" err="1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메리트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 있는 금액으로 판단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 </a:t>
              </a:r>
            </a:p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공사비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950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만원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평 가정되어 있어 최근 사례 대비 합리적인 수준이며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사업이익 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24% 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이상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, 1,637 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억원의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 </a:t>
              </a:r>
              <a:r>
                <a:rPr lang="ko-KR" altLang="en-US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사업이익 버퍼가 충분</a:t>
              </a:r>
              <a:r>
                <a:rPr lang="en-US" altLang="ko-KR" sz="1100" u="sng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모두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2027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년 내 착공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분양이 가능하여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신촌 역세권 입지와 서울내 주택공급이 제한적인 시장상황에서 시장 내 대기수요가 많을 것으로 기대됨</a:t>
              </a:r>
              <a:endPara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197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5C6F44-6AA2-4FB6-82BB-DF652FEF5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234695"/>
              </p:ext>
            </p:extLst>
          </p:nvPr>
        </p:nvGraphicFramePr>
        <p:xfrm>
          <a:off x="4800022" y="502657"/>
          <a:ext cx="4935599" cy="3020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09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금융구조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부동산담보대출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5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차주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디케이마포홀딩스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5401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대출금액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및 조건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※ LTV 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삼창감정평가법인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/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국공유지 및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기부채납필지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제외 기준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(’26.07.)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00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주요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채권보전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본건 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부동산담보신탁 </a:t>
                      </a:r>
                      <a:r>
                        <a:rPr lang="en-US" altLang="ko-KR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순위 우선수익권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설정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대출약정금의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120%)</a:t>
                      </a:r>
                    </a:p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㈜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도시미학더밸류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㈜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건사리테일앤에스테이트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법인 연대보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증</a:t>
                      </a:r>
                      <a:endParaRPr lang="en-US" altLang="ko-KR" sz="900" b="1" u="sng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대출 전기간 이자 확보</a:t>
                      </a:r>
                    </a:p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시행권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포기 및 사업주체 변경각서 등 제출</a:t>
                      </a:r>
                    </a:p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공매요청권 등 담보계약 상 담보권의 행사는 각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대주가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단독으로 행사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55501"/>
                  </a:ext>
                </a:extLst>
              </a:tr>
              <a:tr h="83000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주요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인출선행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조건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본건 담보대상 토지 전체에 대한 매매계약서</a:t>
                      </a:r>
                      <a:r>
                        <a:rPr lang="en-US" altLang="ko-KR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갱신 등 포함</a:t>
                      </a:r>
                      <a:r>
                        <a:rPr lang="en-US" altLang="ko-KR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 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징수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명도 대상 토지에 대한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대주가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인정할 만한 수준의 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명도확약서 제출</a:t>
                      </a:r>
                    </a:p>
                    <a:p>
                      <a:pPr marL="266700" lvl="0" indent="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기존 소유권 확보부지의 경우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기징구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명도확약서를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현시점 기준으로 갱신하여 제출하고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본건 대출 실행을 통해 소유권 확보 예정인 토지의 경우 각 매도인으로부터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명도확약서를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징구하여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제출할 것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268051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36B378D-DD39-40E2-B74B-D0C51F102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038332"/>
              </p:ext>
            </p:extLst>
          </p:nvPr>
        </p:nvGraphicFramePr>
        <p:xfrm>
          <a:off x="5658820" y="891457"/>
          <a:ext cx="3942955" cy="662541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74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301">
                  <a:extLst>
                    <a:ext uri="{9D8B030D-6E8A-4147-A177-3AD203B41FA5}">
                      <a16:colId xmlns:a16="http://schemas.microsoft.com/office/drawing/2014/main" val="1942631606"/>
                    </a:ext>
                  </a:extLst>
                </a:gridCol>
                <a:gridCol w="1169301">
                  <a:extLst>
                    <a:ext uri="{9D8B030D-6E8A-4147-A177-3AD203B41FA5}">
                      <a16:colId xmlns:a16="http://schemas.microsoft.com/office/drawing/2014/main" val="2438378185"/>
                    </a:ext>
                  </a:extLst>
                </a:gridCol>
              </a:tblGrid>
              <a:tr h="146839"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1100" kern="12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altLang="en-US" sz="1100" kern="1200" dirty="0">
                        <a:solidFill>
                          <a:srgbClr val="000000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1100" kern="1200" dirty="0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Tr. </a:t>
                      </a:r>
                      <a:r>
                        <a:rPr lang="en-US" sz="1100" kern="1200" dirty="0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</a:t>
                      </a:r>
                      <a:endParaRPr lang="ko-KR" altLang="en-US" sz="1100" kern="1200" dirty="0">
                        <a:solidFill>
                          <a:srgbClr val="000000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1100" kern="1200" dirty="0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Tr. </a:t>
                      </a:r>
                      <a:r>
                        <a:rPr lang="en-US" sz="1100" kern="1200" dirty="0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</a:t>
                      </a:r>
                      <a:endParaRPr lang="ko-KR" altLang="en-US" sz="1100" kern="1200" dirty="0">
                        <a:solidFill>
                          <a:srgbClr val="000000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1100" kern="12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합계</a:t>
                      </a:r>
                      <a:endParaRPr lang="ko-KR" altLang="en-US" sz="1100" kern="1200" dirty="0">
                        <a:solidFill>
                          <a:srgbClr val="000000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26"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대출금액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억원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1,200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500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1,700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771107"/>
                  </a:ext>
                </a:extLst>
              </a:tr>
              <a:tr h="140626"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대출기간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(월)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460269"/>
                  </a:ext>
                </a:extLst>
              </a:tr>
              <a:tr h="194291"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LTV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52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.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.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감정가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280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억원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7180" marT="0" marB="0" anchor="ctr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098454"/>
                  </a:ext>
                </a:extLst>
              </a:tr>
            </a:tbl>
          </a:graphicData>
        </a:graphic>
      </p:graphicFrame>
      <p:pic>
        <p:nvPicPr>
          <p:cNvPr id="21" name="그림 20">
            <a:extLst>
              <a:ext uri="{FF2B5EF4-FFF2-40B4-BE49-F238E27FC236}">
                <a16:creationId xmlns:a16="http://schemas.microsoft.com/office/drawing/2014/main" id="{EA107C45-0DFB-4E1E-90F0-48265B956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504188" cy="107950"/>
          </a:xfrm>
          <a:prstGeom prst="rect">
            <a:avLst/>
          </a:prstGeom>
        </p:spPr>
      </p:pic>
      <p:sp>
        <p:nvSpPr>
          <p:cNvPr id="17" name="액자 16">
            <a:extLst>
              <a:ext uri="{FF2B5EF4-FFF2-40B4-BE49-F238E27FC236}">
                <a16:creationId xmlns:a16="http://schemas.microsoft.com/office/drawing/2014/main" id="{BDFE1491-F180-4DEA-8A15-4CBB9F4492CD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CC93D6-D79C-456D-B8BC-8900A9284217}"/>
              </a:ext>
            </a:extLst>
          </p:cNvPr>
          <p:cNvSpPr txBox="1"/>
          <p:nvPr/>
        </p:nvSpPr>
        <p:spPr>
          <a:xfrm>
            <a:off x="4818371" y="301603"/>
            <a:ext cx="1617441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기초자산 담보대출 주요 조건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FB70BF-1BA2-4119-9D1B-E1339674D5C3}"/>
              </a:ext>
            </a:extLst>
          </p:cNvPr>
          <p:cNvSpPr txBox="1"/>
          <p:nvPr/>
        </p:nvSpPr>
        <p:spPr>
          <a:xfrm>
            <a:off x="242948" y="338761"/>
            <a:ext cx="1467491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en-US" altLang="ko-KR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Overview</a:t>
            </a:r>
            <a:endParaRPr lang="ko-KR" altLang="en-US" sz="900" b="1" dirty="0">
              <a:solidFill>
                <a:srgbClr val="012549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8479BD-5707-42EC-9702-9E1F2BB2ABAA}"/>
              </a:ext>
            </a:extLst>
          </p:cNvPr>
          <p:cNvSpPr txBox="1"/>
          <p:nvPr/>
        </p:nvSpPr>
        <p:spPr>
          <a:xfrm>
            <a:off x="4828883" y="3555162"/>
            <a:ext cx="1806643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담보토지 매입 현황</a:t>
            </a:r>
            <a:endParaRPr lang="ko-KR" altLang="en-US" sz="800" b="1" dirty="0">
              <a:solidFill>
                <a:srgbClr val="012549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777ADC5-CAC6-48DF-ABD1-82C1BF4C3F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670" r="-29"/>
          <a:stretch/>
        </p:blipFill>
        <p:spPr>
          <a:xfrm>
            <a:off x="4828883" y="3752780"/>
            <a:ext cx="1806643" cy="1692655"/>
          </a:xfrm>
          <a:prstGeom prst="rect">
            <a:avLst/>
          </a:prstGeom>
        </p:spPr>
      </p:pic>
      <p:graphicFrame>
        <p:nvGraphicFramePr>
          <p:cNvPr id="19" name="Table 17">
            <a:extLst>
              <a:ext uri="{FF2B5EF4-FFF2-40B4-BE49-F238E27FC236}">
                <a16:creationId xmlns:a16="http://schemas.microsoft.com/office/drawing/2014/main" id="{8104866C-3048-4C7F-9A95-7A0B8421F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059348"/>
              </p:ext>
            </p:extLst>
          </p:nvPr>
        </p:nvGraphicFramePr>
        <p:xfrm>
          <a:off x="6688667" y="3744228"/>
          <a:ext cx="3046954" cy="1692655"/>
        </p:xfrm>
        <a:graphic>
          <a:graphicData uri="http://schemas.openxmlformats.org/drawingml/2006/table">
            <a:tbl>
              <a:tblPr/>
              <a:tblGrid>
                <a:gridCol w="3046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92655"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당 사업은 토지 등 소유자 방식의 재개발사업으로 해당 사업자가 사업을 시행하려는 경우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분의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이상의 토지 등 소유자의 동의와 토지 면적의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분의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이상의 동의를 받아야 함</a:t>
                      </a:r>
                      <a:endParaRPr lang="ko-KR" altLang="en-US" sz="1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  <a:p>
                      <a:pPr marL="171450" indent="-171450" algn="l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`22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년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월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브릿지대출을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통하여 동의자수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21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건 중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14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건에 대해 소유권이전 하였으며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이후 추가 매매계약 체결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건 및 국공유지 합산 시 총 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동의자 수는 총 </a:t>
                      </a:r>
                      <a:r>
                        <a:rPr lang="en-US" altLang="ko-KR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20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건으로 인원수 대비 </a:t>
                      </a:r>
                      <a:r>
                        <a:rPr lang="en-US" altLang="ko-KR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95.2%, 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총 면적대비 </a:t>
                      </a:r>
                      <a:r>
                        <a:rPr lang="en-US" altLang="ko-KR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79.5% 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확보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marL="171450" indent="-171450" algn="l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잔여토지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건의 경우 협의매수로 확보 예정임</a:t>
                      </a:r>
                    </a:p>
                  </a:txBody>
                  <a:tcPr marL="72000" marR="72000" marT="0" marB="0" anchor="ctr">
                    <a:lnL w="0" cap="flat" cmpd="sng" algn="ctr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2806B03D-5F96-439C-BF7C-1CD03F434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885776"/>
              </p:ext>
            </p:extLst>
          </p:nvPr>
        </p:nvGraphicFramePr>
        <p:xfrm>
          <a:off x="4828883" y="5504438"/>
          <a:ext cx="4906738" cy="1150363"/>
        </p:xfrm>
        <a:graphic>
          <a:graphicData uri="http://schemas.openxmlformats.org/drawingml/2006/table">
            <a:tbl>
              <a:tblPr/>
              <a:tblGrid>
                <a:gridCol w="71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13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97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43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17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3307">
                <a:tc row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토지등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소유자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(명)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면적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필지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수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0521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</a:t>
                      </a:r>
                      <a:r>
                        <a:rPr lang="en-US" altLang="ko-KR" sz="900" b="0" kern="1200" baseline="300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</a:t>
                      </a:r>
                      <a:endParaRPr lang="ko-KR" altLang="en-US" sz="900" b="0" kern="1200" baseline="300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평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307"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소유권이전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14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CBD9E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66.7%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CBD9E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2,580.4 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CBD9E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54.7%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CBD9E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780.5 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CBD9E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54.7%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CBD9E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CBD9E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43.5%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CBD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307"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계약완료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EBD9A7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14.3%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EBD9A7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693.8 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EBD9A7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14.7%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EBD9A7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209.9 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EBD9A7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14.7%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EBD9A7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EBD9A7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8.7%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EBD9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307"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국공유지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FFD1A3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14.3%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FFD1A3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475.2 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FFD1A3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10.1%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FFD1A3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143.7 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FFD1A3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10.1%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FFD1A3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FFD1A3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26.1%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FFD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307"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계약예정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4.8%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967.9 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20.5%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292.8 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20.5%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21.7%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6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307"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합계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889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21 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889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100.0%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889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4,717.3 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889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100.0%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889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1,426.9 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889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100.0%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889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46 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889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100.0%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23" name="표 16">
            <a:extLst>
              <a:ext uri="{FF2B5EF4-FFF2-40B4-BE49-F238E27FC236}">
                <a16:creationId xmlns:a16="http://schemas.microsoft.com/office/drawing/2014/main" id="{EDEA6F0A-A6ED-49D5-AA1B-E9C104DB0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343377"/>
              </p:ext>
            </p:extLst>
          </p:nvPr>
        </p:nvGraphicFramePr>
        <p:xfrm>
          <a:off x="242948" y="3206338"/>
          <a:ext cx="4476613" cy="1477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19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사모사채명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71438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TBD(신규 유동화 SPC) 제1회 무기명식 무보증 사모사채</a:t>
                      </a: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19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사채 유형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720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국내 전자등록 또는 실물 발행, 무기명식 무보증 사모사채</a:t>
                      </a: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19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발행인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720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TBD(신규 유동화 SPC)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19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기초자산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720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신촌지역 정비4구역 4-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9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지구 공동주택 개발사업 토지담보대출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Tr.B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대출채권</a:t>
                      </a: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19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발행금액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720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500억원 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19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발행일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720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2026년 10월(예정)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19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만기일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720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lang="en-US"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발행일로부터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약 12개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월</a:t>
                      </a:r>
                      <a:endParaRPr 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19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금융조건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720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채권 금리: 연 [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9.0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]%(고정,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세전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</a:t>
                      </a:r>
                      <a:endParaRPr 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849041"/>
                  </a:ext>
                </a:extLst>
              </a:tr>
              <a:tr h="16419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이자지급주기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720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3개월 단위 후취 또는 만기 전액 후취</a:t>
                      </a: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42156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FC6698C-C990-419C-9870-54E522DFD19F}"/>
              </a:ext>
            </a:extLst>
          </p:cNvPr>
          <p:cNvSpPr txBox="1"/>
          <p:nvPr/>
        </p:nvSpPr>
        <p:spPr>
          <a:xfrm>
            <a:off x="242948" y="3003966"/>
            <a:ext cx="1467491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사모사채 개요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5039FA-C5B3-456E-97F8-A7BA7035C224}"/>
              </a:ext>
            </a:extLst>
          </p:cNvPr>
          <p:cNvSpPr txBox="1"/>
          <p:nvPr/>
        </p:nvSpPr>
        <p:spPr>
          <a:xfrm>
            <a:off x="226017" y="530568"/>
            <a:ext cx="4476612" cy="24563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 lIns="72000" tIns="72000" rIns="180000" bIns="72000" rtlCol="0" anchor="t">
            <a:spAutoFit/>
          </a:bodyPr>
          <a:lstStyle/>
          <a:p>
            <a:pPr marL="182563" indent="-182563" algn="just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본 사업은 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『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도시 및 주거환경정비법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』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따른 도시정비형 재개발사업 내 토지 등 소유자 방식의 재개발사업으로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 고시 제 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2014-304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정비구역 지정된 마포구 노고산동 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106-9 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번지 일대 </a:t>
            </a:r>
            <a:r>
              <a:rPr lang="ko-KR" altLang="en-US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정비</a:t>
            </a:r>
            <a:r>
              <a:rPr lang="en-US" altLang="ko-KR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</a:t>
            </a:r>
            <a:r>
              <a:rPr lang="ko-KR" altLang="en-US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구역 내 </a:t>
            </a:r>
            <a:r>
              <a:rPr lang="en-US" altLang="ko-KR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9</a:t>
            </a:r>
            <a:r>
              <a:rPr lang="ko-KR" altLang="en-US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지구</a:t>
            </a:r>
            <a:r>
              <a:rPr lang="en-US" altLang="ko-KR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en-US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공동주택 </a:t>
            </a:r>
            <a:r>
              <a:rPr lang="en-US" altLang="ko-KR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383</a:t>
            </a:r>
            <a:r>
              <a:rPr lang="ko-KR" altLang="en-US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세대 및 근린생활시설</a:t>
            </a:r>
            <a:r>
              <a:rPr lang="en-US" altLang="ko-KR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ko-KR" altLang="en-US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 개발하는 사업임</a:t>
            </a:r>
            <a:endParaRPr lang="en-US" altLang="ko-KR" sz="900" u="sng" dirty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182563" indent="-182563" algn="just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400" u="sng" dirty="0">
              <a:solidFill>
                <a:srgbClr val="00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182563" indent="-182563" algn="just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4-9 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지구는 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'25.05 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사업시행인가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’25.11 </a:t>
            </a:r>
            <a:r>
              <a:rPr lang="ko-KR" altLang="en-US" sz="900" u="sng" dirty="0">
                <a:solidFill>
                  <a:srgbClr val="00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관리처분인가를 완료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하였으나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'25.11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월 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2030 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서울시 주거환경 정비기본계획 변경으로 용적률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고도제한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임대주택 배치 완화 등으로 </a:t>
            </a:r>
            <a:r>
              <a:rPr lang="ko-KR" altLang="en-US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사업성의 개선을 위한 인허가 변경절차 진행 중</a:t>
            </a:r>
            <a:r>
              <a:rPr lang="en-US" altLang="ko-KR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en-US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주민공람 완료</a:t>
            </a:r>
            <a:r>
              <a:rPr lang="en-US" altLang="ko-KR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12</a:t>
            </a:r>
            <a:r>
              <a:rPr lang="ko-KR" altLang="en-US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변경 고시 예상</a:t>
            </a:r>
            <a:r>
              <a:rPr lang="en-US" altLang="ko-KR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</a:p>
          <a:p>
            <a:pPr marL="182563" indent="-182563" algn="just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400" u="sng" dirty="0">
              <a:solidFill>
                <a:srgbClr val="00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182563" indent="-182563" algn="just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토지매입비 및 부대비용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금융비 등의 사업비를 위한 총 대출금 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1,700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억원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[Tr. A 1,200</a:t>
            </a:r>
            <a:r>
              <a:rPr lang="ko-KR" altLang="en-US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억원</a:t>
            </a:r>
            <a:r>
              <a:rPr lang="en-US" altLang="ko-KR" sz="9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(LTV 52.6%), </a:t>
            </a:r>
            <a:r>
              <a:rPr lang="en-US" altLang="ko-KR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Tr. B 500</a:t>
            </a:r>
            <a:r>
              <a:rPr lang="ko-KR" altLang="en-US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억원</a:t>
            </a:r>
            <a:r>
              <a:rPr lang="en-US" altLang="ko-KR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(LTV 74.6%), </a:t>
            </a:r>
            <a:r>
              <a:rPr lang="ko-KR" altLang="en-US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조달하고자 하며 이 중 </a:t>
            </a:r>
            <a:r>
              <a:rPr lang="en-US" altLang="ko-KR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Tr. B  </a:t>
            </a:r>
            <a:r>
              <a:rPr lang="ko-KR" altLang="en-US" sz="900" u="sng" dirty="0">
                <a:solidFill>
                  <a:srgbClr val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대출을 기초자산으로 발행하는 사모사채 건임 </a:t>
            </a:r>
            <a:endParaRPr lang="en-US" altLang="ko-KR" sz="900" u="sng" dirty="0">
              <a:solidFill>
                <a:srgbClr val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224293C1-9E16-4331-867E-0DD0789CB7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3388" t="-2308" r="-7510" b="-2308"/>
          <a:stretch/>
        </p:blipFill>
        <p:spPr>
          <a:xfrm>
            <a:off x="224600" y="4773346"/>
            <a:ext cx="4478029" cy="18814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59184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표 16">
            <a:extLst>
              <a:ext uri="{FF2B5EF4-FFF2-40B4-BE49-F238E27FC236}">
                <a16:creationId xmlns:a16="http://schemas.microsoft.com/office/drawing/2014/main" id="{4F870127-2CDB-43B1-AD7F-FE47CC8C2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902359"/>
              </p:ext>
            </p:extLst>
          </p:nvPr>
        </p:nvGraphicFramePr>
        <p:xfrm>
          <a:off x="224600" y="532435"/>
          <a:ext cx="4478029" cy="353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14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사업명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신촌지역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마포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4-9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지구 도시정비형 재개발구역 공동주택 개발사업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00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위치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서울특별시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마포구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노고산동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106-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9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번지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일원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8833" marR="0" marT="36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14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지역지구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일반상업지역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지구단위계획구역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도시환경정비구역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과밀억제권역</a:t>
                      </a:r>
                    </a:p>
                  </a:txBody>
                  <a:tcPr marL="68833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5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용도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공동주택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아파트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공공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임대주택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포함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),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근린생활시설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8833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14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규모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공동주택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383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세대, 지하7층, 지상4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8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층, 2개동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8833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78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면적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 sz="1050">
                          <a:latin typeface="Pretendard ExtraBold"/>
                        </a:defRPr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08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1" name="그림 20">
            <a:extLst>
              <a:ext uri="{FF2B5EF4-FFF2-40B4-BE49-F238E27FC236}">
                <a16:creationId xmlns:a16="http://schemas.microsoft.com/office/drawing/2014/main" id="{EA107C45-0DFB-4E1E-90F0-48265B956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504188" cy="107950"/>
          </a:xfrm>
          <a:prstGeom prst="rect">
            <a:avLst/>
          </a:prstGeom>
        </p:spPr>
      </p:pic>
      <p:sp>
        <p:nvSpPr>
          <p:cNvPr id="17" name="액자 16">
            <a:extLst>
              <a:ext uri="{FF2B5EF4-FFF2-40B4-BE49-F238E27FC236}">
                <a16:creationId xmlns:a16="http://schemas.microsoft.com/office/drawing/2014/main" id="{BDFE1491-F180-4DEA-8A15-4CBB9F4492CD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7FF97CA-23F8-46CD-9314-81F6F7A00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250584"/>
              </p:ext>
            </p:extLst>
          </p:nvPr>
        </p:nvGraphicFramePr>
        <p:xfrm>
          <a:off x="4800368" y="4732399"/>
          <a:ext cx="4881032" cy="1866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400">
                  <a:extLst>
                    <a:ext uri="{9D8B030D-6E8A-4147-A177-3AD203B41FA5}">
                      <a16:colId xmlns:a16="http://schemas.microsoft.com/office/drawing/2014/main" val="367595970"/>
                    </a:ext>
                  </a:extLst>
                </a:gridCol>
              </a:tblGrid>
              <a:tr h="169727">
                <a:tc rowSpan="9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완료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25400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140" algn="l"/>
                        </a:tabLs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`22.10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b="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정비계획 변경 고시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72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25400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140" algn="l"/>
                        </a:tabLs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`23.01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교통영향평가 심의 완료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-25400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140" algn="l"/>
                        </a:tabLs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`23.04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소방성능위주설계 심의 완료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956713"/>
                  </a:ext>
                </a:extLst>
              </a:tr>
              <a:tr h="169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-25400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140" algn="l"/>
                        </a:tabLs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`23.08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사업인정 신청 관련도서 제출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037863"/>
                  </a:ext>
                </a:extLst>
              </a:tr>
              <a:tr h="169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-25400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140" algn="l"/>
                        </a:tabLs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`24.10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정비계획 변경 고시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2886"/>
                  </a:ext>
                </a:extLst>
              </a:tr>
              <a:tr h="169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-25400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140" algn="l"/>
                        </a:tabLs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`25.05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사업시행 변경인가 고시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839748"/>
                  </a:ext>
                </a:extLst>
              </a:tr>
              <a:tr h="169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-25400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140" algn="l"/>
                        </a:tabLs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`25.11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관리처분계획인가 고시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941211"/>
                  </a:ext>
                </a:extLst>
              </a:tr>
              <a:tr h="169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-25400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140" algn="l"/>
                        </a:tabLs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`26.04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정비계획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변경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입안 신청 및 미확보 토지 수용재결 신청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052506"/>
                  </a:ext>
                </a:extLst>
              </a:tr>
              <a:tr h="169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-25400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140" algn="l"/>
                        </a:tabLs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`26.07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서울시 신속통합기획 자문회의 완료 및 조치계획 제출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576844"/>
                  </a:ext>
                </a:extLst>
              </a:tr>
              <a:tr h="16972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예정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25400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140" algn="l"/>
                        </a:tabLs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’26.12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정비계획 변경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공동주택 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383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세대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 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완료 및 사업시행인가 변경 접수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시공사 선정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72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25400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31140" algn="l"/>
                        </a:tabLs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’27.09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본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PF 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전환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55B9265-5AAB-4BA5-8646-EFF3B7873086}"/>
              </a:ext>
            </a:extLst>
          </p:cNvPr>
          <p:cNvSpPr txBox="1"/>
          <p:nvPr/>
        </p:nvSpPr>
        <p:spPr>
          <a:xfrm>
            <a:off x="4815948" y="4526506"/>
            <a:ext cx="1806643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사업일정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FB70BF-1BA2-4119-9D1B-E1339674D5C3}"/>
              </a:ext>
            </a:extLst>
          </p:cNvPr>
          <p:cNvSpPr txBox="1"/>
          <p:nvPr/>
        </p:nvSpPr>
        <p:spPr>
          <a:xfrm>
            <a:off x="242948" y="338761"/>
            <a:ext cx="1467491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사업개요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8479BD-5707-42EC-9702-9E1F2BB2ABAA}"/>
              </a:ext>
            </a:extLst>
          </p:cNvPr>
          <p:cNvSpPr txBox="1"/>
          <p:nvPr/>
        </p:nvSpPr>
        <p:spPr>
          <a:xfrm>
            <a:off x="4828883" y="301603"/>
            <a:ext cx="1806643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사업수지 </a:t>
            </a:r>
            <a:r>
              <a:rPr lang="en-US" altLang="ko-KR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en-US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단위 </a:t>
            </a:r>
            <a:r>
              <a:rPr lang="en-US" altLang="ko-KR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ko-KR" altLang="en-US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천원</a:t>
            </a:r>
            <a:r>
              <a:rPr lang="en-US" altLang="ko-KR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 %. </a:t>
            </a:r>
            <a:r>
              <a:rPr lang="ko-KR" altLang="en-US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부가세별도</a:t>
            </a:r>
            <a:r>
              <a:rPr lang="en-US" altLang="ko-KR" sz="900" b="1" dirty="0">
                <a:solidFill>
                  <a:srgbClr val="012549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en-US" sz="900" b="1" dirty="0">
              <a:solidFill>
                <a:srgbClr val="012549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16" name="Table 2">
            <a:extLst>
              <a:ext uri="{FF2B5EF4-FFF2-40B4-BE49-F238E27FC236}">
                <a16:creationId xmlns:a16="http://schemas.microsoft.com/office/drawing/2014/main" id="{5722E023-7B86-4765-B5B3-7096976AD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150427"/>
              </p:ext>
            </p:extLst>
          </p:nvPr>
        </p:nvGraphicFramePr>
        <p:xfrm>
          <a:off x="1091307" y="1880532"/>
          <a:ext cx="3561717" cy="2101154"/>
        </p:xfrm>
        <a:graphic>
          <a:graphicData uri="http://schemas.openxmlformats.org/drawingml/2006/table">
            <a:tbl>
              <a:tblPr/>
              <a:tblGrid>
                <a:gridCol w="794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0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1014">
                <a:tc rowSpan="3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대지면적</a:t>
                      </a:r>
                      <a:endParaRPr lang="ko-KR" sz="9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원대지</a:t>
                      </a:r>
                      <a:endParaRPr lang="ko-KR" sz="9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4,717.30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㎡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1,426.98</a:t>
                      </a:r>
                      <a:r>
                        <a:rPr lang="ko-KR" altLang="en-US" sz="900" kern="120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5A5A5"/>
                      </a:solidFill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014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 dirty="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기부채납</a:t>
                      </a:r>
                      <a:endParaRPr lang="ko-KR" sz="9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962.5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㎡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291.16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014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 dirty="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사용대지</a:t>
                      </a:r>
                      <a:endParaRPr lang="ko-KR" sz="9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3,754.80</a:t>
                      </a:r>
                      <a:r>
                        <a:rPr lang="ko-KR" altLang="en-US" sz="900" kern="120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㎡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1,135.83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014">
                <a:tc grid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건축면적</a:t>
                      </a:r>
                      <a:endParaRPr lang="ko-KR" sz="9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2,217.50</a:t>
                      </a:r>
                      <a:r>
                        <a:rPr lang="ko-KR" altLang="en-US" sz="900" kern="120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㎡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670.01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014">
                <a:tc grid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건폐율</a:t>
                      </a:r>
                      <a:endParaRPr lang="ko-KR" sz="9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59.06%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1014">
                <a:tc rowSpan="3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연면적</a:t>
                      </a:r>
                      <a:endParaRPr lang="ko-KR" sz="9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합계</a:t>
                      </a:r>
                      <a:endParaRPr lang="ko-KR" sz="9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56,363.76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㎡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17,050.04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1014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 dirty="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지상</a:t>
                      </a:r>
                      <a:endParaRPr lang="ko-KR" sz="9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37,850.21</a:t>
                      </a:r>
                      <a:r>
                        <a:rPr lang="ko-KR" altLang="en-US" sz="900" kern="120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㎡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11,449.69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1014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 dirty="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지하</a:t>
                      </a:r>
                      <a:endParaRPr lang="ko-KR" sz="9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18,513.55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㎡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5,600.35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평</a:t>
                      </a:r>
                    </a:p>
                  </a:txBody>
                  <a:tcPr marL="68580" marR="6858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1014">
                <a:tc grid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용적률</a:t>
                      </a:r>
                      <a:endParaRPr lang="ko-KR" sz="9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1,008.05%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1014">
                <a:tc grid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조경면적</a:t>
                      </a:r>
                      <a:endParaRPr lang="ko-KR" sz="9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750.96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㎡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1014">
                <a:tc grid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dirty="0" err="1">
                          <a:solidFill>
                            <a:srgbClr val="000000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주차대수</a:t>
                      </a:r>
                      <a:endParaRPr lang="ko-KR" sz="90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424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 </a:t>
                      </a: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(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법정 </a:t>
                      </a: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346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</a:t>
                      </a: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세대당 </a:t>
                      </a: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1.05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대</a:t>
                      </a: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)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 dirty="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8C7B6B9D-3791-4CBB-AFF0-E7E558519326}"/>
              </a:ext>
            </a:extLst>
          </p:cNvPr>
          <p:cNvGrpSpPr/>
          <p:nvPr/>
        </p:nvGrpSpPr>
        <p:grpSpPr>
          <a:xfrm>
            <a:off x="224600" y="4169292"/>
            <a:ext cx="4459439" cy="2430105"/>
            <a:chOff x="224600" y="3572762"/>
            <a:chExt cx="3862623" cy="2104879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2887286-537D-4033-92CC-E876531E79DC}"/>
                </a:ext>
              </a:extLst>
            </p:cNvPr>
            <p:cNvPicPr/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550" t="15659" r="26951" b="14994"/>
            <a:stretch/>
          </p:blipFill>
          <p:spPr bwMode="auto">
            <a:xfrm>
              <a:off x="224600" y="3572762"/>
              <a:ext cx="2081869" cy="2104878"/>
            </a:xfrm>
            <a:prstGeom prst="rect">
              <a:avLst/>
            </a:prstGeom>
            <a:noFill/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E6A77CC-369D-4392-BBD1-2C4D9C7F3F23}"/>
                </a:ext>
              </a:extLst>
            </p:cNvPr>
            <p:cNvPicPr/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2383888" y="3572763"/>
              <a:ext cx="1703335" cy="2104878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aphicFrame>
        <p:nvGraphicFramePr>
          <p:cNvPr id="23" name="Table 2">
            <a:extLst>
              <a:ext uri="{FF2B5EF4-FFF2-40B4-BE49-F238E27FC236}">
                <a16:creationId xmlns:a16="http://schemas.microsoft.com/office/drawing/2014/main" id="{C29B4835-8DF0-475B-9CF3-D436E894F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152106"/>
              </p:ext>
            </p:extLst>
          </p:nvPr>
        </p:nvGraphicFramePr>
        <p:xfrm>
          <a:off x="4800368" y="507038"/>
          <a:ext cx="4887642" cy="4019469"/>
        </p:xfrm>
        <a:graphic>
          <a:graphicData uri="http://schemas.openxmlformats.org/drawingml/2006/table">
            <a:tbl>
              <a:tblPr/>
              <a:tblGrid>
                <a:gridCol w="219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439">
                  <a:extLst>
                    <a:ext uri="{9D8B030D-6E8A-4147-A177-3AD203B41FA5}">
                      <a16:colId xmlns:a16="http://schemas.microsoft.com/office/drawing/2014/main" val="2987352764"/>
                    </a:ext>
                  </a:extLst>
                </a:gridCol>
                <a:gridCol w="460149">
                  <a:extLst>
                    <a:ext uri="{9D8B030D-6E8A-4147-A177-3AD203B41FA5}">
                      <a16:colId xmlns:a16="http://schemas.microsoft.com/office/drawing/2014/main" val="4281597927"/>
                    </a:ext>
                  </a:extLst>
                </a:gridCol>
                <a:gridCol w="9776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25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9844">
                <a:tc gridSpan="3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FFFFF"/>
                          </a:solidFill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solidFill>
                          <a:srgbClr val="FFFFFF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solidFill>
                          <a:srgbClr val="FFFFFF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FFFFF"/>
                          </a:solidFill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세대수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FFFFF"/>
                          </a:solidFill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금액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solidFill>
                            <a:srgbClr val="FFFFFF"/>
                          </a:solidFill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비고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978">
                <a:tc rowSpan="1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수입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아파트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ts val="16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공공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algn="ctr">
                        <a:lnSpc>
                          <a:spcPts val="16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임대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39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17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4,278,853 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공급@1,</a:t>
                      </a: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49</a:t>
                      </a:r>
                      <a:r>
                        <a:rPr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 </a:t>
                      </a:r>
                      <a:r>
                        <a:rPr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만원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8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59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1,155,774 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583904"/>
                  </a:ext>
                </a:extLst>
              </a:tr>
              <a:tr h="159844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5,434,627 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70698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978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ts val="16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algn="ctr">
                        <a:lnSpc>
                          <a:spcPts val="16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분양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39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22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24,202,571 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세대당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11.0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억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380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59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297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491,416,014 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세대당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16.5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억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380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84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42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97,100,504 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세대당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23.1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억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3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110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2,984,768 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세대당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29.8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억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421731"/>
                  </a:ext>
                </a:extLst>
              </a:tr>
              <a:tr h="145380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127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3,431,106 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세대당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34.3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억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9844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소계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363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619,134,963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공급@6,500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만원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9844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합계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383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624,569,590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9844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근생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합계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41,659,816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9844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총계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666,229,406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9933">
                <a:tc rowSpan="10">
                  <a:txBody>
                    <a:bodyPr/>
                    <a:lstStyle/>
                    <a:p>
                      <a:pPr algn="ctr"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지출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건축비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직접공사비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altLang="en-US" sz="900" kern="120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161,975,355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@950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만원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933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19,131,617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철거공사비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소방공사비 등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9933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토지관련비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154,749,834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토지비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용역비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취득비</a:t>
                      </a: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보유세 등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9933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외주용역비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8,413,625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설계비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감리비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등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9933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분양관련비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8,941,548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19405" indent="-394335"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-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9933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M/H </a:t>
                      </a:r>
                      <a:r>
                        <a:rPr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관련비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3,259,200</a:t>
                      </a:r>
                      <a:endParaRPr lang="ko-KR" altLang="en-US" sz="900" kern="120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공사비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임차료등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9933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제세공과금</a:t>
                      </a:r>
                      <a:r>
                        <a:rPr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및 </a:t>
                      </a:r>
                      <a:r>
                        <a:rPr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부담금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24,399,336</a:t>
                      </a:r>
                      <a:endParaRPr lang="ko-KR" altLang="en-US" sz="900" kern="120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광역교통부담금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보존등기비 등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9933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금융비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98,896,373</a:t>
                      </a:r>
                      <a:endParaRPr lang="ko-KR" altLang="en-US" sz="900" kern="120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브릿지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및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 PF 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금융비용 등 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9933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kern="1200" dirty="0" err="1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기타비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20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22,731,460</a:t>
                      </a:r>
                      <a:endParaRPr lang="ko-KR" altLang="en-US" sz="900" kern="1200">
                        <a:solidFill>
                          <a:srgbClr val="000000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외주용역비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분양관련비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, </a:t>
                      </a:r>
                      <a:r>
                        <a:rPr lang="ko-KR" altLang="en-US" sz="900" kern="1200" dirty="0">
                          <a:solidFill>
                            <a:srgbClr val="000000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제반비용 등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9844">
                <a:tc v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총계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502,498,348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9844">
                <a:tc gridSpan="5"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>
                          <a:latin typeface="Pretendard ExtraBold"/>
                          <a:ea typeface="Pretendard ExtraBold"/>
                          <a:cs typeface="Pretendard ExtraBold"/>
                        </a:defRPr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사업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endParaRPr lang="ko-KR" sz="1000"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163,731,058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Pretendard Light"/>
                          <a:ea typeface="Pretendard Light"/>
                          <a:cs typeface="Pretendard Light"/>
                        </a:defRPr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매출 대비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24.58%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125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7EB92DB-D6D6-40B6-BFC1-994521FC85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80" t="17953" r="15204" b="17142"/>
          <a:stretch/>
        </p:blipFill>
        <p:spPr>
          <a:xfrm>
            <a:off x="2556932" y="351616"/>
            <a:ext cx="4775201" cy="4377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74E7A9-78B0-4588-8C1D-6DE1105B6923}"/>
              </a:ext>
            </a:extLst>
          </p:cNvPr>
          <p:cNvSpPr txBox="1"/>
          <p:nvPr/>
        </p:nvSpPr>
        <p:spPr>
          <a:xfrm>
            <a:off x="3543300" y="6311054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End of Document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47D09B23-F7CF-41E4-B38F-5F6F55C039C7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D6916-6366-4BAC-A420-78CFB3961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85" y="4966567"/>
            <a:ext cx="643210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19118" indent="-219118">
              <a:defRPr/>
            </a:pPr>
            <a:r>
              <a:rPr lang="ko-KR" altLang="en-US" sz="1000" b="1" kern="0" dirty="0">
                <a:solidFill>
                  <a:sysClr val="windowText" lastClr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본 자료와 관련하여 문의사항이 있으실 경우 아래의 담당자에게 언제든지 연락하여 주시면 성심껏 답변하여 드리겠습니다</a:t>
            </a:r>
            <a:r>
              <a:rPr lang="en-US" altLang="ko-KR" sz="1000" b="1" kern="0" dirty="0">
                <a:solidFill>
                  <a:sysClr val="windowText" lastClr="00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endParaRPr lang="ko-KR" altLang="en-US" sz="1000" b="1" kern="0" dirty="0">
              <a:solidFill>
                <a:sysClr val="windowText" lastClr="00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A5CB35A-6CD0-4565-AF06-70C2227D3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409283"/>
              </p:ext>
            </p:extLst>
          </p:nvPr>
        </p:nvGraphicFramePr>
        <p:xfrm>
          <a:off x="1216085" y="5212788"/>
          <a:ext cx="7473830" cy="1054824"/>
        </p:xfrm>
        <a:graphic>
          <a:graphicData uri="http://schemas.openxmlformats.org/drawingml/2006/table">
            <a:tbl>
              <a:tblPr firstRow="1" bandRow="1"/>
              <a:tblGrid>
                <a:gridCol w="1109804">
                  <a:extLst>
                    <a:ext uri="{9D8B030D-6E8A-4147-A177-3AD203B41FA5}">
                      <a16:colId xmlns:a16="http://schemas.microsoft.com/office/drawing/2014/main" val="3489200769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3330462320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1890356954"/>
                    </a:ext>
                  </a:extLst>
                </a:gridCol>
                <a:gridCol w="2516412">
                  <a:extLst>
                    <a:ext uri="{9D8B030D-6E8A-4147-A177-3AD203B41FA5}">
                      <a16:colId xmlns:a16="http://schemas.microsoft.com/office/drawing/2014/main" val="4272298019"/>
                    </a:ext>
                  </a:extLst>
                </a:gridCol>
                <a:gridCol w="1628006">
                  <a:extLst>
                    <a:ext uri="{9D8B030D-6E8A-4147-A177-3AD203B41FA5}">
                      <a16:colId xmlns:a16="http://schemas.microsoft.com/office/drawing/2014/main" val="2375832908"/>
                    </a:ext>
                  </a:extLst>
                </a:gridCol>
              </a:tblGrid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직급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이름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bg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E-mail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연락처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27196"/>
                  </a:ext>
                </a:extLst>
              </a:tr>
              <a:tr h="2637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대표이사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박광희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pkh@rainfieldinv.com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010-4490-2050</a:t>
                      </a:r>
                      <a:endParaRPr lang="ko-KR" altLang="en-US" sz="105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478623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투자금융본부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최재영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cjy@rainfieldinv.com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010-3090-3576</a:t>
                      </a:r>
                      <a:endParaRPr lang="ko-KR" altLang="en-US" sz="105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069950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대체투자본부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이주호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ljh@rainfieldinv.com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010-5054-9208</a:t>
                      </a:r>
                      <a:endParaRPr lang="ko-KR" altLang="en-US" sz="1050" dirty="0"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14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827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Pretendard ExtraBold"/>
        <a:cs typeface=""/>
        <a:font script="Jpan" typeface="游ゴシック Light"/>
        <a:font script="Hang" typeface="Pretendard ExtraBol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Pretendard Light"/>
        <a:cs typeface=""/>
        <a:font script="Jpan" typeface="游ゴシック"/>
        <a:font script="Hang" typeface="Pretendard Light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669</TotalTime>
  <Words>1214</Words>
  <Application>Microsoft Office PowerPoint</Application>
  <PresentationFormat>A4 용지(210x297mm)</PresentationFormat>
  <Paragraphs>314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Pretendard ExtraBold</vt:lpstr>
      <vt:lpstr>Pretendard Light</vt:lpstr>
      <vt:lpstr>맑은 고딕</vt:lpstr>
      <vt:lpstr>Batang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레인필드투자자문</dc:creator>
  <cp:lastModifiedBy>장찬희</cp:lastModifiedBy>
  <cp:revision>72</cp:revision>
  <dcterms:created xsi:type="dcterms:W3CDTF">2026-02-10T06:23:32Z</dcterms:created>
  <dcterms:modified xsi:type="dcterms:W3CDTF">2026-10-19T05:47:13Z</dcterms:modified>
</cp:coreProperties>
</file>