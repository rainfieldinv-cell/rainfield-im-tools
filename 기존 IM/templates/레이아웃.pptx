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509" r:id="rId2"/>
    <p:sldId id="543" r:id="rId3"/>
    <p:sldId id="544" r:id="rId4"/>
    <p:sldId id="507" r:id="rId5"/>
    <p:sldId id="270" r:id="rId6"/>
    <p:sldId id="271" r:id="rId7"/>
    <p:sldId id="512" r:id="rId8"/>
    <p:sldId id="304" r:id="rId9"/>
    <p:sldId id="482" r:id="rId10"/>
    <p:sldId id="328" r:id="rId11"/>
    <p:sldId id="508" r:id="rId12"/>
    <p:sldId id="506" r:id="rId13"/>
    <p:sldId id="305" r:id="rId14"/>
    <p:sldId id="312" r:id="rId15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7FF"/>
    <a:srgbClr val="3E95BE"/>
    <a:srgbClr val="08377C"/>
    <a:srgbClr val="595959"/>
    <a:srgbClr val="0063A1"/>
    <a:srgbClr val="8C4A59"/>
    <a:srgbClr val="D9D9D9"/>
    <a:srgbClr val="F2F2F2"/>
    <a:srgbClr val="A4ABBD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7" autoAdjust="0"/>
    <p:restoredTop sz="93046" autoAdjust="0"/>
  </p:normalViewPr>
  <p:slideViewPr>
    <p:cSldViewPr snapToGrid="0">
      <p:cViewPr varScale="1">
        <p:scale>
          <a:sx n="102" d="100"/>
          <a:sy n="102" d="100"/>
        </p:scale>
        <p:origin x="1902" y="96"/>
      </p:cViewPr>
      <p:guideLst>
        <p:guide orient="horz" pos="2160"/>
        <p:guide pos="3143"/>
      </p:guideLst>
    </p:cSldViewPr>
  </p:slideViewPr>
  <p:outlineViewPr>
    <p:cViewPr>
      <p:scale>
        <a:sx n="33" d="100"/>
        <a:sy n="33" d="100"/>
      </p:scale>
      <p:origin x="0" y="-66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13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B0CBE-BEF5-4768-88B7-C8D33A226F82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6EBDD-C751-45FE-A110-B7B11DBE4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87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66EBDD-C751-45FE-A110-B7B11DBE494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3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2658A97-D488-4F93-9E61-955213704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700" y="397926"/>
            <a:ext cx="3228975" cy="198437"/>
          </a:xfrm>
        </p:spPr>
        <p:txBody>
          <a:bodyPr lIns="0" tIns="72000" rIns="0" bIns="0" anchor="ctr">
            <a:normAutofit/>
          </a:bodyPr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챕터명을 입력</a:t>
            </a:r>
          </a:p>
        </p:txBody>
      </p:sp>
      <p:sp>
        <p:nvSpPr>
          <p:cNvPr id="26" name="텍스트 개체 틀 24">
            <a:extLst>
              <a:ext uri="{FF2B5EF4-FFF2-40B4-BE49-F238E27FC236}">
                <a16:creationId xmlns:a16="http://schemas.microsoft.com/office/drawing/2014/main" id="{A14A10F8-1FAF-4934-8322-2E8649EE6B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700" y="588702"/>
            <a:ext cx="3228975" cy="265509"/>
          </a:xfrm>
        </p:spPr>
        <p:txBody>
          <a:bodyPr lIns="0" tIns="36000" rIns="0" bIns="0" anchor="ctr">
            <a:noAutofit/>
          </a:bodyPr>
          <a:lstStyle>
            <a:lvl1pPr marL="0" indent="0">
              <a:buNone/>
              <a:defRPr sz="1400">
                <a:solidFill>
                  <a:srgbClr val="002548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</a:t>
            </a:r>
          </a:p>
        </p:txBody>
      </p:sp>
      <p:sp>
        <p:nvSpPr>
          <p:cNvPr id="27" name="텍스트 개체 틀 24">
            <a:extLst>
              <a:ext uri="{FF2B5EF4-FFF2-40B4-BE49-F238E27FC236}">
                <a16:creationId xmlns:a16="http://schemas.microsoft.com/office/drawing/2014/main" id="{133F99F5-21F0-469A-B7BC-918EAA068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795364"/>
            <a:ext cx="7912100" cy="308931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헤드메시지를 입력</a:t>
            </a:r>
            <a:br>
              <a:rPr lang="en-US" altLang="ko-KR" dirty="0"/>
            </a:br>
            <a:r>
              <a:rPr lang="ko-KR" altLang="en-US" dirty="0" err="1"/>
              <a:t>엔터는</a:t>
            </a:r>
            <a:r>
              <a:rPr lang="ko-KR" altLang="en-US" dirty="0"/>
              <a:t> 시프트 </a:t>
            </a:r>
            <a:r>
              <a:rPr lang="ko-KR" altLang="en-US" dirty="0" err="1"/>
              <a:t>엔터로</a:t>
            </a:r>
            <a:endParaRPr lang="en-US" altLang="ko-KR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0C9A8AA-7590-4D3D-8DDD-97CDAA204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38575" y="6558727"/>
            <a:ext cx="2228850" cy="227169"/>
          </a:xfrm>
        </p:spPr>
        <p:txBody>
          <a:bodyPr rIns="0"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F3A57096-21A8-44ED-AF94-8A259496D2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5C252-E7DD-6B3E-3A2A-FF4DD42D7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3868" y="183222"/>
            <a:ext cx="2723863" cy="217735"/>
          </a:xfrm>
          <a:prstGeom prst="rect">
            <a:avLst/>
          </a:prstGeom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755CCF-F143-4C0B-BF11-9423A72FAB19}"/>
              </a:ext>
            </a:extLst>
          </p:cNvPr>
          <p:cNvSpPr/>
          <p:nvPr userDrawn="1"/>
        </p:nvSpPr>
        <p:spPr>
          <a:xfrm flipV="1">
            <a:off x="0" y="-1"/>
            <a:ext cx="338433" cy="335952"/>
          </a:xfrm>
          <a:prstGeom prst="rtTriangle">
            <a:avLst/>
          </a:prstGeom>
          <a:solidFill>
            <a:srgbClr val="0837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48AF91-12B6-4BD4-A640-497CC16E1DE1}"/>
              </a:ext>
            </a:extLst>
          </p:cNvPr>
          <p:cNvSpPr/>
          <p:nvPr userDrawn="1"/>
        </p:nvSpPr>
        <p:spPr>
          <a:xfrm flipV="1">
            <a:off x="0" y="335951"/>
            <a:ext cx="338433" cy="335951"/>
          </a:xfrm>
          <a:prstGeom prst="rtTriangle">
            <a:avLst/>
          </a:prstGeom>
          <a:solidFill>
            <a:srgbClr val="3E9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0388EC82-92ED-4BEE-A296-BE507F4E348F}"/>
              </a:ext>
            </a:extLst>
          </p:cNvPr>
          <p:cNvSpPr/>
          <p:nvPr userDrawn="1"/>
        </p:nvSpPr>
        <p:spPr>
          <a:xfrm flipV="1">
            <a:off x="338433" y="0"/>
            <a:ext cx="338433" cy="335951"/>
          </a:xfrm>
          <a:prstGeom prst="rtTriangle">
            <a:avLst/>
          </a:prstGeom>
          <a:solidFill>
            <a:srgbClr val="006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7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466B413-EF7C-4D22-9049-478D97032A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5" r="11485"/>
          <a:stretch/>
        </p:blipFill>
        <p:spPr>
          <a:xfrm>
            <a:off x="5258400" y="0"/>
            <a:ext cx="46476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14" y="0"/>
            <a:ext cx="10296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54000"/>
            <a:ext cx="579600" cy="12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5600" y="2631600"/>
            <a:ext cx="3754800" cy="26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777777"/>
                </a:solidFill>
                <a:latin typeface="Pretendard SemiBold" panose="02000703000000020004" pitchFamily="50" charset="-127"/>
              </a:rPr>
              <a:t>Information Memorandum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00" y="2840400"/>
            <a:ext cx="464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00206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en-US" sz="2000" dirty="0">
                <a:solidFill>
                  <a:srgbClr val="00206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사업명</a:t>
            </a:r>
            <a:r>
              <a:rPr lang="en-US" altLang="ko-KR" sz="2000" dirty="0">
                <a:solidFill>
                  <a:srgbClr val="00206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</a:p>
          <a:p>
            <a:r>
              <a:rPr lang="ko-KR" altLang="en-US" sz="2000" dirty="0">
                <a:solidFill>
                  <a:srgbClr val="00206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사모사채 제안서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00" y="3513600"/>
            <a:ext cx="4363200" cy="2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777777"/>
                </a:solidFill>
                <a:latin typeface="Pretendard SemiBold" panose="02000703000000020004" pitchFamily="50" charset="-127"/>
              </a:rPr>
              <a:t>October</a:t>
            </a:r>
            <a:r>
              <a:rPr sz="1200" b="0" dirty="0">
                <a:solidFill>
                  <a:srgbClr val="777777"/>
                </a:solidFill>
                <a:latin typeface="Pretendard SemiBold" panose="02000703000000020004" pitchFamily="50" charset="-127"/>
              </a:rPr>
              <a:t>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00" y="5414400"/>
            <a:ext cx="4662000" cy="1209947"/>
          </a:xfrm>
          <a:prstGeom prst="rect">
            <a:avLst/>
          </a:prstGeom>
          <a:noFill/>
          <a:ln w="9525">
            <a:solidFill>
              <a:srgbClr val="BDD7EE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700" b="1" dirty="0">
                <a:solidFill>
                  <a:srgbClr val="002060"/>
                </a:solidFill>
                <a:latin typeface="Pretendard SemiBold" panose="02000703000000020004" pitchFamily="50" charset="-127"/>
              </a:rPr>
              <a:t>[Disclaimer]</a:t>
            </a:r>
          </a:p>
          <a:p>
            <a:pPr algn="just">
              <a:lnSpc>
                <a:spcPct val="150000"/>
              </a:lnSpc>
            </a:pP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이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문서는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법적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구속력이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없으며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금융기관의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여신심사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과정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,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금융약정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체결을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위한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검토과정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등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향후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사정에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따라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사전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통지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없이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변경될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수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있고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실제로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이루어질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거래의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내용이나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구조와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상이할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수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있습니다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.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당사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(들)는 본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금융조건에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대하여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최대한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정확하고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완전한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정보를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담고자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노력하였으나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이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문서에는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오류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또는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중요정보의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누락이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있을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수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있으며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,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당사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(들)는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정보의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정확성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,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완전성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및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적정성에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대하여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어떠한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보증도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제공하지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않고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그에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관한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어떠한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의무도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부담하지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않습니다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. 이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문서는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당사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(들)의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주관을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전제로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한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자금조달을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위하여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작성되었으며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,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어떠한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경우에도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금융투자상품의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매수의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청약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권유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또는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매도의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청약으로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해석될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수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없고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,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귀사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이외의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제3자에게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제공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,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공개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또는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유출되어서는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 </a:t>
            </a:r>
            <a:r>
              <a:rPr sz="700" dirty="0" err="1">
                <a:solidFill>
                  <a:srgbClr val="595959"/>
                </a:solidFill>
                <a:latin typeface="Pretendard Light" panose="02000403000000020004" pitchFamily="50" charset="-127"/>
              </a:rPr>
              <a:t>안됩니다</a:t>
            </a:r>
            <a:r>
              <a:rPr sz="700" dirty="0">
                <a:solidFill>
                  <a:srgbClr val="595959"/>
                </a:solidFill>
                <a:latin typeface="Pretendard Light" panose="02000403000000020004" pitchFamily="50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A77399D3-7ABB-4224-A2C2-F2D6F3B7B8EB}"/>
              </a:ext>
            </a:extLst>
          </p:cNvPr>
          <p:cNvSpPr txBox="1"/>
          <p:nvPr/>
        </p:nvSpPr>
        <p:spPr>
          <a:xfrm>
            <a:off x="1016940" y="1206867"/>
            <a:ext cx="7936560" cy="4963648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txBody>
          <a:bodyPr wrap="square" lIns="72000" tIns="72000" rIns="72000" bIns="7200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사업은 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『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도시 및 주거환경정비법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』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따른 도시정비형 재개발사업 내 </a:t>
            </a:r>
            <a:r>
              <a:rPr lang="ko-KR" altLang="en-US" sz="11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토지등소유자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방식의 재개발사업으로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서울특별시 고시 제 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2014-304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정비구역 지정된 마포구 노고산동 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106-9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번지 일대 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정비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4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구역 내 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9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지구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(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공동주택 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383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세대 및 근린생활시설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)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를 개발하는 사업임</a:t>
            </a:r>
            <a:endParaRPr lang="en-US" altLang="ko-KR" sz="1100" u="sng" dirty="0">
              <a:solidFill>
                <a:srgbClr val="00000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600" u="sng" dirty="0">
              <a:solidFill>
                <a:srgbClr val="00000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4-9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지구는 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'25.05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사업시행인가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’25.11 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관리처분인가를 완료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하였으나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'25.11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 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2030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서울시 주거환경 정비기본계획 변경으로 용적률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고도제한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임대주택 배치 완화 등으로 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사업성의 개선을 위한 인허가 변경절차 진행 중 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(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주민공람 완료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, 12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월 변경 고시 예상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600" u="sng" dirty="0">
              <a:solidFill>
                <a:srgbClr val="00000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토지매입비 및 부대비용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금융비 등의 사업비를 위한 총 대출금 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1,700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억원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[Tr. A 1,200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억원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(LTV 52.6%), </a:t>
            </a:r>
            <a:r>
              <a:rPr lang="en-US" altLang="ko-KR" sz="1100" u="sng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Tr. B 500 </a:t>
            </a:r>
            <a:r>
              <a:rPr lang="ko-KR" altLang="en-US" sz="1100" u="sng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억원</a:t>
            </a:r>
            <a:r>
              <a:rPr lang="en-US" altLang="ko-KR" sz="1100" u="sng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(LTV 74.6%),</a:t>
            </a:r>
            <a:r>
              <a: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조달하고자 하며 이중 </a:t>
            </a:r>
            <a:r>
              <a:rPr lang="en-US" altLang="ko-KR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Tr. B  </a:t>
            </a:r>
            <a:r>
              <a:rPr lang="ko-KR" altLang="en-US" sz="1100" u="sng" dirty="0">
                <a:solidFill>
                  <a:srgbClr val="00000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대출을 기초자산으로 발행하는 사모사채 건</a:t>
            </a:r>
            <a:r>
              <a:rPr lang="ko-KR" altLang="en-US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임 </a:t>
            </a: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Batang" panose="02030600000101010101" pitchFamily="18" charset="-127"/>
              <a:buChar char="→"/>
              <a:defRPr sz="1000">
                <a:solidFill>
                  <a:srgbClr val="000000"/>
                </a:solidFill>
              </a:defRPr>
            </a:pPr>
            <a:endParaRPr lang="en-US" altLang="ko-KR" sz="11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8971527-E162-4651-8370-B7F2508E0938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" t="20185" r="2056" b="25974"/>
          <a:stretch/>
        </p:blipFill>
        <p:spPr bwMode="auto">
          <a:xfrm>
            <a:off x="1599781" y="3276601"/>
            <a:ext cx="6706438" cy="27912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2B642849-250E-4C29-AD6C-2A7BA20E9CFD}"/>
              </a:ext>
            </a:extLst>
          </p:cNvPr>
          <p:cNvGrpSpPr/>
          <p:nvPr/>
        </p:nvGrpSpPr>
        <p:grpSpPr>
          <a:xfrm>
            <a:off x="1016940" y="718551"/>
            <a:ext cx="3138689" cy="369332"/>
            <a:chOff x="4106291" y="765140"/>
            <a:chExt cx="3138689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2D9392-5288-4A54-8C00-DD983086C80D}"/>
                </a:ext>
              </a:extLst>
            </p:cNvPr>
            <p:cNvSpPr txBox="1"/>
            <p:nvPr/>
          </p:nvSpPr>
          <p:spPr>
            <a:xfrm>
              <a:off x="4528596" y="836773"/>
              <a:ext cx="27163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Overview</a:t>
              </a:r>
            </a:p>
          </p:txBody>
        </p:sp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CDA099DD-A4B4-41B6-875F-6FC47D0AE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6291" y="765140"/>
              <a:ext cx="432811" cy="369332"/>
            </a:xfrm>
            <a:prstGeom prst="rect">
              <a:avLst/>
            </a:prstGeom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7A59169B-13B4-44DC-8D9C-CD28E9943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317" y="254820"/>
            <a:ext cx="2716384" cy="213076"/>
          </a:xfrm>
          <a:prstGeom prst="rect">
            <a:avLst/>
          </a:prstGeom>
        </p:spPr>
      </p:pic>
      <p:sp>
        <p:nvSpPr>
          <p:cNvPr id="34" name="슬라이드 번호 개체 틀 1">
            <a:extLst>
              <a:ext uri="{FF2B5EF4-FFF2-40B4-BE49-F238E27FC236}">
                <a16:creationId xmlns:a16="http://schemas.microsoft.com/office/drawing/2014/main" id="{A9B718EA-3C6C-4C62-8C33-6580F28A13A7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신촌지역 </a:t>
            </a:r>
            <a:r>
              <a:rPr lang="en-US" altLang="ko-KR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4-9</a:t>
            </a:r>
            <a:r>
              <a:rPr lang="ko-KR" altLang="en-US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지구 </a:t>
            </a:r>
            <a:r>
              <a:rPr lang="ko-KR" altLang="en-US" dirty="0" err="1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브릿지</a:t>
            </a:r>
            <a:r>
              <a:rPr lang="ko-KR" altLang="en-US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사모사채 ｜</a:t>
            </a:r>
            <a:r>
              <a:rPr lang="en-US" altLang="ko-KR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fld id="{F3A57096-21A8-44ED-AF94-8A259496D2BE}" type="slidenum">
              <a:rPr lang="en-US" altLang="en-US" smtClean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>
                <a:defRPr/>
              </a:pPr>
              <a:t>2</a:t>
            </a:fld>
            <a:endParaRPr lang="en-US" altLang="en-US" dirty="0">
              <a:solidFill>
                <a:srgbClr val="80808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98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7A59169B-13B4-44DC-8D9C-CD28E9943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317" y="254820"/>
            <a:ext cx="2716384" cy="21307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E4D860-A1A1-4F51-862C-E65FDF291244}"/>
              </a:ext>
            </a:extLst>
          </p:cNvPr>
          <p:cNvGrpSpPr/>
          <p:nvPr/>
        </p:nvGrpSpPr>
        <p:grpSpPr>
          <a:xfrm>
            <a:off x="1016940" y="718551"/>
            <a:ext cx="3138689" cy="369332"/>
            <a:chOff x="4106291" y="765140"/>
            <a:chExt cx="3138689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7CA142-2986-4FFE-832E-7BE09E563A78}"/>
                </a:ext>
              </a:extLst>
            </p:cNvPr>
            <p:cNvSpPr txBox="1"/>
            <p:nvPr/>
          </p:nvSpPr>
          <p:spPr>
            <a:xfrm>
              <a:off x="4528596" y="836773"/>
              <a:ext cx="271638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Deal Highlight</a:t>
              </a:r>
            </a:p>
          </p:txBody>
        </p:sp>
        <p:pic>
          <p:nvPicPr>
            <p:cNvPr id="23" name="Picture 5">
              <a:extLst>
                <a:ext uri="{FF2B5EF4-FFF2-40B4-BE49-F238E27FC236}">
                  <a16:creationId xmlns:a16="http://schemas.microsoft.com/office/drawing/2014/main" id="{08D6C51A-5428-417F-B2F0-F2DDB98E5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6291" y="765140"/>
              <a:ext cx="432811" cy="369332"/>
            </a:xfrm>
            <a:prstGeom prst="rect">
              <a:avLst/>
            </a:prstGeom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CA0639-397A-453A-B32D-E576A2C46080}"/>
              </a:ext>
            </a:extLst>
          </p:cNvPr>
          <p:cNvGrpSpPr/>
          <p:nvPr/>
        </p:nvGrpSpPr>
        <p:grpSpPr>
          <a:xfrm>
            <a:off x="1018805" y="1208917"/>
            <a:ext cx="7868390" cy="1440778"/>
            <a:chOff x="1018805" y="1237945"/>
            <a:chExt cx="7868390" cy="144077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4590EEB-4F59-4CEA-AF89-2C306094BB37}"/>
                </a:ext>
              </a:extLst>
            </p:cNvPr>
            <p:cNvSpPr txBox="1"/>
            <p:nvPr/>
          </p:nvSpPr>
          <p:spPr>
            <a:xfrm>
              <a:off x="1321980" y="1237945"/>
              <a:ext cx="214115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&lt;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낮은 인허가 리스크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&gt;</a:t>
              </a:r>
            </a:p>
          </p:txBody>
        </p:sp>
        <p:sp>
          <p:nvSpPr>
            <p:cNvPr id="24" name="양쪽 대괄호 23">
              <a:extLst>
                <a:ext uri="{FF2B5EF4-FFF2-40B4-BE49-F238E27FC236}">
                  <a16:creationId xmlns:a16="http://schemas.microsoft.com/office/drawing/2014/main" id="{4E8B1300-3C89-4C02-8C69-9A7995186CD7}"/>
                </a:ext>
              </a:extLst>
            </p:cNvPr>
            <p:cNvSpPr/>
            <p:nvPr/>
          </p:nvSpPr>
          <p:spPr>
            <a:xfrm>
              <a:off x="1018805" y="1316327"/>
              <a:ext cx="7868390" cy="1362396"/>
            </a:xfrm>
            <a:prstGeom prst="bracketPair">
              <a:avLst>
                <a:gd name="adj" fmla="val 7153"/>
              </a:avLst>
            </a:prstGeom>
            <a:ln w="76200">
              <a:solidFill>
                <a:srgbClr val="629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0408A02-25A8-46F0-BBE2-6BFAD36FC428}"/>
                </a:ext>
              </a:extLst>
            </p:cNvPr>
            <p:cNvSpPr txBox="1"/>
            <p:nvPr/>
          </p:nvSpPr>
          <p:spPr>
            <a:xfrm>
              <a:off x="1321980" y="1588328"/>
              <a:ext cx="7349580" cy="98642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285750" indent="-285750">
                <a:buFont typeface="Batang" panose="02030600000101010101" pitchFamily="18" charset="-127"/>
                <a:buChar char="→"/>
                <a:defRPr sz="1000">
                  <a:solidFill>
                    <a:srgbClr val="000000"/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defRPr>
              </a:lvl1pPr>
            </a:lstStyle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4-9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지구는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'25.05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사업시행인가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’25.11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관리처분인가를 완료하였으나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'25.11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월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2030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서울시 주거환경 정비기본계획 변경으로 용적률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고도제한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임대주택배치 완화 등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사업성 개선을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위한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,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인허가 변경절차 진행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중</a:t>
              </a: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본사업지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인근지역 본건 사업과 유사한 인허가 사례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(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마포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4-10, 3-3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지구 등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)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가 다수 존재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하여 원만한 인허가 진행이 예상됨</a:t>
              </a:r>
              <a:endPara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정비계획 변경 전 기준으로도 사업수지 및 사업성이 나오는 사업장으로 변경 인허가와 관계 없이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2027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년 상반기 내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PF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및 착공 예정 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CA69673-E27F-43A4-88B3-F9D96BBE6FA2}"/>
              </a:ext>
            </a:extLst>
          </p:cNvPr>
          <p:cNvGrpSpPr/>
          <p:nvPr/>
        </p:nvGrpSpPr>
        <p:grpSpPr>
          <a:xfrm>
            <a:off x="1018805" y="3022500"/>
            <a:ext cx="7868390" cy="1176281"/>
            <a:chOff x="1018805" y="3051764"/>
            <a:chExt cx="7868390" cy="117628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2BA6EF-8EE3-4473-A7B1-350DC74480F1}"/>
                </a:ext>
              </a:extLst>
            </p:cNvPr>
            <p:cNvSpPr txBox="1"/>
            <p:nvPr/>
          </p:nvSpPr>
          <p:spPr>
            <a:xfrm>
              <a:off x="1321980" y="3051764"/>
              <a:ext cx="408953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&lt;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토지확보 완료 예정 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/ 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명도 협의 완료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&gt;</a:t>
              </a:r>
            </a:p>
          </p:txBody>
        </p:sp>
        <p:sp>
          <p:nvSpPr>
            <p:cNvPr id="36" name="양쪽 대괄호 35">
              <a:extLst>
                <a:ext uri="{FF2B5EF4-FFF2-40B4-BE49-F238E27FC236}">
                  <a16:creationId xmlns:a16="http://schemas.microsoft.com/office/drawing/2014/main" id="{F6FED448-FDFB-4242-A9C7-15394FDFDDAA}"/>
                </a:ext>
              </a:extLst>
            </p:cNvPr>
            <p:cNvSpPr/>
            <p:nvPr/>
          </p:nvSpPr>
          <p:spPr>
            <a:xfrm>
              <a:off x="1018805" y="3104202"/>
              <a:ext cx="7868390" cy="1123843"/>
            </a:xfrm>
            <a:prstGeom prst="bracketPair">
              <a:avLst>
                <a:gd name="adj" fmla="val 10527"/>
              </a:avLst>
            </a:prstGeom>
            <a:ln w="76200">
              <a:solidFill>
                <a:srgbClr val="629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EBC7712-0F5C-499E-9EDE-1E9E970157B9}"/>
                </a:ext>
              </a:extLst>
            </p:cNvPr>
            <p:cNvSpPr txBox="1"/>
            <p:nvPr/>
          </p:nvSpPr>
          <p:spPr>
            <a:xfrm>
              <a:off x="1321980" y="3372877"/>
              <a:ext cx="7349580" cy="73250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285750" indent="-285750">
                <a:buFont typeface="Batang" panose="02030600000101010101" pitchFamily="18" charset="-127"/>
                <a:buChar char="→"/>
                <a:defRPr sz="1000">
                  <a:solidFill>
                    <a:srgbClr val="000000"/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defRPr>
              </a:lvl1pPr>
            </a:lstStyle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 건 대출 이후 사업구역 내 </a:t>
              </a:r>
              <a:r>
                <a:rPr lang="ko-KR" altLang="en-US" sz="1100" u="sng" dirty="0" err="1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기계약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 토지 및 협의매수 토지 소유권 우선 확보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하여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사업구역 內 사유지 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100%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에 대하여 소유권 이전 완료 예정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으로 토지 확보 및 사업비 증가 위험 제한적 </a:t>
              </a:r>
              <a:endPara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명도 대상 토지에 대한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대주가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인정할 만한 수준의 명도확약서 제출하여 명도 리스크 적음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 (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명도 확약서 제출 선행 조건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)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B026A19-9955-4DF8-9764-74D8DC0448B9}"/>
              </a:ext>
            </a:extLst>
          </p:cNvPr>
          <p:cNvGrpSpPr/>
          <p:nvPr/>
        </p:nvGrpSpPr>
        <p:grpSpPr>
          <a:xfrm>
            <a:off x="1018805" y="4595939"/>
            <a:ext cx="7868390" cy="1815368"/>
            <a:chOff x="1018805" y="4550310"/>
            <a:chExt cx="7868390" cy="181536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E968664-1464-4CD2-BA92-23E4F86AD7ED}"/>
                </a:ext>
              </a:extLst>
            </p:cNvPr>
            <p:cNvSpPr txBox="1"/>
            <p:nvPr/>
          </p:nvSpPr>
          <p:spPr>
            <a:xfrm>
              <a:off x="1321980" y="4550310"/>
              <a:ext cx="408953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&lt;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높은 </a:t>
              </a:r>
              <a:r>
                <a:rPr lang="ko-KR" altLang="en-US" sz="1600" dirty="0" err="1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분양성</a:t>
              </a:r>
              <a:r>
                <a:rPr lang="ko-KR" altLang="en-US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 및 사업 </a:t>
              </a:r>
              <a:r>
                <a:rPr lang="en-US" altLang="ko-KR" sz="1600" dirty="0"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Buffer&gt;</a:t>
              </a:r>
            </a:p>
          </p:txBody>
        </p:sp>
        <p:sp>
          <p:nvSpPr>
            <p:cNvPr id="44" name="양쪽 대괄호 43">
              <a:extLst>
                <a:ext uri="{FF2B5EF4-FFF2-40B4-BE49-F238E27FC236}">
                  <a16:creationId xmlns:a16="http://schemas.microsoft.com/office/drawing/2014/main" id="{8704C95D-B44F-4ECC-909C-CA047C1882B4}"/>
                </a:ext>
              </a:extLst>
            </p:cNvPr>
            <p:cNvSpPr/>
            <p:nvPr/>
          </p:nvSpPr>
          <p:spPr>
            <a:xfrm>
              <a:off x="1018805" y="4654350"/>
              <a:ext cx="7868390" cy="1711327"/>
            </a:xfrm>
            <a:prstGeom prst="bracketPair">
              <a:avLst>
                <a:gd name="adj" fmla="val 7630"/>
              </a:avLst>
            </a:prstGeom>
            <a:ln w="76200">
              <a:solidFill>
                <a:srgbClr val="629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C728CD3-DE5B-4FE5-BCFE-223D2D030C60}"/>
                </a:ext>
              </a:extLst>
            </p:cNvPr>
            <p:cNvSpPr txBox="1"/>
            <p:nvPr/>
          </p:nvSpPr>
          <p:spPr>
            <a:xfrm>
              <a:off x="1321980" y="4871423"/>
              <a:ext cx="7349580" cy="14942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285750" indent="-285750">
                <a:buFont typeface="Batang" panose="02030600000101010101" pitchFamily="18" charset="-127"/>
                <a:buChar char="→"/>
                <a:defRPr sz="1000">
                  <a:solidFill>
                    <a:srgbClr val="000000"/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defRPr>
              </a:lvl1pPr>
            </a:lstStyle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본 건 사업지는 서울 지하철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호선 신촌역 및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경의중앙선역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역 인근 버스정류장과 도보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5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 이내에 위치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인근 공동주택 매매시세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(7,900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 내외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최근 분양사례인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공덕역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자이르네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(7,100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충정로역 </a:t>
              </a:r>
              <a:r>
                <a:rPr lang="ko-KR" altLang="en-US" sz="1100" dirty="0" err="1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자이르네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(7,061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와 비교 시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본건 공동주택 평균 계획 분양가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(6,500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만원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/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평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)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는 시세 대비 </a:t>
              </a:r>
              <a:r>
                <a:rPr lang="ko-KR" altLang="en-US" sz="1100" u="sng" dirty="0" err="1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메리트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 있는 금액으로 판단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 </a:t>
              </a:r>
            </a:p>
            <a:p>
              <a:pPr algn="just">
                <a:lnSpc>
                  <a:spcPct val="150000"/>
                </a:lnSpc>
                <a:defRPr sz="1000">
                  <a:solidFill>
                    <a:srgbClr val="000000"/>
                  </a:solidFill>
                </a:defRPr>
              </a:pP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공사비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950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만원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평 가정되어 있어 최근 사례 대비 합리적인 수준이며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사업이익 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24%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이상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, 1,637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억원의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 </a:t>
              </a:r>
              <a:r>
                <a:rPr lang="ko-KR" altLang="en-US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사업이익 버퍼가 충분</a:t>
              </a:r>
              <a:r>
                <a:rPr lang="en-US" altLang="ko-KR" sz="1100" u="sng" dirty="0">
                  <a:latin typeface="Pretendard Black" panose="02000A03000000020004" pitchFamily="50" charset="-127"/>
                  <a:ea typeface="Pretendard Black" panose="02000A03000000020004" pitchFamily="50" charset="-127"/>
                  <a:cs typeface="Pretendard Black" panose="02000A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모두 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2027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년 내 착공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/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분양이 가능하여</a:t>
              </a:r>
              <a:r>
                <a:rPr lang="en-US" altLang="ko-KR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 </a:t>
              </a:r>
              <a:r>
                <a:rPr lang="ko-KR" altLang="en-US" sz="11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신촌 역세권 입지와 서울내 주택공급이 제한적인 시장상황에서 시장 내 대기수요가 많을 것으로 기대됨</a:t>
              </a:r>
              <a:endParaRPr lang="en-US" altLang="ko-KR" sz="11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20" name="슬라이드 번호 개체 틀 1">
            <a:extLst>
              <a:ext uri="{FF2B5EF4-FFF2-40B4-BE49-F238E27FC236}">
                <a16:creationId xmlns:a16="http://schemas.microsoft.com/office/drawing/2014/main" id="{0B50645D-C3ED-4737-AE6D-5D0C4ABC9FF3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신촌지역 </a:t>
            </a:r>
            <a:r>
              <a:rPr lang="en-US" altLang="ko-KR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4-9</a:t>
            </a:r>
            <a:r>
              <a:rPr lang="ko-KR" altLang="en-US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지구 </a:t>
            </a:r>
            <a:r>
              <a:rPr lang="ko-KR" altLang="en-US" dirty="0" err="1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브릿지</a:t>
            </a:r>
            <a:r>
              <a:rPr lang="ko-KR" altLang="en-US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사모사채 ｜</a:t>
            </a:r>
            <a:r>
              <a:rPr lang="en-US" altLang="ko-KR" dirty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fld id="{F3A57096-21A8-44ED-AF94-8A259496D2BE}" type="slidenum">
              <a:rPr lang="en-US" altLang="en-US" smtClean="0">
                <a:solidFill>
                  <a:srgbClr val="80808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>
                <a:defRPr/>
              </a:pPr>
              <a:t>3</a:t>
            </a:fld>
            <a:endParaRPr lang="en-US" altLang="en-US" dirty="0">
              <a:solidFill>
                <a:srgbClr val="80808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058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684979" y="2203347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2684979" y="4599713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397222" y="2182378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6397222" y="4578744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3081285" y="2511124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1.1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본건 사모사채</a:t>
            </a: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3126851" y="493165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투자구조도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2.2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본건 기초자산 금융조건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6871314" y="2534217"/>
            <a:ext cx="1926353" cy="5309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사업개요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3.2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부제목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6865578" y="4896994"/>
            <a:ext cx="639599" cy="2450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4.1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부제목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2D6AC7F-9894-4E25-9A29-28AB65CB68EE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E48C7CEE-BAA1-4AFE-82FB-E5CA4A3B2AD6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8D849133-720F-4AE4-8EBB-2BC27CE74F50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24" name="Freeform 28">
                <a:extLst>
                  <a:ext uri="{FF2B5EF4-FFF2-40B4-BE49-F238E27FC236}">
                    <a16:creationId xmlns:a16="http://schemas.microsoft.com/office/drawing/2014/main" id="{2CFCDE1C-A8C3-4EBC-83A3-99AD7CB41A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9">
                <a:extLst>
                  <a:ext uri="{FF2B5EF4-FFF2-40B4-BE49-F238E27FC236}">
                    <a16:creationId xmlns:a16="http://schemas.microsoft.com/office/drawing/2014/main" id="{0B38D8D4-BE29-4E41-99B3-9B543D37881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/>
              </a:p>
            </p:txBody>
          </p:sp>
        </p:grp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E8EC7D96-457E-497A-B700-2ED7081D2326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6" name="타원 25">
            <a:extLst>
              <a:ext uri="{FF2B5EF4-FFF2-40B4-BE49-F238E27FC236}">
                <a16:creationId xmlns:a16="http://schemas.microsoft.com/office/drawing/2014/main" id="{5C226EE5-97BC-44A8-AFC3-45859143DD85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076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그림 61">
            <a:extLst>
              <a:ext uri="{FF2B5EF4-FFF2-40B4-BE49-F238E27FC236}">
                <a16:creationId xmlns:a16="http://schemas.microsoft.com/office/drawing/2014/main" id="{0F480219-8797-4BD3-AE27-7C85F04A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" y="1"/>
            <a:ext cx="1302294" cy="685800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FC236CDE-1FA7-4850-9122-ACE5590F0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4" y="1"/>
            <a:ext cx="1324017" cy="6858000"/>
          </a:xfrm>
          <a:prstGeom prst="rect">
            <a:avLst/>
          </a:prstGeom>
        </p:spPr>
      </p:pic>
      <p:sp>
        <p:nvSpPr>
          <p:cNvPr id="29" name="TextBox 45">
            <a:extLst>
              <a:ext uri="{FF2B5EF4-FFF2-40B4-BE49-F238E27FC236}">
                <a16:creationId xmlns:a16="http://schemas.microsoft.com/office/drawing/2014/main" id="{8EE14628-E83D-440B-A90E-6369AAEC836F}"/>
              </a:ext>
            </a:extLst>
          </p:cNvPr>
          <p:cNvSpPr txBox="1"/>
          <p:nvPr/>
        </p:nvSpPr>
        <p:spPr>
          <a:xfrm>
            <a:off x="3943482" y="1103621"/>
            <a:ext cx="2879940" cy="57708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4000" b="1" spc="121" dirty="0">
                <a:solidFill>
                  <a:srgbClr val="08377C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  <a:sym typeface="Montserrat Bold"/>
              </a:rPr>
              <a:t>CONTENTS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E50DD1-D286-46E5-9EE1-6293888C068F}"/>
              </a:ext>
            </a:extLst>
          </p:cNvPr>
          <p:cNvSpPr txBox="1"/>
          <p:nvPr/>
        </p:nvSpPr>
        <p:spPr>
          <a:xfrm>
            <a:off x="2515682" y="2291420"/>
            <a:ext cx="18000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01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사모사채 개요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5B50A-0595-4C49-B528-1C639C505BF5}"/>
              </a:ext>
            </a:extLst>
          </p:cNvPr>
          <p:cNvSpPr txBox="1"/>
          <p:nvPr/>
        </p:nvSpPr>
        <p:spPr>
          <a:xfrm>
            <a:off x="4771848" y="2281895"/>
            <a:ext cx="13455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02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금융개요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143523-5995-4344-8507-6A95EB6BFC25}"/>
              </a:ext>
            </a:extLst>
          </p:cNvPr>
          <p:cNvSpPr txBox="1"/>
          <p:nvPr/>
        </p:nvSpPr>
        <p:spPr>
          <a:xfrm>
            <a:off x="6934154" y="2193943"/>
            <a:ext cx="19263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03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본건 사업 개요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45A10F-51D0-4082-A416-C2AFF309052B}"/>
              </a:ext>
            </a:extLst>
          </p:cNvPr>
          <p:cNvSpPr txBox="1"/>
          <p:nvPr/>
        </p:nvSpPr>
        <p:spPr>
          <a:xfrm>
            <a:off x="251443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04  Appendix</a:t>
            </a:r>
            <a:endParaRPr lang="ko-KR" altLang="en-US" sz="2000" dirty="0">
              <a:solidFill>
                <a:schemeClr val="accent1">
                  <a:lumMod val="75000"/>
                </a:schemeClr>
              </a:solidFill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7C29AF-93AF-4BBC-BE8A-D1D8D5CABD65}"/>
              </a:ext>
            </a:extLst>
          </p:cNvPr>
          <p:cNvSpPr txBox="1"/>
          <p:nvPr/>
        </p:nvSpPr>
        <p:spPr>
          <a:xfrm>
            <a:off x="2904148" y="2618347"/>
            <a:ext cx="1348318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1.1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본건 사모사채</a:t>
            </a: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개요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DCC0F-7162-4AB5-B0EA-3B4E5E8EA6B0}"/>
              </a:ext>
            </a:extLst>
          </p:cNvPr>
          <p:cNvSpPr txBox="1"/>
          <p:nvPr/>
        </p:nvSpPr>
        <p:spPr>
          <a:xfrm>
            <a:off x="5201176" y="2623600"/>
            <a:ext cx="1663917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투자 구조도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2.2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본건 기초자산 금융조건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0AB626-2451-4571-A306-B6F61A1CB25B}"/>
              </a:ext>
            </a:extLst>
          </p:cNvPr>
          <p:cNvSpPr txBox="1"/>
          <p:nvPr/>
        </p:nvSpPr>
        <p:spPr>
          <a:xfrm>
            <a:off x="7368516" y="2543965"/>
            <a:ext cx="764825" cy="5309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사업개요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3.2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부제목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62C638-33B8-48F9-B292-D92156DDA980}"/>
              </a:ext>
            </a:extLst>
          </p:cNvPr>
          <p:cNvSpPr txBox="1"/>
          <p:nvPr/>
        </p:nvSpPr>
        <p:spPr>
          <a:xfrm>
            <a:off x="2943059" y="4651559"/>
            <a:ext cx="639599" cy="24506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4.1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 부제목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0C91072-6AEE-4C03-BC7F-A890C9321A47}"/>
              </a:ext>
            </a:extLst>
          </p:cNvPr>
          <p:cNvGrpSpPr/>
          <p:nvPr/>
        </p:nvGrpSpPr>
        <p:grpSpPr>
          <a:xfrm>
            <a:off x="31682" y="2200275"/>
            <a:ext cx="2484000" cy="2484000"/>
            <a:chOff x="31682" y="2200275"/>
            <a:chExt cx="2484000" cy="2484000"/>
          </a:xfrm>
        </p:grpSpPr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28A15163-1941-41DA-86EC-260AA91A6E43}"/>
                </a:ext>
              </a:extLst>
            </p:cNvPr>
            <p:cNvSpPr/>
            <p:nvPr/>
          </p:nvSpPr>
          <p:spPr>
            <a:xfrm>
              <a:off x="31682" y="2200275"/>
              <a:ext cx="2484000" cy="2484000"/>
            </a:xfrm>
            <a:custGeom>
              <a:avLst/>
              <a:gdLst/>
              <a:ahLst/>
              <a:cxnLst/>
              <a:rect l="l" t="t" r="r" b="b"/>
              <a:pathLst>
                <a:path w="8476683" h="8473151">
                  <a:moveTo>
                    <a:pt x="0" y="0"/>
                  </a:moveTo>
                  <a:lnTo>
                    <a:pt x="8476683" y="0"/>
                  </a:lnTo>
                  <a:lnTo>
                    <a:pt x="8476683" y="8473151"/>
                  </a:lnTo>
                  <a:lnTo>
                    <a:pt x="0" y="8473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grpSp>
          <p:nvGrpSpPr>
            <p:cNvPr id="54" name="Group 27">
              <a:extLst>
                <a:ext uri="{FF2B5EF4-FFF2-40B4-BE49-F238E27FC236}">
                  <a16:creationId xmlns:a16="http://schemas.microsoft.com/office/drawing/2014/main" id="{73E3FFAB-C0EA-4830-A4E8-4AEEADB58814}"/>
                </a:ext>
              </a:extLst>
            </p:cNvPr>
            <p:cNvGrpSpPr/>
            <p:nvPr/>
          </p:nvGrpSpPr>
          <p:grpSpPr>
            <a:xfrm>
              <a:off x="198221" y="2394496"/>
              <a:ext cx="2101462" cy="2126410"/>
              <a:chOff x="0" y="0"/>
              <a:chExt cx="812800" cy="812800"/>
            </a:xfrm>
          </p:grpSpPr>
          <p:sp>
            <p:nvSpPr>
              <p:cNvPr id="55" name="Freeform 28">
                <a:extLst>
                  <a:ext uri="{FF2B5EF4-FFF2-40B4-BE49-F238E27FC236}">
                    <a16:creationId xmlns:a16="http://schemas.microsoft.com/office/drawing/2014/main" id="{2F1C62CB-D090-4728-A13F-E198779CCB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3A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6" name="TextBox 29">
                <a:extLst>
                  <a:ext uri="{FF2B5EF4-FFF2-40B4-BE49-F238E27FC236}">
                    <a16:creationId xmlns:a16="http://schemas.microsoft.com/office/drawing/2014/main" id="{584FEC31-5AA0-4A82-BB69-B6D2DF8AD958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27517" tIns="27517" rIns="27517" bIns="27517" rtlCol="0" anchor="ctr"/>
              <a:lstStyle/>
              <a:p>
                <a:pPr algn="ctr">
                  <a:lnSpc>
                    <a:spcPts val="1668"/>
                  </a:lnSpc>
                  <a:spcBef>
                    <a:spcPct val="0"/>
                  </a:spcBef>
                </a:pPr>
                <a:endParaRPr sz="572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endParaRPr>
              </a:p>
            </p:txBody>
          </p:sp>
        </p:grp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74D6FA4D-E67D-4CDA-B453-21C414F80EA1}"/>
                </a:ext>
              </a:extLst>
            </p:cNvPr>
            <p:cNvSpPr/>
            <p:nvPr/>
          </p:nvSpPr>
          <p:spPr>
            <a:xfrm rot="5400000" flipH="1">
              <a:off x="-428568" y="2941955"/>
              <a:ext cx="2202681" cy="1025550"/>
            </a:xfrm>
            <a:custGeom>
              <a:avLst/>
              <a:gdLst/>
              <a:ahLst/>
              <a:cxnLst/>
              <a:rect l="l" t="t" r="r" b="b"/>
              <a:pathLst>
                <a:path w="7715094" h="3707614">
                  <a:moveTo>
                    <a:pt x="0" y="0"/>
                  </a:moveTo>
                  <a:lnTo>
                    <a:pt x="7715094" y="0"/>
                  </a:lnTo>
                  <a:lnTo>
                    <a:pt x="7715094" y="3707614"/>
                  </a:lnTo>
                  <a:lnTo>
                    <a:pt x="0" y="3707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935"/>
              </a:stretch>
            </a:blipFill>
          </p:spPr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C2AFDFC-B3D4-4F58-AC03-292C00DBB9AD}"/>
              </a:ext>
            </a:extLst>
          </p:cNvPr>
          <p:cNvSpPr txBox="1"/>
          <p:nvPr/>
        </p:nvSpPr>
        <p:spPr>
          <a:xfrm>
            <a:off x="4721444" y="4302960"/>
            <a:ext cx="1587295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05 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제목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943EE5-6A16-416E-BFE3-090CF8B45BD2}"/>
              </a:ext>
            </a:extLst>
          </p:cNvPr>
          <p:cNvSpPr txBox="1"/>
          <p:nvPr/>
        </p:nvSpPr>
        <p:spPr>
          <a:xfrm>
            <a:off x="5150069" y="4651559"/>
            <a:ext cx="630173" cy="2539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5.1 </a:t>
            </a:r>
            <a:r>
              <a:rPr lang="ko-KR" altLang="en-US" sz="1200" dirty="0"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rPr>
              <a:t>부제목</a:t>
            </a:r>
            <a:endParaRPr lang="en-US" altLang="ko-KR" sz="1200" dirty="0"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1F41B9F-3F37-45F4-BD59-25A29290BCF1}"/>
              </a:ext>
            </a:extLst>
          </p:cNvPr>
          <p:cNvSpPr/>
          <p:nvPr/>
        </p:nvSpPr>
        <p:spPr>
          <a:xfrm>
            <a:off x="302736" y="2502720"/>
            <a:ext cx="1893600" cy="19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Pretendard Variable SemiBold" panose="02000003000000020004" pitchFamily="2" charset="-127"/>
              <a:ea typeface="Pretendard Variable SemiBold" panose="02000003000000020004" pitchFamily="2" charset="-127"/>
              <a:cs typeface="Pretendard Variable SemiBold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77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980A85A-E26B-499D-917A-7A1FBA6E9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01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사모사채 개요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265187D-4FEE-459D-88AD-AD8F2F3CC016}"/>
              </a:ext>
            </a:extLst>
          </p:cNvPr>
          <p:cNvGrpSpPr/>
          <p:nvPr/>
        </p:nvGrpSpPr>
        <p:grpSpPr>
          <a:xfrm>
            <a:off x="1271800" y="3565688"/>
            <a:ext cx="2228799" cy="338554"/>
            <a:chOff x="1450226" y="3100952"/>
            <a:chExt cx="2228799" cy="3385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965C9E3-74F0-4799-B694-AD75DD9D024F}"/>
                </a:ext>
              </a:extLst>
            </p:cNvPr>
            <p:cNvSpPr txBox="1"/>
            <p:nvPr/>
          </p:nvSpPr>
          <p:spPr>
            <a:xfrm>
              <a:off x="1952270" y="3100952"/>
              <a:ext cx="17267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본건 사모사채</a:t>
              </a:r>
              <a:r>
                <a:rPr lang="en-US" altLang="ko-KR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 </a:t>
              </a:r>
              <a:r>
                <a:rPr lang="ko-KR" altLang="en-US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개요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6534D3-E6A9-4DD9-8FB9-1C6CDC2E254A}"/>
                </a:ext>
              </a:extLst>
            </p:cNvPr>
            <p:cNvSpPr txBox="1"/>
            <p:nvPr/>
          </p:nvSpPr>
          <p:spPr>
            <a:xfrm>
              <a:off x="1450226" y="3100952"/>
              <a:ext cx="4171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1.1</a:t>
              </a:r>
            </a:p>
          </p:txBody>
        </p:sp>
      </p:grpSp>
      <p:sp>
        <p:nvSpPr>
          <p:cNvPr id="33" name="타원 32">
            <a:extLst>
              <a:ext uri="{FF2B5EF4-FFF2-40B4-BE49-F238E27FC236}">
                <a16:creationId xmlns:a16="http://schemas.microsoft.com/office/drawing/2014/main" id="{EC3BE9A4-2108-40FA-A75C-0E2A5E8BDAE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B12FD72-5164-4E83-84EC-9AFB7C02874F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9F74AEA9-95AD-4FC6-BE8D-E471F1DAAAB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A81E6EE-BE3B-41CD-8EE7-815D58071242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267841C-0786-4ADF-9D01-3C5706666DDE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98153E9-F9DA-4B46-A2AF-7E0BA1BE16F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79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1FA3035A-768E-443A-806C-3941A656FFC4}"/>
              </a:ext>
            </a:extLst>
          </p:cNvPr>
          <p:cNvSpPr txBox="1">
            <a:spLocks/>
          </p:cNvSpPr>
          <p:nvPr/>
        </p:nvSpPr>
        <p:spPr>
          <a:xfrm>
            <a:off x="393700" y="920781"/>
            <a:ext cx="9207500" cy="36215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defRPr sz="900"/>
            </a:pPr>
            <a:r>
              <a:rPr lang="ko-KR" altLang="en-US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본 건은 사업명 대출을 기초자산으로 신규 </a:t>
            </a:r>
            <a:r>
              <a:rPr lang="en-US" altLang="ko-KR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SPC</a:t>
            </a:r>
            <a:r>
              <a:rPr lang="ko-KR" altLang="en-US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가 발행하는 사모사채로</a:t>
            </a:r>
            <a:r>
              <a:rPr lang="en-US" altLang="ko-KR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, </a:t>
            </a:r>
          </a:p>
          <a:p>
            <a:pPr>
              <a:lnSpc>
                <a:spcPct val="130000"/>
              </a:lnSpc>
              <a:spcBef>
                <a:spcPts val="0"/>
              </a:spcBef>
              <a:defRPr sz="900"/>
            </a:pPr>
            <a:r>
              <a:rPr lang="ko-KR" altLang="en-US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만기일은 발행일로부터 약 </a:t>
            </a:r>
            <a:r>
              <a:rPr lang="en-US" altLang="ko-KR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12</a:t>
            </a:r>
            <a:r>
              <a:rPr lang="ko-KR" altLang="en-US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개월 입니다</a:t>
            </a:r>
            <a:r>
              <a:rPr lang="en-US" altLang="ko-KR" sz="95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.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01  </a:t>
            </a: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사모사채 개요</a:t>
            </a:r>
          </a:p>
        </p:txBody>
      </p:sp>
      <p:graphicFrame>
        <p:nvGraphicFramePr>
          <p:cNvPr id="16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422387"/>
              </p:ext>
            </p:extLst>
          </p:nvPr>
        </p:nvGraphicFramePr>
        <p:xfrm>
          <a:off x="304801" y="1447800"/>
          <a:ext cx="9296400" cy="5012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사모사채명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TBD(신규 유동화 SPC) 제1회 무기명식 무보증 사모사채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사채 유형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국내 전자등록 또는 실물 발행, 무기명식 무보증 사모사채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발행인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TBD(신규 유동화 SPC)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Pretendard Variable ExtraBold" panose="02000003000000020004" pitchFamily="2" charset="-127"/>
                        <a:ea typeface="Pretendard Variable ExtraBold" panose="02000003000000020004" pitchFamily="2" charset="-127"/>
                        <a:cs typeface="Pretendard Variable ExtraBold" panose="02000003000000020004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기초자산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사업명 토지담보대출 </a:t>
                      </a:r>
                      <a:r>
                        <a:rPr lang="ko-KR" altLang="en-US" sz="1050" b="0" kern="1200" dirty="0" err="1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Tr.B</a:t>
                      </a: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 대출채권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발행금액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en-US" altLang="ko-KR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000 </a:t>
                      </a:r>
                      <a:r>
                        <a:rPr lang="en-US" altLang="ko-KR" sz="1050" b="0" kern="1200" dirty="0" err="1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억원</a:t>
                      </a:r>
                      <a:r>
                        <a:rPr lang="en-US" altLang="ko-KR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 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Pretendard Variable ExtraBold" panose="02000003000000020004" pitchFamily="2" charset="-127"/>
                        <a:ea typeface="Pretendard Variable ExtraBold" panose="02000003000000020004" pitchFamily="2" charset="-127"/>
                        <a:cs typeface="Pretendard Variable ExtraBold" panose="02000003000000020004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발행일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2000년 00월 (예정)</a:t>
                      </a:r>
                      <a:endParaRPr lang="ko-KR" altLang="en-US" sz="1050" b="0" kern="1200" dirty="0">
                        <a:solidFill>
                          <a:schemeClr val="tx1"/>
                        </a:solidFill>
                        <a:latin typeface="Pretendard Variable ExtraBold" panose="02000003000000020004" pitchFamily="2" charset="-127"/>
                        <a:ea typeface="Pretendard Variable ExtraBold" panose="02000003000000020004" pitchFamily="2" charset="-127"/>
                        <a:cs typeface="Pretendard Variable ExtraBold" panose="02000003000000020004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3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만기일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en-US" sz="1050" b="0" kern="1200" dirty="0" err="1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발행일로부터</a:t>
                      </a:r>
                      <a:r>
                        <a:rPr 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 약 00개</a:t>
                      </a: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월</a:t>
                      </a:r>
                      <a:endParaRPr lang="en-US" sz="1050" b="0" kern="1200" dirty="0">
                        <a:solidFill>
                          <a:srgbClr val="000000"/>
                        </a:solidFill>
                        <a:latin typeface="Pretendard Variable ExtraBold" panose="02000003000000020004" pitchFamily="2" charset="-127"/>
                        <a:ea typeface="Pretendard Variable ExtraBold" panose="02000003000000020004" pitchFamily="2" charset="-127"/>
                        <a:cs typeface="Pretendard Variable ExtraBold" panose="02000003000000020004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342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금융조건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채권 금리: 연 [ </a:t>
                      </a:r>
                      <a:r>
                        <a:rPr lang="en-US" altLang="ko-KR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0.0</a:t>
                      </a: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 ]%(고정, </a:t>
                      </a:r>
                      <a:r>
                        <a:rPr lang="ko-KR" altLang="en-US" sz="1050" b="0" kern="1200" dirty="0" err="1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세전</a:t>
                      </a: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)</a:t>
                      </a:r>
                      <a:endParaRPr lang="en-US" sz="1050" b="0" kern="1200" dirty="0">
                        <a:solidFill>
                          <a:schemeClr val="tx1"/>
                        </a:solidFill>
                        <a:latin typeface="Pretendard Variable ExtraBold" panose="02000003000000020004" pitchFamily="2" charset="-127"/>
                        <a:ea typeface="Pretendard Variable ExtraBold" panose="02000003000000020004" pitchFamily="2" charset="-127"/>
                        <a:cs typeface="Pretendard Variable ExtraBold" panose="02000003000000020004" pitchFamily="2" charset="-127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55337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50">
                          <a:latin typeface="피플폰트 Bold"/>
                        </a:defRPr>
                      </a:pPr>
                      <a:r>
                        <a:rPr lang="ko-KR" alt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이자지급주기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 sz="1050">
                          <a:latin typeface="피플폰트 Bold"/>
                        </a:defRPr>
                      </a:pPr>
                      <a:r>
                        <a:rPr lang="en-US" sz="1050" b="0" kern="1200" dirty="0">
                          <a:solidFill>
                            <a:srgbClr val="000000"/>
                          </a:solidFill>
                          <a:latin typeface="Pretendard Variable ExtraBold" panose="02000003000000020004" pitchFamily="2" charset="-127"/>
                          <a:ea typeface="Pretendard Variable ExtraBold" panose="02000003000000020004" pitchFamily="2" charset="-127"/>
                          <a:cs typeface="Pretendard Variable ExtraBold" panose="02000003000000020004" pitchFamily="2" charset="-127"/>
                        </a:rPr>
                        <a:t>3개월 단위 후취 또는 만기 전액 후취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rgbClr val="A5A5A5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45B4E01-8E51-938E-3086-5CA353FEB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1.1 </a:t>
            </a: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본건 사모사채 개요</a:t>
            </a:r>
          </a:p>
        </p:txBody>
      </p:sp>
      <p:sp>
        <p:nvSpPr>
          <p:cNvPr id="7" name="슬라이드 번호 개체 틀 1">
            <a:extLst>
              <a:ext uri="{FF2B5EF4-FFF2-40B4-BE49-F238E27FC236}">
                <a16:creationId xmlns:a16="http://schemas.microsoft.com/office/drawing/2014/main" id="{751792E8-F4A3-40BD-8E96-72AD849F4E74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사업명｜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>
                <a:defRPr/>
              </a:pPr>
              <a:t>7</a:t>
            </a:fld>
            <a:endParaRPr lang="en-US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3D2529-4B5E-4BB1-874F-74A18E4A14AB}"/>
              </a:ext>
            </a:extLst>
          </p:cNvPr>
          <p:cNvGrpSpPr/>
          <p:nvPr/>
        </p:nvGrpSpPr>
        <p:grpSpPr>
          <a:xfrm>
            <a:off x="1250367" y="3714899"/>
            <a:ext cx="2637565" cy="338554"/>
            <a:chOff x="1450226" y="3100952"/>
            <a:chExt cx="2637565" cy="33855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35E2EC-3527-4479-8558-2C304504BDA4}"/>
                </a:ext>
              </a:extLst>
            </p:cNvPr>
            <p:cNvSpPr txBox="1"/>
            <p:nvPr/>
          </p:nvSpPr>
          <p:spPr>
            <a:xfrm>
              <a:off x="1952270" y="3100952"/>
              <a:ext cx="21355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본건 기초자산 금융조건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48BE46-5DDC-429C-85F2-0478C7231F9E}"/>
                </a:ext>
              </a:extLst>
            </p:cNvPr>
            <p:cNvSpPr txBox="1"/>
            <p:nvPr/>
          </p:nvSpPr>
          <p:spPr>
            <a:xfrm>
              <a:off x="1450226" y="3100952"/>
              <a:ext cx="4780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2.2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65EA7F1-5BE2-4AA4-BF5D-760454B31681}"/>
              </a:ext>
            </a:extLst>
          </p:cNvPr>
          <p:cNvGrpSpPr/>
          <p:nvPr/>
        </p:nvGrpSpPr>
        <p:grpSpPr>
          <a:xfrm>
            <a:off x="1271800" y="3420705"/>
            <a:ext cx="2047660" cy="338554"/>
            <a:chOff x="1450226" y="3100952"/>
            <a:chExt cx="2047660" cy="33855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4DC45F-2CB3-4D8D-8487-FE129CFA61E7}"/>
                </a:ext>
              </a:extLst>
            </p:cNvPr>
            <p:cNvSpPr txBox="1"/>
            <p:nvPr/>
          </p:nvSpPr>
          <p:spPr>
            <a:xfrm>
              <a:off x="1952270" y="3100952"/>
              <a:ext cx="15456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금융 투자 구조도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C0D8AF-B505-4A37-8FB4-4EBE203332E7}"/>
                </a:ext>
              </a:extLst>
            </p:cNvPr>
            <p:cNvSpPr txBox="1"/>
            <p:nvPr/>
          </p:nvSpPr>
          <p:spPr>
            <a:xfrm>
              <a:off x="1450226" y="3100952"/>
              <a:ext cx="447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2.1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48E2BFD-FD71-4F48-BF21-AB8A94311C31}"/>
              </a:ext>
            </a:extLst>
          </p:cNvPr>
          <p:cNvSpPr txBox="1"/>
          <p:nvPr/>
        </p:nvSpPr>
        <p:spPr>
          <a:xfrm>
            <a:off x="1161667" y="280454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02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금융개요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F10BF00-5AEE-4A58-B5EF-DF56AEEA7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74530055-36A6-42BF-A7EE-327406798C17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1FBEACD-23F4-4B4B-ACD2-3842D0037E57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0CE2F4D-781B-4555-AC10-1087A86260EE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870C148-AE9E-46FC-89CB-D79F3AEDC0E6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D5F13AF-3C30-47CF-BDEC-1865B89B430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EDA21D-7F71-4545-8731-8D306B9098F5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5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497E-CA2D-B56C-671B-620574530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2BD8EB-E4D1-8DD6-9433-919D868E60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02  </a:t>
            </a: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금융 개요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335E72A8-37C2-924F-5535-B6ED3136737E}"/>
              </a:ext>
            </a:extLst>
          </p:cNvPr>
          <p:cNvCxnSpPr/>
          <p:nvPr/>
        </p:nvCxnSpPr>
        <p:spPr>
          <a:xfrm>
            <a:off x="393700" y="1281520"/>
            <a:ext cx="9118600" cy="0"/>
          </a:xfrm>
          <a:prstGeom prst="straightConnector1">
            <a:avLst/>
          </a:prstGeom>
          <a:ln w="190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22D31CD-12B0-C76C-38FC-53ACE6B3C8BA}"/>
              </a:ext>
            </a:extLst>
          </p:cNvPr>
          <p:cNvCxnSpPr/>
          <p:nvPr/>
        </p:nvCxnSpPr>
        <p:spPr>
          <a:xfrm>
            <a:off x="393700" y="6449059"/>
            <a:ext cx="9118600" cy="0"/>
          </a:xfrm>
          <a:prstGeom prst="straightConnector1">
            <a:avLst/>
          </a:prstGeom>
          <a:ln w="1905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BBFC007-F478-2947-4705-FB218556BE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700" y="588702"/>
            <a:ext cx="3228975" cy="265509"/>
          </a:xfrm>
        </p:spPr>
        <p:txBody>
          <a:bodyPr/>
          <a:lstStyle/>
          <a:p>
            <a:r>
              <a:rPr lang="en-US" altLang="ko-KR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2.1  </a:t>
            </a: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금융 구조도</a:t>
            </a:r>
          </a:p>
        </p:txBody>
      </p:sp>
      <p:graphicFrame>
        <p:nvGraphicFramePr>
          <p:cNvPr id="55" name="표 4">
            <a:extLst>
              <a:ext uri="{FF2B5EF4-FFF2-40B4-BE49-F238E27FC236}">
                <a16:creationId xmlns:a16="http://schemas.microsoft.com/office/drawing/2014/main" id="{5E1AF96E-544D-41EC-ABEE-8311C0666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965323"/>
              </p:ext>
            </p:extLst>
          </p:nvPr>
        </p:nvGraphicFramePr>
        <p:xfrm>
          <a:off x="3850619" y="3421826"/>
          <a:ext cx="2336121" cy="4581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23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11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2842" marR="152842" marT="76421" marB="76421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7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4">
            <a:extLst>
              <a:ext uri="{FF2B5EF4-FFF2-40B4-BE49-F238E27FC236}">
                <a16:creationId xmlns:a16="http://schemas.microsoft.com/office/drawing/2014/main" id="{5CFB28B6-CFDF-4672-A21C-C633063E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950952"/>
              </p:ext>
            </p:extLst>
          </p:nvPr>
        </p:nvGraphicFramePr>
        <p:xfrm>
          <a:off x="3374299" y="1972886"/>
          <a:ext cx="1319637" cy="55425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692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8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" name="표 4">
            <a:extLst>
              <a:ext uri="{FF2B5EF4-FFF2-40B4-BE49-F238E27FC236}">
                <a16:creationId xmlns:a16="http://schemas.microsoft.com/office/drawing/2014/main" id="{A6B277D0-69D9-4E76-A9E5-A262783B3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14827"/>
              </p:ext>
            </p:extLst>
          </p:nvPr>
        </p:nvGraphicFramePr>
        <p:xfrm>
          <a:off x="5050700" y="2124587"/>
          <a:ext cx="1218808" cy="4025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표 4">
            <a:extLst>
              <a:ext uri="{FF2B5EF4-FFF2-40B4-BE49-F238E27FC236}">
                <a16:creationId xmlns:a16="http://schemas.microsoft.com/office/drawing/2014/main" id="{3A758F2F-BCDF-4726-ACAE-51EF30BA1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276718"/>
              </p:ext>
            </p:extLst>
          </p:nvPr>
        </p:nvGraphicFramePr>
        <p:xfrm>
          <a:off x="3551490" y="4769717"/>
          <a:ext cx="1319637" cy="5542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2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표 4">
            <a:extLst>
              <a:ext uri="{FF2B5EF4-FFF2-40B4-BE49-F238E27FC236}">
                <a16:creationId xmlns:a16="http://schemas.microsoft.com/office/drawing/2014/main" id="{1CA2B7BA-AD8B-4EA7-8564-D6A98C179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27976"/>
              </p:ext>
            </p:extLst>
          </p:nvPr>
        </p:nvGraphicFramePr>
        <p:xfrm>
          <a:off x="5227889" y="4769716"/>
          <a:ext cx="1319637" cy="55424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1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424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8" name="표 4">
            <a:extLst>
              <a:ext uri="{FF2B5EF4-FFF2-40B4-BE49-F238E27FC236}">
                <a16:creationId xmlns:a16="http://schemas.microsoft.com/office/drawing/2014/main" id="{CFFD7038-13E8-451A-9065-BA4E71AC1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531021"/>
              </p:ext>
            </p:extLst>
          </p:nvPr>
        </p:nvGraphicFramePr>
        <p:xfrm>
          <a:off x="7300010" y="2539270"/>
          <a:ext cx="1522966" cy="206843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522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71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71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9" name="표 4">
            <a:extLst>
              <a:ext uri="{FF2B5EF4-FFF2-40B4-BE49-F238E27FC236}">
                <a16:creationId xmlns:a16="http://schemas.microsoft.com/office/drawing/2014/main" id="{85AA7DEE-761D-47A3-8455-0741150FC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019722"/>
              </p:ext>
            </p:extLst>
          </p:nvPr>
        </p:nvGraphicFramePr>
        <p:xfrm>
          <a:off x="7515503" y="2999805"/>
          <a:ext cx="1091980" cy="63425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425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1302" marR="71302" marT="69474" marB="6947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표 4">
            <a:extLst>
              <a:ext uri="{FF2B5EF4-FFF2-40B4-BE49-F238E27FC236}">
                <a16:creationId xmlns:a16="http://schemas.microsoft.com/office/drawing/2014/main" id="{A9B47528-D995-4A96-A084-E69DC968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528465"/>
              </p:ext>
            </p:extLst>
          </p:nvPr>
        </p:nvGraphicFramePr>
        <p:xfrm>
          <a:off x="795758" y="2520872"/>
          <a:ext cx="1819273" cy="240539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819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71674" marR="171674" marT="78033" marB="78033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539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600" b="1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72000" marB="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8FA2A1F3-4586-4624-924A-79650549C61A}"/>
              </a:ext>
            </a:extLst>
          </p:cNvPr>
          <p:cNvSpPr/>
          <p:nvPr/>
        </p:nvSpPr>
        <p:spPr>
          <a:xfrm>
            <a:off x="941325" y="2997575"/>
            <a:ext cx="1587084" cy="179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2" name="표 4">
            <a:extLst>
              <a:ext uri="{FF2B5EF4-FFF2-40B4-BE49-F238E27FC236}">
                <a16:creationId xmlns:a16="http://schemas.microsoft.com/office/drawing/2014/main" id="{BA813C25-5D3B-4210-8DF9-AA7E7B6B2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43442"/>
              </p:ext>
            </p:extLst>
          </p:nvPr>
        </p:nvGraphicFramePr>
        <p:xfrm>
          <a:off x="1060992" y="3236726"/>
          <a:ext cx="1356468" cy="4312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5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2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4146" marR="74146" marT="72245" marB="7224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D3A9799-8684-4BA6-925A-9A4015E98C49}"/>
              </a:ext>
            </a:extLst>
          </p:cNvPr>
          <p:cNvCxnSpPr>
            <a:cxnSpLocks/>
          </p:cNvCxnSpPr>
          <p:nvPr/>
        </p:nvCxnSpPr>
        <p:spPr>
          <a:xfrm flipV="1">
            <a:off x="3896721" y="2664142"/>
            <a:ext cx="0" cy="63873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6963D05-914D-43CD-8D3F-AF59390B0978}"/>
              </a:ext>
            </a:extLst>
          </p:cNvPr>
          <p:cNvCxnSpPr>
            <a:cxnSpLocks/>
          </p:cNvCxnSpPr>
          <p:nvPr/>
        </p:nvCxnSpPr>
        <p:spPr>
          <a:xfrm flipH="1">
            <a:off x="2698608" y="3573485"/>
            <a:ext cx="984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DA6ACCD5-8993-4F0E-AB15-57E013FCEF45}"/>
              </a:ext>
            </a:extLst>
          </p:cNvPr>
          <p:cNvCxnSpPr>
            <a:cxnSpLocks/>
          </p:cNvCxnSpPr>
          <p:nvPr/>
        </p:nvCxnSpPr>
        <p:spPr>
          <a:xfrm>
            <a:off x="2698608" y="3699416"/>
            <a:ext cx="984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B5C1A78-8AAE-41D9-909E-077E0FD38355}"/>
              </a:ext>
            </a:extLst>
          </p:cNvPr>
          <p:cNvCxnSpPr>
            <a:cxnSpLocks/>
          </p:cNvCxnSpPr>
          <p:nvPr/>
        </p:nvCxnSpPr>
        <p:spPr>
          <a:xfrm flipH="1" flipV="1">
            <a:off x="4093752" y="2664142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E31FEEF-134C-4FD0-A7F5-CA0B940741DB}"/>
              </a:ext>
            </a:extLst>
          </p:cNvPr>
          <p:cNvCxnSpPr>
            <a:cxnSpLocks/>
          </p:cNvCxnSpPr>
          <p:nvPr/>
        </p:nvCxnSpPr>
        <p:spPr>
          <a:xfrm flipH="1" flipV="1">
            <a:off x="5550300" y="2624813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0F607D1-8353-4C68-8400-D4E286EF82C9}"/>
              </a:ext>
            </a:extLst>
          </p:cNvPr>
          <p:cNvCxnSpPr>
            <a:cxnSpLocks/>
          </p:cNvCxnSpPr>
          <p:nvPr/>
        </p:nvCxnSpPr>
        <p:spPr>
          <a:xfrm flipH="1" flipV="1">
            <a:off x="4170140" y="4004183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0BC1BA5-1A0B-4D13-B5CD-F14BDC3D465A}"/>
              </a:ext>
            </a:extLst>
          </p:cNvPr>
          <p:cNvCxnSpPr>
            <a:cxnSpLocks/>
          </p:cNvCxnSpPr>
          <p:nvPr/>
        </p:nvCxnSpPr>
        <p:spPr>
          <a:xfrm flipH="1" flipV="1">
            <a:off x="5880449" y="4004183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24B0450-6D87-47E9-A757-D56A3741B666}"/>
              </a:ext>
            </a:extLst>
          </p:cNvPr>
          <p:cNvCxnSpPr>
            <a:cxnSpLocks/>
          </p:cNvCxnSpPr>
          <p:nvPr/>
        </p:nvCxnSpPr>
        <p:spPr>
          <a:xfrm>
            <a:off x="6269507" y="3652092"/>
            <a:ext cx="98426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none" w="sm" len="sm"/>
          </a:ln>
          <a:effectLst/>
        </p:spPr>
      </p:cxnSp>
      <p:graphicFrame>
        <p:nvGraphicFramePr>
          <p:cNvPr id="93" name="표 4">
            <a:extLst>
              <a:ext uri="{FF2B5EF4-FFF2-40B4-BE49-F238E27FC236}">
                <a16:creationId xmlns:a16="http://schemas.microsoft.com/office/drawing/2014/main" id="{05F8FB52-777E-472C-97E3-5F97E5844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08391"/>
              </p:ext>
            </p:extLst>
          </p:nvPr>
        </p:nvGraphicFramePr>
        <p:xfrm>
          <a:off x="1072074" y="3741053"/>
          <a:ext cx="1356468" cy="4312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5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2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4146" marR="74146" marT="72245" marB="7224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4" name="표 4">
            <a:extLst>
              <a:ext uri="{FF2B5EF4-FFF2-40B4-BE49-F238E27FC236}">
                <a16:creationId xmlns:a16="http://schemas.microsoft.com/office/drawing/2014/main" id="{4547316F-5AA4-4A66-8EE0-AADACDDBF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64750"/>
              </p:ext>
            </p:extLst>
          </p:nvPr>
        </p:nvGraphicFramePr>
        <p:xfrm>
          <a:off x="1072074" y="4252310"/>
          <a:ext cx="1356468" cy="4312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35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120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4146" marR="74146" marT="72245" marB="7224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8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4">
            <a:extLst>
              <a:ext uri="{FF2B5EF4-FFF2-40B4-BE49-F238E27FC236}">
                <a16:creationId xmlns:a16="http://schemas.microsoft.com/office/drawing/2014/main" id="{BEF05454-7BEA-4C98-AAB6-BABDC46D9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256177"/>
              </p:ext>
            </p:extLst>
          </p:nvPr>
        </p:nvGraphicFramePr>
        <p:xfrm>
          <a:off x="5050700" y="1667119"/>
          <a:ext cx="1218808" cy="40253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218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53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3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A72E3E17-616D-483C-96AD-53D6C9BE000A}"/>
              </a:ext>
            </a:extLst>
          </p:cNvPr>
          <p:cNvSpPr/>
          <p:nvPr/>
        </p:nvSpPr>
        <p:spPr>
          <a:xfrm>
            <a:off x="7401676" y="3734362"/>
            <a:ext cx="1319635" cy="2231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0" name="표 4">
            <a:extLst>
              <a:ext uri="{FF2B5EF4-FFF2-40B4-BE49-F238E27FC236}">
                <a16:creationId xmlns:a16="http://schemas.microsoft.com/office/drawing/2014/main" id="{BE4E943E-44E6-4994-90F7-525EB56A9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395997"/>
              </p:ext>
            </p:extLst>
          </p:nvPr>
        </p:nvGraphicFramePr>
        <p:xfrm>
          <a:off x="7515503" y="3814728"/>
          <a:ext cx="1091980" cy="63438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438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9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71302" marR="71302" marT="69474" marB="6947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표 4">
            <a:extLst>
              <a:ext uri="{FF2B5EF4-FFF2-40B4-BE49-F238E27FC236}">
                <a16:creationId xmlns:a16="http://schemas.microsoft.com/office/drawing/2014/main" id="{94DEC467-85BA-43A1-BCD6-A32963B2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39096"/>
              </p:ext>
            </p:extLst>
          </p:nvPr>
        </p:nvGraphicFramePr>
        <p:xfrm>
          <a:off x="7515503" y="5284307"/>
          <a:ext cx="1091980" cy="58726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{D03447BB-5D67-496B-8E87-E561075AD55C}</a:tableStyleId>
              </a:tblPr>
              <a:tblGrid>
                <a:gridCol w="109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351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156067" marR="156067" marT="70939" marB="70939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989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000" b="1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436B06B-38CA-4D5E-9130-A6308691B66D}"/>
              </a:ext>
            </a:extLst>
          </p:cNvPr>
          <p:cNvCxnSpPr>
            <a:cxnSpLocks/>
          </p:cNvCxnSpPr>
          <p:nvPr/>
        </p:nvCxnSpPr>
        <p:spPr>
          <a:xfrm flipH="1" flipV="1">
            <a:off x="8068756" y="4549818"/>
            <a:ext cx="1" cy="63687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sm" len="sm"/>
            <a:tailEnd type="triangle" w="sm" len="sm"/>
          </a:ln>
          <a:effectLst/>
        </p:spPr>
      </p:cxnSp>
      <p:sp>
        <p:nvSpPr>
          <p:cNvPr id="47" name="텍스트 개체 틀 2">
            <a:extLst>
              <a:ext uri="{FF2B5EF4-FFF2-40B4-BE49-F238E27FC236}">
                <a16:creationId xmlns:a16="http://schemas.microsoft.com/office/drawing/2014/main" id="{1CAACE9D-F737-44F9-B792-E73743F413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3700" y="927000"/>
            <a:ext cx="7912100" cy="349711"/>
          </a:xfrm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본건은</a:t>
            </a:r>
            <a:endParaRPr lang="en-US" altLang="ko-KR" sz="900" dirty="0"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ko-KR" altLang="en-US" sz="9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을 담보로 하는 담보대출의 </a:t>
            </a:r>
            <a:r>
              <a:rPr lang="en-US" altLang="ko-KR" sz="9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Tr.</a:t>
            </a:r>
            <a:r>
              <a:rPr lang="ko-KR" altLang="en-US" sz="9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를 기초로 발행하는 사모사채 입니다</a:t>
            </a:r>
            <a:r>
              <a:rPr lang="en-US" altLang="ko-KR" sz="9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.</a:t>
            </a:r>
          </a:p>
        </p:txBody>
      </p:sp>
      <p:sp>
        <p:nvSpPr>
          <p:cNvPr id="34" name="슬라이드 번호 개체 틀 1">
            <a:extLst>
              <a:ext uri="{FF2B5EF4-FFF2-40B4-BE49-F238E27FC236}">
                <a16:creationId xmlns:a16="http://schemas.microsoft.com/office/drawing/2014/main" id="{E9B3BA0D-EEAE-4E8E-BC9C-5DC1851989FB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사업명｜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>
                <a:defRPr/>
              </a:pPr>
              <a:t>9</a:t>
            </a:fld>
            <a:endParaRPr lang="en-US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969154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C09D19D-CA50-430E-85B5-00C309F8E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8728A0F9-9485-4B2B-9C49-2ED3C0EAC968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DAED8D2-CF0B-43DF-9501-2403FD23977C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8FBC9A9-5B48-4C3F-9805-529CC43DEC0C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85C8F8B0-58B3-422C-ADCD-6FD3E5E593F5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C997C7B-70B2-4B3B-A9EC-97E07DEBFC1D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A09F73B-712F-468F-8809-9B97F03B9E17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190FE-0EAC-4337-BAD5-C332EB9AF690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03  </a:t>
            </a: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본건 사업개요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FE0CA57-EFBB-4F40-8326-535B0FA79A61}"/>
              </a:ext>
            </a:extLst>
          </p:cNvPr>
          <p:cNvGrpSpPr/>
          <p:nvPr/>
        </p:nvGrpSpPr>
        <p:grpSpPr>
          <a:xfrm>
            <a:off x="1271800" y="3565688"/>
            <a:ext cx="1230128" cy="338554"/>
            <a:chOff x="1450226" y="3100952"/>
            <a:chExt cx="1230128" cy="33855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F495D4-9972-404F-9D3E-F73E8DA71BE2}"/>
                </a:ext>
              </a:extLst>
            </p:cNvPr>
            <p:cNvSpPr txBox="1"/>
            <p:nvPr/>
          </p:nvSpPr>
          <p:spPr>
            <a:xfrm>
              <a:off x="1952270" y="310095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소제목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6A10526-2E09-44A0-852F-E8235DCB4DCB}"/>
                </a:ext>
              </a:extLst>
            </p:cNvPr>
            <p:cNvSpPr txBox="1"/>
            <p:nvPr/>
          </p:nvSpPr>
          <p:spPr>
            <a:xfrm>
              <a:off x="1450226" y="3100952"/>
              <a:ext cx="4539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3.1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22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페이지 요약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6844E0BE-0762-450D-A848-A97147645F7C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사업명｜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>
                <a:defRPr/>
              </a:pPr>
              <a:t>11</a:t>
            </a:fld>
            <a:endParaRPr lang="en-US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743085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4C0DED-FC0A-4276-BB06-0290D081D9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124" t="35068" r="5643" b="19413"/>
          <a:stretch/>
        </p:blipFill>
        <p:spPr>
          <a:xfrm>
            <a:off x="-1" y="4136207"/>
            <a:ext cx="9906001" cy="246396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DD57231-2B6A-43DF-9ED0-FB2FB86EF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3" y="257826"/>
            <a:ext cx="2665584" cy="213076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892442E4-BA68-419D-944D-0E981AEF998B}"/>
              </a:ext>
            </a:extLst>
          </p:cNvPr>
          <p:cNvSpPr/>
          <p:nvPr/>
        </p:nvSpPr>
        <p:spPr>
          <a:xfrm>
            <a:off x="6256041" y="2960411"/>
            <a:ext cx="3132000" cy="313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B56E101-BCBD-40A4-99F5-D2FDC42CA5A3}"/>
              </a:ext>
            </a:extLst>
          </p:cNvPr>
          <p:cNvSpPr/>
          <p:nvPr/>
        </p:nvSpPr>
        <p:spPr>
          <a:xfrm>
            <a:off x="6479253" y="3164844"/>
            <a:ext cx="2680631" cy="2723133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3FD978-F67F-4F41-A996-C9D3FB06FE38}"/>
              </a:ext>
            </a:extLst>
          </p:cNvPr>
          <p:cNvSpPr/>
          <p:nvPr/>
        </p:nvSpPr>
        <p:spPr>
          <a:xfrm>
            <a:off x="5877822" y="264438"/>
            <a:ext cx="3492000" cy="3492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442E925-D1CF-4E49-8E1A-6BE23EF6B1EB}"/>
              </a:ext>
            </a:extLst>
          </p:cNvPr>
          <p:cNvSpPr/>
          <p:nvPr/>
        </p:nvSpPr>
        <p:spPr>
          <a:xfrm>
            <a:off x="6146441" y="495050"/>
            <a:ext cx="2959819" cy="3045868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9DF0422-9C1C-4D6E-84D9-B33AD0834E5C}"/>
              </a:ext>
            </a:extLst>
          </p:cNvPr>
          <p:cNvSpPr/>
          <p:nvPr/>
        </p:nvSpPr>
        <p:spPr>
          <a:xfrm>
            <a:off x="4893066" y="2222958"/>
            <a:ext cx="2448000" cy="2448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801DFB0-65D4-4FF3-A4CD-523E0B863A92}"/>
              </a:ext>
            </a:extLst>
          </p:cNvPr>
          <p:cNvSpPr/>
          <p:nvPr/>
        </p:nvSpPr>
        <p:spPr>
          <a:xfrm>
            <a:off x="5091944" y="2395729"/>
            <a:ext cx="2072556" cy="2085592"/>
          </a:xfrm>
          <a:prstGeom prst="ellipse">
            <a:avLst/>
          </a:prstGeom>
          <a:solidFill>
            <a:srgbClr val="92D0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5F2CF36-38A3-4A79-B832-57FCCC1929A4}"/>
              </a:ext>
            </a:extLst>
          </p:cNvPr>
          <p:cNvGrpSpPr/>
          <p:nvPr/>
        </p:nvGrpSpPr>
        <p:grpSpPr>
          <a:xfrm>
            <a:off x="1271800" y="3565688"/>
            <a:ext cx="1230128" cy="338554"/>
            <a:chOff x="1450226" y="3100952"/>
            <a:chExt cx="1230128" cy="33855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8E28E92-72BA-4563-8F91-92E4C2566D9F}"/>
                </a:ext>
              </a:extLst>
            </p:cNvPr>
            <p:cNvSpPr txBox="1"/>
            <p:nvPr/>
          </p:nvSpPr>
          <p:spPr>
            <a:xfrm>
              <a:off x="1952270" y="310095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소제목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99673F-CDEE-4E43-92EC-AB5BC385E734}"/>
                </a:ext>
              </a:extLst>
            </p:cNvPr>
            <p:cNvSpPr txBox="1"/>
            <p:nvPr/>
          </p:nvSpPr>
          <p:spPr>
            <a:xfrm>
              <a:off x="1450226" y="3100952"/>
              <a:ext cx="455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latin typeface="Pretendard Variable SemiBold" panose="02000003000000020004" pitchFamily="2" charset="-127"/>
                  <a:ea typeface="Pretendard Variable SemiBold" panose="02000003000000020004" pitchFamily="2" charset="-127"/>
                  <a:cs typeface="Pretendard Variable SemiBold" panose="02000003000000020004" pitchFamily="2" charset="-127"/>
                </a:rPr>
                <a:t>4.1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0C7AD87-666B-4DF0-B421-61A74BB13515}"/>
              </a:ext>
            </a:extLst>
          </p:cNvPr>
          <p:cNvSpPr txBox="1"/>
          <p:nvPr/>
        </p:nvSpPr>
        <p:spPr>
          <a:xfrm>
            <a:off x="1169067" y="2953758"/>
            <a:ext cx="361439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04  Appendix</a:t>
            </a: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085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페이지 요약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F387E41-AA57-4C33-A3A1-FC20755E04AA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사업명｜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pPr>
                <a:defRPr/>
              </a:pPr>
              <a:t>13</a:t>
            </a:fld>
            <a:endParaRPr lang="en-US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7ED05E1-E27D-42FC-A1B1-9161FF087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0" t="31255" r="16174" b="4273"/>
          <a:stretch/>
        </p:blipFill>
        <p:spPr>
          <a:xfrm>
            <a:off x="0" y="-1"/>
            <a:ext cx="9906000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78EBF-6031-4786-87A6-759A81DCD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Pretendard Variable ExtraBold" panose="02000003000000020004" pitchFamily="2" charset="-127"/>
                <a:ea typeface="Pretendard Variable ExtraBold" panose="02000003000000020004" pitchFamily="2" charset="-127"/>
                <a:cs typeface="Pretendard Variable ExtraBold" panose="02000003000000020004" pitchFamily="2" charset="-127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Pretendard Variable ExtraBold" panose="02000003000000020004" pitchFamily="2" charset="-127"/>
              <a:ea typeface="Pretendard Variable ExtraBold" panose="02000003000000020004" pitchFamily="2" charset="-127"/>
              <a:cs typeface="Pretendard Variable ExtraBold" panose="020000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88A03B-A403-4E01-9951-EE88BCB4C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86318"/>
              </p:ext>
            </p:extLst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2E3653A-1EF8-4176-AE78-824C7DB17F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4" t="13244" r="18493" b="20606"/>
          <a:stretch/>
        </p:blipFill>
        <p:spPr>
          <a:xfrm>
            <a:off x="3276600" y="1356361"/>
            <a:ext cx="3352800" cy="337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11131</TotalTime>
  <Words>812</Words>
  <Application>Microsoft Office PowerPoint</Application>
  <PresentationFormat>A4 용지(210x297mm)</PresentationFormat>
  <Paragraphs>130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9" baseType="lpstr">
      <vt:lpstr>Montserrat Bold</vt:lpstr>
      <vt:lpstr>Pretendard Black</vt:lpstr>
      <vt:lpstr>Pretendard ExtraBold</vt:lpstr>
      <vt:lpstr>Pretendard Light</vt:lpstr>
      <vt:lpstr>Pretendard Medium</vt:lpstr>
      <vt:lpstr>Pretendard SemiBold</vt:lpstr>
      <vt:lpstr>Pretendard Variable ExtraBold</vt:lpstr>
      <vt:lpstr>Pretendard Variable SemiBold</vt:lpstr>
      <vt:lpstr>맑은 고딕</vt:lpstr>
      <vt:lpstr>Batang</vt:lpstr>
      <vt:lpstr>피플폰트 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장찬희</cp:lastModifiedBy>
  <cp:revision>1256</cp:revision>
  <cp:lastPrinted>2026-03-06T05:58:23Z</cp:lastPrinted>
  <dcterms:created xsi:type="dcterms:W3CDTF">2026-02-10T06:23:32Z</dcterms:created>
  <dcterms:modified xsi:type="dcterms:W3CDTF">2026-10-19T06:00:17Z</dcterms:modified>
</cp:coreProperties>
</file>