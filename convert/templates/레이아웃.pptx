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2" r:id="rId2"/>
    <p:sldId id="269" r:id="rId3"/>
    <p:sldId id="507" r:id="rId4"/>
    <p:sldId id="270" r:id="rId5"/>
    <p:sldId id="271" r:id="rId6"/>
    <p:sldId id="303" r:id="rId7"/>
    <p:sldId id="304" r:id="rId8"/>
    <p:sldId id="482" r:id="rId9"/>
    <p:sldId id="328" r:id="rId10"/>
    <p:sldId id="508" r:id="rId11"/>
    <p:sldId id="506" r:id="rId12"/>
    <p:sldId id="305" r:id="rId13"/>
    <p:sldId id="312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7FF"/>
    <a:srgbClr val="3E95BE"/>
    <a:srgbClr val="08377C"/>
    <a:srgbClr val="595959"/>
    <a:srgbClr val="0063A1"/>
    <a:srgbClr val="8C4A59"/>
    <a:srgbClr val="D9D9D9"/>
    <a:srgbClr val="F2F2F2"/>
    <a:srgbClr val="A4ABBD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7" autoAdjust="0"/>
    <p:restoredTop sz="93046" autoAdjust="0"/>
  </p:normalViewPr>
  <p:slideViewPr>
    <p:cSldViewPr snapToGrid="0">
      <p:cViewPr varScale="1">
        <p:scale>
          <a:sx n="105" d="100"/>
          <a:sy n="105" d="100"/>
        </p:scale>
        <p:origin x="1884" y="114"/>
      </p:cViewPr>
      <p:guideLst>
        <p:guide orient="horz" pos="2160"/>
        <p:guide pos="3143"/>
      </p:guideLst>
    </p:cSldViewPr>
  </p:slideViewPr>
  <p:outlineViewPr>
    <p:cViewPr>
      <p:scale>
        <a:sx n="33" d="100"/>
        <a:sy n="33" d="100"/>
      </p:scale>
      <p:origin x="0" y="-66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3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B0CBE-BEF5-4768-88B7-C8D33A226F82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6EBDD-C751-45FE-A110-B7B11DBE4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EBDD-C751-45FE-A110-B7B11DBE49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9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EBDD-C751-45FE-A110-B7B11DBE49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3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5">
            <a:extLst>
              <a:ext uri="{FF2B5EF4-FFF2-40B4-BE49-F238E27FC236}">
                <a16:creationId xmlns:a16="http://schemas.microsoft.com/office/drawing/2014/main" id="{61868E28-E971-4418-87EB-1ADB07E11B0C}"/>
              </a:ext>
            </a:extLst>
          </p:cNvPr>
          <p:cNvPicPr/>
          <p:nvPr/>
        </p:nvPicPr>
        <p:blipFill rotWithShape="1">
          <a:blip r:embed="rId3" cstate="print"/>
          <a:srcRect l="24516" r="21443"/>
          <a:stretch/>
        </p:blipFill>
        <p:spPr>
          <a:xfrm>
            <a:off x="5395457" y="0"/>
            <a:ext cx="4510544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98FC17-E489-49A1-A969-074DB6C0BB06}"/>
              </a:ext>
            </a:extLst>
          </p:cNvPr>
          <p:cNvSpPr txBox="1"/>
          <p:nvPr/>
        </p:nvSpPr>
        <p:spPr>
          <a:xfrm>
            <a:off x="614372" y="2841077"/>
            <a:ext cx="46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사업명</a:t>
            </a:r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제안서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705E13-BD77-4F42-A08E-A222D687E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1" y="54905"/>
            <a:ext cx="907166" cy="1937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39E339-B0D3-4404-96E1-2A662EE44842}"/>
              </a:ext>
            </a:extLst>
          </p:cNvPr>
          <p:cNvSpPr txBox="1"/>
          <p:nvPr/>
        </p:nvSpPr>
        <p:spPr>
          <a:xfrm>
            <a:off x="614372" y="3511918"/>
            <a:ext cx="436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몇월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영어 표시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그해 년도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61EC1-6423-43C9-9D21-741DEB5453F7}"/>
              </a:ext>
            </a:extLst>
          </p:cNvPr>
          <p:cNvSpPr txBox="1"/>
          <p:nvPr/>
        </p:nvSpPr>
        <p:spPr>
          <a:xfrm>
            <a:off x="617034" y="2631106"/>
            <a:ext cx="3753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Information Memorandum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60FC662-314C-4BDA-BD07-C0305AAF5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8" y="2372165"/>
            <a:ext cx="2665584" cy="21307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85BE55E-748C-4C4C-B871-BF424F682E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3"/>
          <a:stretch/>
        </p:blipFill>
        <p:spPr>
          <a:xfrm>
            <a:off x="5015859" y="0"/>
            <a:ext cx="1038313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01DDD2D-8608-4BD7-9382-8E84A1BC90CC}"/>
              </a:ext>
            </a:extLst>
          </p:cNvPr>
          <p:cNvSpPr/>
          <p:nvPr/>
        </p:nvSpPr>
        <p:spPr>
          <a:xfrm>
            <a:off x="614372" y="5415975"/>
            <a:ext cx="4655311" cy="1173302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b="1" dirty="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[Disclaimer]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법적 구속력이 없으며 금융기관의 여신심사 과정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금융약정 체결을 위한 검토과정 등 향후 사정에 따라 사전 통지 없이 변경될 수 있고 실제로 이루어질 거래의 내용이나 구조와 상이할 수 있습니다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본 금융조건에 대하여 최대한 정확하고 완전한 정보를 담고자 노력하였으나 이 문서에는 오류 또는 중요정보의 누락이 있을 수 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정보의 정확성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완전성 및 적정성에 대하여 어떠한 보증도 제공하지 않고 그에 관한 어떠한 의무도 부담하지 않습니다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의 주관을 전제로 한 자금조달을 위하여 작성되었으며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어떠한 경우에도 금융투자상품의 매수의 청약 권유 또는 매도의 청약으로 해석될 수 없고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귀사 이외의 제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3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자에게 제공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공개 또는 유출되어서는 안됩니다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FC624110-1AF7-4F94-8BC0-1F17A47FE956}"/>
              </a:ext>
            </a:extLst>
          </p:cNvPr>
          <p:cNvGrpSpPr/>
          <p:nvPr/>
        </p:nvGrpSpPr>
        <p:grpSpPr>
          <a:xfrm>
            <a:off x="1187918" y="5162520"/>
            <a:ext cx="7530164" cy="1174243"/>
            <a:chOff x="1211516" y="3125655"/>
            <a:chExt cx="7530164" cy="1174243"/>
          </a:xfrm>
        </p:grpSpPr>
        <p:sp>
          <p:nvSpPr>
            <p:cNvPr id="40" name="육각형 39">
              <a:extLst>
                <a:ext uri="{FF2B5EF4-FFF2-40B4-BE49-F238E27FC236}">
                  <a16:creationId xmlns:a16="http://schemas.microsoft.com/office/drawing/2014/main" id="{C70BA32E-BABD-4C8C-AF62-620DE97D8D9D}"/>
                </a:ext>
              </a:extLst>
            </p:cNvPr>
            <p:cNvSpPr/>
            <p:nvPr/>
          </p:nvSpPr>
          <p:spPr>
            <a:xfrm>
              <a:off x="1211516" y="3168315"/>
              <a:ext cx="7530164" cy="1013176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rgbClr val="2E75B6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육각형 40">
              <a:extLst>
                <a:ext uri="{FF2B5EF4-FFF2-40B4-BE49-F238E27FC236}">
                  <a16:creationId xmlns:a16="http://schemas.microsoft.com/office/drawing/2014/main" id="{6A6632BC-DC0C-40B3-ADD5-D61362C2AB3A}"/>
                </a:ext>
              </a:extLst>
            </p:cNvPr>
            <p:cNvSpPr/>
            <p:nvPr/>
          </p:nvSpPr>
          <p:spPr>
            <a:xfrm>
              <a:off x="1379372" y="3125655"/>
              <a:ext cx="7175041" cy="1092412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C1FFE1D-0092-4FDE-9561-A5C3FF36F70D}"/>
                </a:ext>
              </a:extLst>
            </p:cNvPr>
            <p:cNvSpPr txBox="1"/>
            <p:nvPr/>
          </p:nvSpPr>
          <p:spPr>
            <a:xfrm>
              <a:off x="1790980" y="3191902"/>
              <a:ext cx="6662480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낮은 인허가 리스크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25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8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실시계획인가 및 건축심의 완료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사업계획 승인 완료 예정 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 리스크 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시공사인 </a:t>
              </a:r>
              <a:r>
                <a:rPr lang="ko-KR" alt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포스코이앤씨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도급순위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7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위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신용등급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A+)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최종 수주심의 완료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도급계약 체결 선행 조건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E15BF6-2AAD-4784-AF22-178F039A5F00}"/>
              </a:ext>
            </a:extLst>
          </p:cNvPr>
          <p:cNvGrpSpPr/>
          <p:nvPr/>
        </p:nvGrpSpPr>
        <p:grpSpPr>
          <a:xfrm>
            <a:off x="1187918" y="1403806"/>
            <a:ext cx="7530164" cy="1174243"/>
            <a:chOff x="1211516" y="3125655"/>
            <a:chExt cx="7530164" cy="1174243"/>
          </a:xfrm>
        </p:grpSpPr>
        <p:sp>
          <p:nvSpPr>
            <p:cNvPr id="36" name="육각형 35">
              <a:extLst>
                <a:ext uri="{FF2B5EF4-FFF2-40B4-BE49-F238E27FC236}">
                  <a16:creationId xmlns:a16="http://schemas.microsoft.com/office/drawing/2014/main" id="{AFFF534F-A829-4919-AA8B-24B181367024}"/>
                </a:ext>
              </a:extLst>
            </p:cNvPr>
            <p:cNvSpPr/>
            <p:nvPr/>
          </p:nvSpPr>
          <p:spPr>
            <a:xfrm>
              <a:off x="1211516" y="3168315"/>
              <a:ext cx="7530164" cy="1013176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rgbClr val="2E75B6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육각형 36">
              <a:extLst>
                <a:ext uri="{FF2B5EF4-FFF2-40B4-BE49-F238E27FC236}">
                  <a16:creationId xmlns:a16="http://schemas.microsoft.com/office/drawing/2014/main" id="{DFBD97D9-E9DF-41FD-A2ED-4CD99EB69472}"/>
                </a:ext>
              </a:extLst>
            </p:cNvPr>
            <p:cNvSpPr/>
            <p:nvPr/>
          </p:nvSpPr>
          <p:spPr>
            <a:xfrm>
              <a:off x="1379372" y="3125655"/>
              <a:ext cx="7175041" cy="1092412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77399D3-7ABB-4224-A2C2-F2D6F3B7B8EB}"/>
                </a:ext>
              </a:extLst>
            </p:cNvPr>
            <p:cNvSpPr txBox="1"/>
            <p:nvPr/>
          </p:nvSpPr>
          <p:spPr>
            <a:xfrm>
              <a:off x="1790980" y="3191902"/>
              <a:ext cx="6662480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낮은 인허가 리스크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25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8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실시계획인가 및 건축심의 완료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사업계획 승인 완료 예정 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 리스크 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시공사인 </a:t>
              </a:r>
              <a:r>
                <a:rPr lang="ko-KR" alt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포스코이앤씨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도급순위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7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위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신용등급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A+)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최종 수주심의 완료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도급계약 체결 선행 조건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892850F-6B9B-40C5-9EE6-69ABBBCDFBDC}"/>
              </a:ext>
            </a:extLst>
          </p:cNvPr>
          <p:cNvGrpSpPr/>
          <p:nvPr/>
        </p:nvGrpSpPr>
        <p:grpSpPr>
          <a:xfrm>
            <a:off x="1211516" y="3207951"/>
            <a:ext cx="7530164" cy="1174243"/>
            <a:chOff x="1211516" y="3125655"/>
            <a:chExt cx="7530164" cy="1174243"/>
          </a:xfrm>
        </p:grpSpPr>
        <p:sp>
          <p:nvSpPr>
            <p:cNvPr id="25" name="육각형 24">
              <a:extLst>
                <a:ext uri="{FF2B5EF4-FFF2-40B4-BE49-F238E27FC236}">
                  <a16:creationId xmlns:a16="http://schemas.microsoft.com/office/drawing/2014/main" id="{34C4331A-3665-4D62-8E3C-7B11E0A556C4}"/>
                </a:ext>
              </a:extLst>
            </p:cNvPr>
            <p:cNvSpPr/>
            <p:nvPr/>
          </p:nvSpPr>
          <p:spPr>
            <a:xfrm>
              <a:off x="1211516" y="3168315"/>
              <a:ext cx="7530164" cy="1013176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rgbClr val="2E75B6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육각형 25">
              <a:extLst>
                <a:ext uri="{FF2B5EF4-FFF2-40B4-BE49-F238E27FC236}">
                  <a16:creationId xmlns:a16="http://schemas.microsoft.com/office/drawing/2014/main" id="{7BF180A2-A688-40F0-A757-2E6DE480716C}"/>
                </a:ext>
              </a:extLst>
            </p:cNvPr>
            <p:cNvSpPr/>
            <p:nvPr/>
          </p:nvSpPr>
          <p:spPr>
            <a:xfrm>
              <a:off x="1379372" y="3125655"/>
              <a:ext cx="7175041" cy="1092412"/>
            </a:xfrm>
            <a:prstGeom prst="hexagon">
              <a:avLst>
                <a:gd name="adj" fmla="val 18529"/>
                <a:gd name="vf" fmla="val 1154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0AF0D2-5F4C-4C38-A7FF-0B4675AA3603}"/>
                </a:ext>
              </a:extLst>
            </p:cNvPr>
            <p:cNvSpPr txBox="1"/>
            <p:nvPr/>
          </p:nvSpPr>
          <p:spPr>
            <a:xfrm>
              <a:off x="1790980" y="3191902"/>
              <a:ext cx="6662480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낮은 인허가 리스크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25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8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실시계획인가 및 건축심의 완료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사업계획 승인 완료 예정 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285750" indent="-285750">
                <a:buFont typeface="Batang" panose="02030600000101010101" pitchFamily="18" charset="-127"/>
                <a:buChar char="→"/>
              </a:pPr>
              <a:r>
                <a:rPr lang="ko-KR" altLang="en-US" sz="12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 리스크 </a:t>
              </a:r>
              <a:endPara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시공사인 </a:t>
              </a:r>
              <a:r>
                <a:rPr lang="ko-KR" alt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포스코이앤씨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도급순위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7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위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신용등급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A+)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‘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26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년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</a:t>
              </a: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월 최종 수주심의 완료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도급계약 체결 선행 조건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1E9084-F64A-4CCB-9E24-CCECAF57FBE0}"/>
              </a:ext>
            </a:extLst>
          </p:cNvPr>
          <p:cNvGrpSpPr/>
          <p:nvPr/>
        </p:nvGrpSpPr>
        <p:grpSpPr>
          <a:xfrm>
            <a:off x="3083734" y="2599501"/>
            <a:ext cx="3507352" cy="369332"/>
            <a:chOff x="3444233" y="2876563"/>
            <a:chExt cx="350735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03A4DD-9329-4E19-80B3-AB518AED9DF7}"/>
                </a:ext>
              </a:extLst>
            </p:cNvPr>
            <p:cNvSpPr txBox="1"/>
            <p:nvPr/>
          </p:nvSpPr>
          <p:spPr>
            <a:xfrm>
              <a:off x="3877044" y="2950734"/>
              <a:ext cx="307454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높은 </a:t>
              </a:r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PF </a:t>
              </a:r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가능성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736FA01C-D892-4AFA-A43A-F340517E9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5385EFC-6D1F-4C8B-9E55-DCEF4C3B0A0D}"/>
              </a:ext>
            </a:extLst>
          </p:cNvPr>
          <p:cNvGrpSpPr/>
          <p:nvPr/>
        </p:nvGrpSpPr>
        <p:grpSpPr>
          <a:xfrm>
            <a:off x="3210179" y="765094"/>
            <a:ext cx="3149195" cy="369812"/>
            <a:chOff x="3444234" y="1021819"/>
            <a:chExt cx="3149195" cy="36981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D9392-5288-4A54-8C00-DD983086C80D}"/>
                </a:ext>
              </a:extLst>
            </p:cNvPr>
            <p:cNvSpPr txBox="1"/>
            <p:nvPr/>
          </p:nvSpPr>
          <p:spPr>
            <a:xfrm>
              <a:off x="3877045" y="1114632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Executive Summary</a:t>
              </a:r>
            </a:p>
          </p:txBody>
        </p:sp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CDA099DD-A4B4-41B6-875F-6FC47D0AE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4" y="1021819"/>
              <a:ext cx="432811" cy="369332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7A59169B-13B4-44DC-8D9C-CD28E994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317" y="181668"/>
            <a:ext cx="2716384" cy="213076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D92067F2-0826-4410-BEEC-2D631A516F41}"/>
              </a:ext>
            </a:extLst>
          </p:cNvPr>
          <p:cNvGrpSpPr/>
          <p:nvPr/>
        </p:nvGrpSpPr>
        <p:grpSpPr>
          <a:xfrm>
            <a:off x="3426584" y="4385287"/>
            <a:ext cx="2723494" cy="369332"/>
            <a:chOff x="3444233" y="2876563"/>
            <a:chExt cx="2723494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12047FC-63B7-4BC0-B5EC-40D9E992134B}"/>
                </a:ext>
              </a:extLst>
            </p:cNvPr>
            <p:cNvSpPr txBox="1"/>
            <p:nvPr/>
          </p:nvSpPr>
          <p:spPr>
            <a:xfrm>
              <a:off x="3877044" y="2950734"/>
              <a:ext cx="229068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짧은 만기 상품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54" name="Picture 5">
              <a:extLst>
                <a:ext uri="{FF2B5EF4-FFF2-40B4-BE49-F238E27FC236}">
                  <a16:creationId xmlns:a16="http://schemas.microsoft.com/office/drawing/2014/main" id="{CAEB3C60-2F1E-4039-A31C-C034B34DB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8CC97FC-1B27-4C77-821C-2DCDF26B9D39}"/>
              </a:ext>
            </a:extLst>
          </p:cNvPr>
          <p:cNvSpPr txBox="1"/>
          <p:nvPr/>
        </p:nvSpPr>
        <p:spPr>
          <a:xfrm>
            <a:off x="2447899" y="4816262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F20FE-E664-4607-AC8A-AF0D51E98894}"/>
              </a:ext>
            </a:extLst>
          </p:cNvPr>
          <p:cNvSpPr txBox="1"/>
          <p:nvPr/>
        </p:nvSpPr>
        <p:spPr>
          <a:xfrm>
            <a:off x="2447899" y="1131575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734C14-F0F2-4C3A-98BB-CACF41BA612B}"/>
              </a:ext>
            </a:extLst>
          </p:cNvPr>
          <p:cNvSpPr txBox="1"/>
          <p:nvPr/>
        </p:nvSpPr>
        <p:spPr>
          <a:xfrm>
            <a:off x="2471497" y="2935720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34" name="슬라이드 번호 개체 틀 1">
            <a:extLst>
              <a:ext uri="{FF2B5EF4-FFF2-40B4-BE49-F238E27FC236}">
                <a16:creationId xmlns:a16="http://schemas.microsoft.com/office/drawing/2014/main" id="{A9B718EA-3C6C-4C62-8C33-6580F28A13A7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2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684979" y="2203347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2684979" y="4599713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397222" y="2182378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6397222" y="4578744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3081285" y="2511124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3126851" y="493165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6871314" y="2534217"/>
            <a:ext cx="1926353" cy="530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6865578" y="4896994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D6AC7F-9894-4E25-9A29-28AB65CB68EE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E48C7CEE-BAA1-4AFE-82FB-E5CA4A3B2AD6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8D849133-720F-4AE4-8EBB-2BC27CE74F50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24" name="Freeform 28">
                <a:extLst>
                  <a:ext uri="{FF2B5EF4-FFF2-40B4-BE49-F238E27FC236}">
                    <a16:creationId xmlns:a16="http://schemas.microsoft.com/office/drawing/2014/main" id="{2CFCDE1C-A8C3-4EBC-83A3-99AD7CB41A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9">
                <a:extLst>
                  <a:ext uri="{FF2B5EF4-FFF2-40B4-BE49-F238E27FC236}">
                    <a16:creationId xmlns:a16="http://schemas.microsoft.com/office/drawing/2014/main" id="{0B38D8D4-BE29-4E41-99B3-9B543D37881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E8EC7D96-457E-497A-B700-2ED7081D2326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5C226EE5-97BC-44A8-AFC3-45859143DD85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7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515682" y="2291420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4771848" y="2281895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934154" y="2193943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251443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2904148" y="2618347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5201176" y="262360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 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7368516" y="2543965"/>
            <a:ext cx="764825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2943059" y="4651559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C91072-6AEE-4C03-BC7F-A890C9321A47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28A15163-1941-41DA-86EC-260AA91A6E43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54" name="Group 27">
              <a:extLst>
                <a:ext uri="{FF2B5EF4-FFF2-40B4-BE49-F238E27FC236}">
                  <a16:creationId xmlns:a16="http://schemas.microsoft.com/office/drawing/2014/main" id="{73E3FFAB-C0EA-4830-A4E8-4AEEADB58814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55" name="Freeform 28">
                <a:extLst>
                  <a:ext uri="{FF2B5EF4-FFF2-40B4-BE49-F238E27FC236}">
                    <a16:creationId xmlns:a16="http://schemas.microsoft.com/office/drawing/2014/main" id="{2F1C62CB-D090-4728-A13F-E198779CCB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6" name="TextBox 29">
                <a:extLst>
                  <a:ext uri="{FF2B5EF4-FFF2-40B4-BE49-F238E27FC236}">
                    <a16:creationId xmlns:a16="http://schemas.microsoft.com/office/drawing/2014/main" id="{584FEC31-5AA0-4A82-BB69-B6D2DF8AD9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74D6FA4D-E67D-4CDA-B453-21C414F80EA1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AFDFC-B3D4-4F58-AC03-292C00DBB9AD}"/>
              </a:ext>
            </a:extLst>
          </p:cNvPr>
          <p:cNvSpPr txBox="1"/>
          <p:nvPr/>
        </p:nvSpPr>
        <p:spPr>
          <a:xfrm>
            <a:off x="472144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05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43EE5-6A16-416E-BFE3-090CF8B45BD2}"/>
              </a:ext>
            </a:extLst>
          </p:cNvPr>
          <p:cNvSpPr txBox="1"/>
          <p:nvPr/>
        </p:nvSpPr>
        <p:spPr>
          <a:xfrm>
            <a:off x="5150069" y="4651559"/>
            <a:ext cx="630173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5.1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1F41B9F-3F37-45F4-BD59-25A29290BCF1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77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980A85A-E26B-499D-917A-7A1FBA6E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65187D-4FEE-459D-88AD-AD8F2F3CC016}"/>
              </a:ext>
            </a:extLst>
          </p:cNvPr>
          <p:cNvGrpSpPr/>
          <p:nvPr/>
        </p:nvGrpSpPr>
        <p:grpSpPr>
          <a:xfrm>
            <a:off x="1271800" y="3565688"/>
            <a:ext cx="2228799" cy="338554"/>
            <a:chOff x="1450226" y="3100952"/>
            <a:chExt cx="2228799" cy="3385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65C9E3-74F0-4799-B694-AD75DD9D024F}"/>
                </a:ext>
              </a:extLst>
            </p:cNvPr>
            <p:cNvSpPr txBox="1"/>
            <p:nvPr/>
          </p:nvSpPr>
          <p:spPr>
            <a:xfrm>
              <a:off x="1952270" y="3100952"/>
              <a:ext cx="1726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본건 사모사채</a:t>
              </a:r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</a:t>
              </a:r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개요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534D3-E6A9-4DD9-8FB9-1C6CDC2E254A}"/>
                </a:ext>
              </a:extLst>
            </p:cNvPr>
            <p:cNvSpPr txBox="1"/>
            <p:nvPr/>
          </p:nvSpPr>
          <p:spPr>
            <a:xfrm>
              <a:off x="1450226" y="3100952"/>
              <a:ext cx="4061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1.1</a:t>
              </a:r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EC3BE9A4-2108-40FA-A75C-0E2A5E8BDAE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B12FD72-5164-4E83-84EC-9AFB7C02874F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F74AEA9-95AD-4FC6-BE8D-E471F1DAAAB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81E6EE-BE3B-41CD-8EE7-815D58071242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267841C-0786-4ADF-9D01-3C5706666DDE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98153E9-F9DA-4B46-A2AF-7E0BA1BE16F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9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1FA3035A-768E-443A-806C-3941A656FFC4}"/>
              </a:ext>
            </a:extLst>
          </p:cNvPr>
          <p:cNvSpPr txBox="1">
            <a:spLocks/>
          </p:cNvSpPr>
          <p:nvPr/>
        </p:nvSpPr>
        <p:spPr>
          <a:xfrm>
            <a:off x="393700" y="926999"/>
            <a:ext cx="7912100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사모사채는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기초자산 이름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기초자산으로 발행하는 사모사채입니다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graphicFrame>
        <p:nvGraphicFramePr>
          <p:cNvPr id="16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01842"/>
              </p:ext>
            </p:extLst>
          </p:nvPr>
        </p:nvGraphicFramePr>
        <p:xfrm>
          <a:off x="304801" y="1447800"/>
          <a:ext cx="9296400" cy="5012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000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00,000,000,000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3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발행일로부터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3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직접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적어야함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[xx]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후취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45B4E01-8E51-938E-3086-5CA353FEB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 개요</a:t>
            </a: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1D2DAE9A-5557-4587-B1B1-8C1886F4C64A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6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3D2529-4B5E-4BB1-874F-74A18E4A14AB}"/>
              </a:ext>
            </a:extLst>
          </p:cNvPr>
          <p:cNvGrpSpPr/>
          <p:nvPr/>
        </p:nvGrpSpPr>
        <p:grpSpPr>
          <a:xfrm>
            <a:off x="1250367" y="3714899"/>
            <a:ext cx="2637565" cy="338554"/>
            <a:chOff x="1450226" y="3100952"/>
            <a:chExt cx="2637565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5E2EC-3527-4479-8558-2C304504BDA4}"/>
                </a:ext>
              </a:extLst>
            </p:cNvPr>
            <p:cNvSpPr txBox="1"/>
            <p:nvPr/>
          </p:nvSpPr>
          <p:spPr>
            <a:xfrm>
              <a:off x="1952270" y="3100952"/>
              <a:ext cx="21355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본건 기초자산 금융조건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48BE46-5DDC-429C-85F2-0478C7231F9E}"/>
                </a:ext>
              </a:extLst>
            </p:cNvPr>
            <p:cNvSpPr txBox="1"/>
            <p:nvPr/>
          </p:nvSpPr>
          <p:spPr>
            <a:xfrm>
              <a:off x="1450226" y="3100952"/>
              <a:ext cx="470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2.2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65EA7F1-5BE2-4AA4-BF5D-760454B31681}"/>
              </a:ext>
            </a:extLst>
          </p:cNvPr>
          <p:cNvGrpSpPr/>
          <p:nvPr/>
        </p:nvGrpSpPr>
        <p:grpSpPr>
          <a:xfrm>
            <a:off x="1271800" y="3420705"/>
            <a:ext cx="2047660" cy="338554"/>
            <a:chOff x="1450226" y="3100952"/>
            <a:chExt cx="2047660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4DC45F-2CB3-4D8D-8487-FE129CFA61E7}"/>
                </a:ext>
              </a:extLst>
            </p:cNvPr>
            <p:cNvSpPr txBox="1"/>
            <p:nvPr/>
          </p:nvSpPr>
          <p:spPr>
            <a:xfrm>
              <a:off x="1952270" y="3100952"/>
              <a:ext cx="15456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금융 투자 구조도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C0D8AF-B505-4A37-8FB4-4EBE203332E7}"/>
                </a:ext>
              </a:extLst>
            </p:cNvPr>
            <p:cNvSpPr txBox="1"/>
            <p:nvPr/>
          </p:nvSpPr>
          <p:spPr>
            <a:xfrm>
              <a:off x="1450226" y="3100952"/>
              <a:ext cx="4349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1667" y="280454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F10BF00-5AEE-4A58-B5EF-DF56AEEA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74530055-36A6-42BF-A7EE-327406798C17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FBEACD-23F4-4B4B-ACD2-3842D0037E57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CE2F4D-781B-4555-AC10-1087A86260EE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870C148-AE9E-46FC-89CB-D79F3AEDC0E6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D5F13AF-3C30-47CF-BDEC-1865B89B430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EDA21D-7F71-4545-8731-8D306B9098F5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5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497E-CA2D-B56C-671B-62057453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BD8EB-E4D1-8DD6-9433-919D868E60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 개요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35E72A8-37C2-924F-5535-B6ED3136737E}"/>
              </a:ext>
            </a:extLst>
          </p:cNvPr>
          <p:cNvCxnSpPr/>
          <p:nvPr/>
        </p:nvCxnSpPr>
        <p:spPr>
          <a:xfrm>
            <a:off x="393700" y="1281520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22D31CD-12B0-C76C-38FC-53ACE6B3C8BA}"/>
              </a:ext>
            </a:extLst>
          </p:cNvPr>
          <p:cNvCxnSpPr/>
          <p:nvPr/>
        </p:nvCxnSpPr>
        <p:spPr>
          <a:xfrm>
            <a:off x="393700" y="6449059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BBFC007-F478-2947-4705-FB218556BE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 구조도</a:t>
            </a:r>
          </a:p>
        </p:txBody>
      </p:sp>
      <p:graphicFrame>
        <p:nvGraphicFramePr>
          <p:cNvPr id="55" name="표 4">
            <a:extLst>
              <a:ext uri="{FF2B5EF4-FFF2-40B4-BE49-F238E27FC236}">
                <a16:creationId xmlns:a16="http://schemas.microsoft.com/office/drawing/2014/main" id="{5E1AF96E-544D-41EC-ABEE-8311C0666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965323"/>
              </p:ext>
            </p:extLst>
          </p:nvPr>
        </p:nvGraphicFramePr>
        <p:xfrm>
          <a:off x="3850619" y="3421826"/>
          <a:ext cx="2336121" cy="4581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3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4">
            <a:extLst>
              <a:ext uri="{FF2B5EF4-FFF2-40B4-BE49-F238E27FC236}">
                <a16:creationId xmlns:a16="http://schemas.microsoft.com/office/drawing/2014/main" id="{5CFB28B6-CFDF-4672-A21C-C633063E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50952"/>
              </p:ext>
            </p:extLst>
          </p:nvPr>
        </p:nvGraphicFramePr>
        <p:xfrm>
          <a:off x="3374299" y="1972886"/>
          <a:ext cx="1319637" cy="55425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A6B277D0-69D9-4E76-A9E5-A262783B3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14827"/>
              </p:ext>
            </p:extLst>
          </p:nvPr>
        </p:nvGraphicFramePr>
        <p:xfrm>
          <a:off x="5050700" y="2124587"/>
          <a:ext cx="1218808" cy="4025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표 4">
            <a:extLst>
              <a:ext uri="{FF2B5EF4-FFF2-40B4-BE49-F238E27FC236}">
                <a16:creationId xmlns:a16="http://schemas.microsoft.com/office/drawing/2014/main" id="{3A758F2F-BCDF-4726-ACAE-51EF30BA1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76718"/>
              </p:ext>
            </p:extLst>
          </p:nvPr>
        </p:nvGraphicFramePr>
        <p:xfrm>
          <a:off x="3551490" y="4769717"/>
          <a:ext cx="1319637" cy="5542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표 4">
            <a:extLst>
              <a:ext uri="{FF2B5EF4-FFF2-40B4-BE49-F238E27FC236}">
                <a16:creationId xmlns:a16="http://schemas.microsoft.com/office/drawing/2014/main" id="{1CA2B7BA-AD8B-4EA7-8564-D6A98C179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7976"/>
              </p:ext>
            </p:extLst>
          </p:nvPr>
        </p:nvGraphicFramePr>
        <p:xfrm>
          <a:off x="5227889" y="4769716"/>
          <a:ext cx="1319637" cy="5542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CFFD7038-13E8-451A-9065-BA4E71AC1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31021"/>
              </p:ext>
            </p:extLst>
          </p:nvPr>
        </p:nvGraphicFramePr>
        <p:xfrm>
          <a:off x="7300010" y="2539270"/>
          <a:ext cx="1522966" cy="20684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2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71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71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4">
            <a:extLst>
              <a:ext uri="{FF2B5EF4-FFF2-40B4-BE49-F238E27FC236}">
                <a16:creationId xmlns:a16="http://schemas.microsoft.com/office/drawing/2014/main" id="{85AA7DEE-761D-47A3-8455-0741150FC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19722"/>
              </p:ext>
            </p:extLst>
          </p:nvPr>
        </p:nvGraphicFramePr>
        <p:xfrm>
          <a:off x="7515503" y="2999805"/>
          <a:ext cx="1091980" cy="63425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2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1302" marR="71302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표 4">
            <a:extLst>
              <a:ext uri="{FF2B5EF4-FFF2-40B4-BE49-F238E27FC236}">
                <a16:creationId xmlns:a16="http://schemas.microsoft.com/office/drawing/2014/main" id="{A9B47528-D995-4A96-A084-E69DC968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528465"/>
              </p:ext>
            </p:extLst>
          </p:nvPr>
        </p:nvGraphicFramePr>
        <p:xfrm>
          <a:off x="795758" y="2520872"/>
          <a:ext cx="1819273" cy="240539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539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8FA2A1F3-4586-4624-924A-79650549C61A}"/>
              </a:ext>
            </a:extLst>
          </p:cNvPr>
          <p:cNvSpPr/>
          <p:nvPr/>
        </p:nvSpPr>
        <p:spPr>
          <a:xfrm>
            <a:off x="941325" y="2997575"/>
            <a:ext cx="1587084" cy="179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2" name="표 4">
            <a:extLst>
              <a:ext uri="{FF2B5EF4-FFF2-40B4-BE49-F238E27FC236}">
                <a16:creationId xmlns:a16="http://schemas.microsoft.com/office/drawing/2014/main" id="{BA813C25-5D3B-4210-8DF9-AA7E7B6B2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43442"/>
              </p:ext>
            </p:extLst>
          </p:nvPr>
        </p:nvGraphicFramePr>
        <p:xfrm>
          <a:off x="1060992" y="3236726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D3A9799-8684-4BA6-925A-9A4015E98C49}"/>
              </a:ext>
            </a:extLst>
          </p:cNvPr>
          <p:cNvCxnSpPr>
            <a:cxnSpLocks/>
          </p:cNvCxnSpPr>
          <p:nvPr/>
        </p:nvCxnSpPr>
        <p:spPr>
          <a:xfrm flipV="1">
            <a:off x="3896721" y="2664142"/>
            <a:ext cx="0" cy="6387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6963D05-914D-43CD-8D3F-AF59390B0978}"/>
              </a:ext>
            </a:extLst>
          </p:cNvPr>
          <p:cNvCxnSpPr>
            <a:cxnSpLocks/>
          </p:cNvCxnSpPr>
          <p:nvPr/>
        </p:nvCxnSpPr>
        <p:spPr>
          <a:xfrm flipH="1">
            <a:off x="2698608" y="3573485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A6ACCD5-8993-4F0E-AB15-57E013FCEF45}"/>
              </a:ext>
            </a:extLst>
          </p:cNvPr>
          <p:cNvCxnSpPr>
            <a:cxnSpLocks/>
          </p:cNvCxnSpPr>
          <p:nvPr/>
        </p:nvCxnSpPr>
        <p:spPr>
          <a:xfrm>
            <a:off x="2698608" y="3699416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B5C1A78-8AAE-41D9-909E-077E0FD38355}"/>
              </a:ext>
            </a:extLst>
          </p:cNvPr>
          <p:cNvCxnSpPr>
            <a:cxnSpLocks/>
          </p:cNvCxnSpPr>
          <p:nvPr/>
        </p:nvCxnSpPr>
        <p:spPr>
          <a:xfrm flipH="1" flipV="1">
            <a:off x="4093752" y="2664142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E31FEEF-134C-4FD0-A7F5-CA0B940741DB}"/>
              </a:ext>
            </a:extLst>
          </p:cNvPr>
          <p:cNvCxnSpPr>
            <a:cxnSpLocks/>
          </p:cNvCxnSpPr>
          <p:nvPr/>
        </p:nvCxnSpPr>
        <p:spPr>
          <a:xfrm flipH="1" flipV="1">
            <a:off x="5550300" y="262481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0F607D1-8353-4C68-8400-D4E286EF82C9}"/>
              </a:ext>
            </a:extLst>
          </p:cNvPr>
          <p:cNvCxnSpPr>
            <a:cxnSpLocks/>
          </p:cNvCxnSpPr>
          <p:nvPr/>
        </p:nvCxnSpPr>
        <p:spPr>
          <a:xfrm flipH="1" flipV="1">
            <a:off x="4170140" y="400418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0BC1BA5-1A0B-4D13-B5CD-F14BDC3D465A}"/>
              </a:ext>
            </a:extLst>
          </p:cNvPr>
          <p:cNvCxnSpPr>
            <a:cxnSpLocks/>
          </p:cNvCxnSpPr>
          <p:nvPr/>
        </p:nvCxnSpPr>
        <p:spPr>
          <a:xfrm flipH="1" flipV="1">
            <a:off x="5880449" y="400418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24B0450-6D87-47E9-A757-D56A3741B666}"/>
              </a:ext>
            </a:extLst>
          </p:cNvPr>
          <p:cNvCxnSpPr>
            <a:cxnSpLocks/>
          </p:cNvCxnSpPr>
          <p:nvPr/>
        </p:nvCxnSpPr>
        <p:spPr>
          <a:xfrm>
            <a:off x="6269507" y="3652092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93" name="표 4">
            <a:extLst>
              <a:ext uri="{FF2B5EF4-FFF2-40B4-BE49-F238E27FC236}">
                <a16:creationId xmlns:a16="http://schemas.microsoft.com/office/drawing/2014/main" id="{05F8FB52-777E-472C-97E3-5F97E584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08391"/>
              </p:ext>
            </p:extLst>
          </p:nvPr>
        </p:nvGraphicFramePr>
        <p:xfrm>
          <a:off x="1072074" y="3741053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표 4">
            <a:extLst>
              <a:ext uri="{FF2B5EF4-FFF2-40B4-BE49-F238E27FC236}">
                <a16:creationId xmlns:a16="http://schemas.microsoft.com/office/drawing/2014/main" id="{4547316F-5AA4-4A66-8EE0-AADACDDBF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64750"/>
              </p:ext>
            </p:extLst>
          </p:nvPr>
        </p:nvGraphicFramePr>
        <p:xfrm>
          <a:off x="1072074" y="4252310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4">
            <a:extLst>
              <a:ext uri="{FF2B5EF4-FFF2-40B4-BE49-F238E27FC236}">
                <a16:creationId xmlns:a16="http://schemas.microsoft.com/office/drawing/2014/main" id="{BEF05454-7BEA-4C98-AAB6-BABDC46D9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56177"/>
              </p:ext>
            </p:extLst>
          </p:nvPr>
        </p:nvGraphicFramePr>
        <p:xfrm>
          <a:off x="5050700" y="1667119"/>
          <a:ext cx="1218808" cy="4025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A72E3E17-616D-483C-96AD-53D6C9BE000A}"/>
              </a:ext>
            </a:extLst>
          </p:cNvPr>
          <p:cNvSpPr/>
          <p:nvPr/>
        </p:nvSpPr>
        <p:spPr>
          <a:xfrm>
            <a:off x="7401676" y="3734362"/>
            <a:ext cx="1319635" cy="2231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0" name="표 4">
            <a:extLst>
              <a:ext uri="{FF2B5EF4-FFF2-40B4-BE49-F238E27FC236}">
                <a16:creationId xmlns:a16="http://schemas.microsoft.com/office/drawing/2014/main" id="{BE4E943E-44E6-4994-90F7-525EB56A9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395997"/>
              </p:ext>
            </p:extLst>
          </p:nvPr>
        </p:nvGraphicFramePr>
        <p:xfrm>
          <a:off x="7515503" y="3814728"/>
          <a:ext cx="1091980" cy="63438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38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1302" marR="71302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표 4">
            <a:extLst>
              <a:ext uri="{FF2B5EF4-FFF2-40B4-BE49-F238E27FC236}">
                <a16:creationId xmlns:a16="http://schemas.microsoft.com/office/drawing/2014/main" id="{94DEC467-85BA-43A1-BCD6-A32963B2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39096"/>
              </p:ext>
            </p:extLst>
          </p:nvPr>
        </p:nvGraphicFramePr>
        <p:xfrm>
          <a:off x="7515503" y="5284307"/>
          <a:ext cx="1091980" cy="5872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436B06B-38CA-4D5E-9130-A6308691B66D}"/>
              </a:ext>
            </a:extLst>
          </p:cNvPr>
          <p:cNvCxnSpPr>
            <a:cxnSpLocks/>
          </p:cNvCxnSpPr>
          <p:nvPr/>
        </p:nvCxnSpPr>
        <p:spPr>
          <a:xfrm flipH="1" flipV="1">
            <a:off x="8068756" y="4549818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7" name="텍스트 개체 틀 2">
            <a:extLst>
              <a:ext uri="{FF2B5EF4-FFF2-40B4-BE49-F238E27FC236}">
                <a16:creationId xmlns:a16="http://schemas.microsoft.com/office/drawing/2014/main" id="{1CAACE9D-F737-44F9-B792-E73743F41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700" y="927000"/>
            <a:ext cx="7912100" cy="349711"/>
          </a:xfrm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본건은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을 담보로 하는 담보대출의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를 기초로 발행하는 사모사채 입니다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</a:t>
            </a:r>
          </a:p>
        </p:txBody>
      </p:sp>
      <p:sp>
        <p:nvSpPr>
          <p:cNvPr id="34" name="슬라이드 번호 개체 틀 1">
            <a:extLst>
              <a:ext uri="{FF2B5EF4-FFF2-40B4-BE49-F238E27FC236}">
                <a16:creationId xmlns:a16="http://schemas.microsoft.com/office/drawing/2014/main" id="{E9B3BA0D-EEAE-4E8E-BC9C-5DC1851989FB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8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96915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C09D19D-CA50-430E-85B5-00C309F8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8728A0F9-9485-4B2B-9C49-2ED3C0EAC96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DAED8D2-CF0B-43DF-9501-2403FD23977C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C9A9-5B48-4C3F-9805-529CC43DEC0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5C8F8B0-58B3-422C-ADCD-6FD3E5E593F5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C997C7B-70B2-4B3B-A9EC-97E07DEBFC1D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A09F73B-712F-468F-8809-9B97F03B9E1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190FE-0EAC-4337-BAD5-C332EB9AF690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사업개요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FE0CA57-EFBB-4F40-8326-535B0FA79A61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F495D4-9972-404F-9D3E-F73E8DA71BE2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소제목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A10526-2E09-44A0-852F-E8235DCB4DCB}"/>
                </a:ext>
              </a:extLst>
            </p:cNvPr>
            <p:cNvSpPr txBox="1"/>
            <p:nvPr/>
          </p:nvSpPr>
          <p:spPr>
            <a:xfrm>
              <a:off x="1450226" y="3100952"/>
              <a:ext cx="439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22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페이지 요약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C2A9A1C-92B7-4856-B43A-49BFF81DD5F8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10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4308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57231-2B6A-43DF-9ED0-FB2FB86E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892442E4-BA68-419D-944D-0E981AEF998B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B56E101-BCBD-40A4-99F5-D2FDC42CA5A3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3FD978-F67F-4F41-A996-C9D3FB06FE38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42E925-D1CF-4E49-8E1A-6BE23EF6B1EB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9DF0422-9C1C-4D6E-84D9-B33AD0834E5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801DFB0-65D4-4FF3-A4CD-523E0B863A92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5F2CF36-38A3-4A79-B832-57FCCC1929A4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28E92-72BA-4563-8F91-92E4C2566D9F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소제목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99673F-CDEE-4E43-92EC-AB5BC385E734}"/>
                </a:ext>
              </a:extLst>
            </p:cNvPr>
            <p:cNvSpPr txBox="1"/>
            <p:nvPr/>
          </p:nvSpPr>
          <p:spPr>
            <a:xfrm>
              <a:off x="1450226" y="3100952"/>
              <a:ext cx="4446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0C7AD87-666B-4DF0-B421-61A74BB13515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8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페이지 요약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C2A9A1C-92B7-4856-B43A-49BFF81DD5F8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12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7ED05E1-E27D-42FC-A1B1-9161FF0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t="31255" r="16174" b="4273"/>
          <a:stretch/>
        </p:blipFill>
        <p:spPr>
          <a:xfrm>
            <a:off x="0" y="-1"/>
            <a:ext cx="9906000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78EBF-6031-4786-87A6-759A81DCD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8A03B-A403-4E01-9951-EE88BCB4C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86318"/>
              </p:ext>
            </p:extLst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2E3653A-1EF8-4176-AE78-824C7DB17F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t="13244" r="18493" b="20606"/>
          <a:stretch/>
        </p:blipFill>
        <p:spPr>
          <a:xfrm>
            <a:off x="3276600" y="1356361"/>
            <a:ext cx="3352800" cy="3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11122</TotalTime>
  <Words>542</Words>
  <Application>Microsoft Office PowerPoint</Application>
  <PresentationFormat>A4 용지(210x297mm)</PresentationFormat>
  <Paragraphs>122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Montserrat Bold</vt:lpstr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1254</cp:revision>
  <cp:lastPrinted>2026-03-06T05:58:23Z</cp:lastPrinted>
  <dcterms:created xsi:type="dcterms:W3CDTF">2026-02-10T06:23:32Z</dcterms:created>
  <dcterms:modified xsi:type="dcterms:W3CDTF">2026-07-29T07:02:18Z</dcterms:modified>
</cp:coreProperties>
</file>