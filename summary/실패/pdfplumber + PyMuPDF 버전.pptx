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9" r:id="rId3"/>
    <p:sldId id="256" r:id="rId4"/>
    <p:sldId id="270" r:id="rId11"/>
    <p:sldId id="260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6EAB"/>
    <a:srgbClr val="2E75B6"/>
    <a:srgbClr val="FFFFFF"/>
    <a:srgbClr val="73A9DB"/>
    <a:srgbClr val="002E56"/>
    <a:srgbClr val="01254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deac549ad58e74e9" providerId="LiveId" clId="{9A1C5CB3-C32B-4F76-9B5A-79D195692619}"/>
    <pc:docChg chg="undo custSel modSld">
      <pc:chgData name="" userId="deac549ad58e74e9" providerId="LiveId" clId="{9A1C5CB3-C32B-4F76-9B5A-79D195692619}" dt="2026-08-10T06:36:38.033" v="203" actId="1076"/>
      <pc:docMkLst>
        <pc:docMk/>
      </pc:docMkLst>
      <pc:sldChg chg="modSp">
        <pc:chgData name="" userId="deac549ad58e74e9" providerId="LiveId" clId="{9A1C5CB3-C32B-4F76-9B5A-79D195692619}" dt="2026-08-10T06:26:28.644" v="51" actId="20577"/>
        <pc:sldMkLst>
          <pc:docMk/>
          <pc:sldMk cId="3290786611" sldId="262"/>
        </pc:sldMkLst>
        <pc:spChg chg="mod">
          <ac:chgData name="" userId="deac549ad58e74e9" providerId="LiveId" clId="{9A1C5CB3-C32B-4F76-9B5A-79D195692619}" dt="2026-08-10T06:25:39.748" v="10" actId="20577"/>
          <ac:spMkLst>
            <pc:docMk/>
            <pc:sldMk cId="3290786611" sldId="262"/>
            <ac:spMk id="32" creationId="{EA96A542-644D-4A24-ADAE-724B9FD033EA}"/>
          </ac:spMkLst>
        </pc:spChg>
        <pc:spChg chg="mod">
          <ac:chgData name="" userId="deac549ad58e74e9" providerId="LiveId" clId="{9A1C5CB3-C32B-4F76-9B5A-79D195692619}" dt="2026-08-10T06:26:28.644" v="51" actId="20577"/>
          <ac:spMkLst>
            <pc:docMk/>
            <pc:sldMk cId="3290786611" sldId="262"/>
            <ac:spMk id="33" creationId="{C4A78911-7507-47CC-8DDD-37C0A8F35B32}"/>
          </ac:spMkLst>
        </pc:spChg>
      </pc:sldChg>
      <pc:sldChg chg="addSp delSp modSp">
        <pc:chgData name="" userId="deac549ad58e74e9" providerId="LiveId" clId="{9A1C5CB3-C32B-4F76-9B5A-79D195692619}" dt="2026-08-10T06:36:38.033" v="203" actId="1076"/>
        <pc:sldMkLst>
          <pc:docMk/>
          <pc:sldMk cId="1791971862" sldId="269"/>
        </pc:sldMkLst>
        <pc:spChg chg="add mod">
          <ac:chgData name="" userId="deac549ad58e74e9" providerId="LiveId" clId="{9A1C5CB3-C32B-4F76-9B5A-79D195692619}" dt="2026-08-10T06:36:27.190" v="200" actId="1076"/>
          <ac:spMkLst>
            <pc:docMk/>
            <pc:sldMk cId="1791971862" sldId="269"/>
            <ac:spMk id="25" creationId="{F117CA2D-D2FC-4820-948D-082385DBD7E3}"/>
          </ac:spMkLst>
        </pc:spChg>
        <pc:spChg chg="add mod">
          <ac:chgData name="" userId="deac549ad58e74e9" providerId="LiveId" clId="{9A1C5CB3-C32B-4F76-9B5A-79D195692619}" dt="2026-08-10T06:36:38.033" v="203" actId="1076"/>
          <ac:spMkLst>
            <pc:docMk/>
            <pc:sldMk cId="1791971862" sldId="269"/>
            <ac:spMk id="32" creationId="{04A25A8B-B76B-46AB-B2C5-5EB6725C8E44}"/>
          </ac:spMkLst>
        </pc:spChg>
        <pc:spChg chg="mod">
          <ac:chgData name="" userId="deac549ad58e74e9" providerId="LiveId" clId="{9A1C5CB3-C32B-4F76-9B5A-79D195692619}" dt="2026-08-10T06:33:56.971" v="188" actId="20577"/>
          <ac:spMkLst>
            <pc:docMk/>
            <pc:sldMk cId="1791971862" sldId="269"/>
            <ac:spMk id="44" creationId="{CB6DCFB6-B3CC-47EA-99D6-7AFB1B33ED07}"/>
          </ac:spMkLst>
        </pc:spChg>
        <pc:spChg chg="mod">
          <ac:chgData name="" userId="deac549ad58e74e9" providerId="LiveId" clId="{9A1C5CB3-C32B-4F76-9B5A-79D195692619}" dt="2026-08-10T06:29:07.323" v="162" actId="14100"/>
          <ac:spMkLst>
            <pc:docMk/>
            <pc:sldMk cId="1791971862" sldId="269"/>
            <ac:spMk id="46" creationId="{69DC1874-428B-4C18-AE5E-9C395B10BD5C}"/>
          </ac:spMkLst>
        </pc:spChg>
        <pc:spChg chg="mod">
          <ac:chgData name="" userId="deac549ad58e74e9" providerId="LiveId" clId="{9A1C5CB3-C32B-4F76-9B5A-79D195692619}" dt="2026-08-10T06:36:27.190" v="200" actId="1076"/>
          <ac:spMkLst>
            <pc:docMk/>
            <pc:sldMk cId="1791971862" sldId="269"/>
            <ac:spMk id="48" creationId="{D96A902C-58D1-4D00-9ADE-A5557F0D0B0B}"/>
          </ac:spMkLst>
        </pc:spChg>
        <pc:spChg chg="mod">
          <ac:chgData name="" userId="deac549ad58e74e9" providerId="LiveId" clId="{9A1C5CB3-C32B-4F76-9B5A-79D195692619}" dt="2026-08-10T06:36:30.603" v="202" actId="1076"/>
          <ac:spMkLst>
            <pc:docMk/>
            <pc:sldMk cId="1791971862" sldId="269"/>
            <ac:spMk id="49" creationId="{98B31954-C8A0-41F3-BC57-D4C12283BEA4}"/>
          </ac:spMkLst>
        </pc:spChg>
        <pc:spChg chg="mod">
          <ac:chgData name="" userId="deac549ad58e74e9" providerId="LiveId" clId="{9A1C5CB3-C32B-4F76-9B5A-79D195692619}" dt="2026-08-10T06:36:27.190" v="200" actId="1076"/>
          <ac:spMkLst>
            <pc:docMk/>
            <pc:sldMk cId="1791971862" sldId="269"/>
            <ac:spMk id="50" creationId="{9A182597-EBD9-4385-B02A-CAFA83488202}"/>
          </ac:spMkLst>
        </pc:spChg>
        <pc:spChg chg="del">
          <ac:chgData name="" userId="deac549ad58e74e9" providerId="LiveId" clId="{9A1C5CB3-C32B-4F76-9B5A-79D195692619}" dt="2026-08-10T06:34:01.894" v="190" actId="478"/>
          <ac:spMkLst>
            <pc:docMk/>
            <pc:sldMk cId="1791971862" sldId="269"/>
            <ac:spMk id="51" creationId="{C172D9C5-E87C-41FE-8BEA-B34A5A1CCCC0}"/>
          </ac:spMkLst>
        </pc:spChg>
        <pc:spChg chg="add del">
          <ac:chgData name="" userId="deac549ad58e74e9" providerId="LiveId" clId="{9A1C5CB3-C32B-4F76-9B5A-79D195692619}" dt="2026-08-10T06:34:19.539" v="194" actId="478"/>
          <ac:spMkLst>
            <pc:docMk/>
            <pc:sldMk cId="1791971862" sldId="269"/>
            <ac:spMk id="58" creationId="{634B8AB3-04E7-46F6-B972-90B9EB9DCB58}"/>
          </ac:spMkLst>
        </pc:spChg>
        <pc:grpChg chg="add mod">
          <ac:chgData name="" userId="deac549ad58e74e9" providerId="LiveId" clId="{9A1C5CB3-C32B-4F76-9B5A-79D195692619}" dt="2026-08-10T06:36:27.190" v="200" actId="1076"/>
          <ac:grpSpMkLst>
            <pc:docMk/>
            <pc:sldMk cId="1791971862" sldId="269"/>
            <ac:grpSpMk id="26" creationId="{D2A3725E-061B-48C4-BC36-39BA366FF7CE}"/>
          </ac:grpSpMkLst>
        </pc:grpChg>
        <pc:grpChg chg="add mod">
          <ac:chgData name="" userId="deac549ad58e74e9" providerId="LiveId" clId="{9A1C5CB3-C32B-4F76-9B5A-79D195692619}" dt="2026-08-10T06:36:38.033" v="203" actId="1076"/>
          <ac:grpSpMkLst>
            <pc:docMk/>
            <pc:sldMk cId="1791971862" sldId="269"/>
            <ac:grpSpMk id="33" creationId="{1D623340-CF2D-4B45-83CB-9FEFBB2A3D49}"/>
          </ac:grpSpMkLst>
        </pc:grpChg>
        <pc:grpChg chg="mod">
          <ac:chgData name="" userId="deac549ad58e74e9" providerId="LiveId" clId="{9A1C5CB3-C32B-4F76-9B5A-79D195692619}" dt="2026-08-10T06:29:19.331" v="165" actId="12788"/>
          <ac:grpSpMkLst>
            <pc:docMk/>
            <pc:sldMk cId="1791971862" sldId="269"/>
            <ac:grpSpMk id="45" creationId="{D854F264-B996-4EF5-8ED3-D3FA4BED7453}"/>
          </ac:grpSpMkLst>
        </pc:grpChg>
        <pc:grpChg chg="del">
          <ac:chgData name="" userId="deac549ad58e74e9" providerId="LiveId" clId="{9A1C5CB3-C32B-4F76-9B5A-79D195692619}" dt="2026-08-10T06:34:00.403" v="189" actId="478"/>
          <ac:grpSpMkLst>
            <pc:docMk/>
            <pc:sldMk cId="1791971862" sldId="269"/>
            <ac:grpSpMk id="52" creationId="{C7012D84-0DD3-463D-AA04-A99E2F95BAB9}"/>
          </ac:grpSpMkLst>
        </pc:grpChg>
        <pc:grpChg chg="del mod">
          <ac:chgData name="" userId="deac549ad58e74e9" providerId="LiveId" clId="{9A1C5CB3-C32B-4F76-9B5A-79D195692619}" dt="2026-08-10T06:34:03.418" v="191" actId="478"/>
          <ac:grpSpMkLst>
            <pc:docMk/>
            <pc:sldMk cId="1791971862" sldId="269"/>
            <ac:grpSpMk id="59" creationId="{FFB73DBC-F907-40BA-8BDE-16FA97D6C374}"/>
          </ac:grpSpMkLst>
        </pc:gr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09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9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7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33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67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51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69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24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30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43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7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jpe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3">
            <a:extLst>
              <a:ext uri="{FF2B5EF4-FFF2-40B4-BE49-F238E27FC236}">
                <a16:creationId xmlns:a16="http://schemas.microsoft.com/office/drawing/2014/main" id="{A7223628-81DB-4D00-A34F-EFE03ACD0417}"/>
              </a:ext>
            </a:extLst>
          </p:cNvPr>
          <p:cNvSpPr/>
          <p:nvPr/>
        </p:nvSpPr>
        <p:spPr>
          <a:xfrm flipH="1" flipV="1">
            <a:off x="4236331" y="119008"/>
            <a:ext cx="5546297" cy="6630135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indent="0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A03D817-1B91-49BA-BB53-55C585DA6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0" y="2930340"/>
            <a:ext cx="2665584" cy="213076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9634CABE-4CD8-4D7E-B6D3-EFA33C6FDF61}"/>
              </a:ext>
            </a:extLst>
          </p:cNvPr>
          <p:cNvGrpSpPr/>
          <p:nvPr/>
        </p:nvGrpSpPr>
        <p:grpSpPr>
          <a:xfrm>
            <a:off x="594419" y="3146343"/>
            <a:ext cx="5819777" cy="914927"/>
            <a:chOff x="638173" y="2173129"/>
            <a:chExt cx="5556310" cy="91492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A96A542-644D-4A24-ADAE-724B9FD033EA}"/>
                </a:ext>
              </a:extLst>
            </p:cNvPr>
            <p:cNvSpPr txBox="1"/>
            <p:nvPr/>
          </p:nvSpPr>
          <p:spPr>
            <a:xfrm>
              <a:off x="638173" y="2315678"/>
              <a:ext cx="5412997" cy="615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/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서초구 내곡동 헌인마을 도시개발사업 PF ReFinancing [8,500]억원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pPr marL="0" indent="0"/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사모사채 제안서(요약본)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4A78911-7507-47CC-8DDD-37C0A8F35B32}"/>
                </a:ext>
              </a:extLst>
            </p:cNvPr>
            <p:cNvSpPr txBox="1"/>
            <p:nvPr/>
          </p:nvSpPr>
          <p:spPr>
            <a:xfrm>
              <a:off x="638173" y="2857224"/>
              <a:ext cx="555631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/>
              <a:r>
                <a:rPr lang="ko-KR" altLang="en-US" sz="900" dirty="0" err="1">
                  <a:solidFill>
                    <a:schemeClr val="bg1">
                      <a:lumMod val="7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2026. 09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55632AE-C762-47D6-877A-EFB28D56B2F3}"/>
                </a:ext>
              </a:extLst>
            </p:cNvPr>
            <p:cNvSpPr txBox="1"/>
            <p:nvPr/>
          </p:nvSpPr>
          <p:spPr>
            <a:xfrm>
              <a:off x="657223" y="2173129"/>
              <a:ext cx="478155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Information Memorandum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</p:grpSp>
      <p:sp>
        <p:nvSpPr>
          <p:cNvPr id="8" name="액자 7">
            <a:extLst>
              <a:ext uri="{FF2B5EF4-FFF2-40B4-BE49-F238E27FC236}">
                <a16:creationId xmlns:a16="http://schemas.microsoft.com/office/drawing/2014/main" id="{BF41A14E-39F0-4FFC-B989-DEA9791388B6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CE61509-B4CA-4DD1-B45E-D0ABFE80F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71" y="127475"/>
            <a:ext cx="907166" cy="19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86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육각형 29">
            <a:extLst>
              <a:ext uri="{FF2B5EF4-FFF2-40B4-BE49-F238E27FC236}">
                <a16:creationId xmlns:a16="http://schemas.microsoft.com/office/drawing/2014/main" id="{14C0127E-A26E-4079-BCF5-4FF5AD83E146}"/>
              </a:ext>
            </a:extLst>
          </p:cNvPr>
          <p:cNvSpPr/>
          <p:nvPr/>
        </p:nvSpPr>
        <p:spPr>
          <a:xfrm>
            <a:off x="1187918" y="1542522"/>
            <a:ext cx="7530164" cy="971045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 dirty="0"/>
          </a:p>
        </p:txBody>
      </p:sp>
      <p:sp>
        <p:nvSpPr>
          <p:cNvPr id="31" name="육각형 30">
            <a:extLst>
              <a:ext uri="{FF2B5EF4-FFF2-40B4-BE49-F238E27FC236}">
                <a16:creationId xmlns:a16="http://schemas.microsoft.com/office/drawing/2014/main" id="{C1B29E0D-1087-4118-89DA-56A025FA802D}"/>
              </a:ext>
            </a:extLst>
          </p:cNvPr>
          <p:cNvSpPr/>
          <p:nvPr/>
        </p:nvSpPr>
        <p:spPr>
          <a:xfrm>
            <a:off x="1323500" y="1523734"/>
            <a:ext cx="7258999" cy="1008622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6DCFB6-B3CC-47EA-99D6-7AFB1B33ED07}"/>
              </a:ext>
            </a:extLst>
          </p:cNvPr>
          <p:cNvSpPr txBox="1"/>
          <p:nvPr/>
        </p:nvSpPr>
        <p:spPr>
          <a:xfrm>
            <a:off x="1645920" y="1241901"/>
            <a:ext cx="640080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marL="0" indent="0"/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총 8,500억원 조달 완료</a:t>
            </a:r>
            <a:endParaRPr lang="en-US" altLang="ko-KR" sz="1400" dirty="0">
              <a:solidFill>
                <a:schemeClr val="accent5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854F264-B996-4EF5-8ED3-D3FA4BED7453}"/>
              </a:ext>
            </a:extLst>
          </p:cNvPr>
          <p:cNvGrpSpPr/>
          <p:nvPr/>
        </p:nvGrpSpPr>
        <p:grpSpPr>
          <a:xfrm>
            <a:off x="3838196" y="784929"/>
            <a:ext cx="2229607" cy="369812"/>
            <a:chOff x="2323459" y="1248132"/>
            <a:chExt cx="2229607" cy="36981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9DC1874-428B-4C18-AE5E-9C395B10BD5C}"/>
                </a:ext>
              </a:extLst>
            </p:cNvPr>
            <p:cNvSpPr txBox="1"/>
            <p:nvPr/>
          </p:nvSpPr>
          <p:spPr>
            <a:xfrm>
              <a:off x="2829422" y="1340945"/>
              <a:ext cx="172364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 marL="0" indent="0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리파이낸싱 개요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47" name="Picture 5">
              <a:extLst>
                <a:ext uri="{FF2B5EF4-FFF2-40B4-BE49-F238E27FC236}">
                  <a16:creationId xmlns:a16="http://schemas.microsoft.com/office/drawing/2014/main" id="{40455801-BEB7-416A-A624-A52D9FE33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3459" y="1248132"/>
              <a:ext cx="432811" cy="369332"/>
            </a:xfrm>
            <a:prstGeom prst="rect">
              <a:avLst/>
            </a:prstGeom>
          </p:spPr>
        </p:pic>
      </p:grpSp>
      <p:sp>
        <p:nvSpPr>
          <p:cNvPr id="48" name="육각형 47">
            <a:extLst>
              <a:ext uri="{FF2B5EF4-FFF2-40B4-BE49-F238E27FC236}">
                <a16:creationId xmlns:a16="http://schemas.microsoft.com/office/drawing/2014/main" id="{D96A902C-58D1-4D00-9ADE-A5557F0D0B0B}"/>
              </a:ext>
            </a:extLst>
          </p:cNvPr>
          <p:cNvSpPr/>
          <p:nvPr/>
        </p:nvSpPr>
        <p:spPr>
          <a:xfrm>
            <a:off x="1187918" y="3319849"/>
            <a:ext cx="7530164" cy="971045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 dirty="0"/>
          </a:p>
        </p:txBody>
      </p:sp>
      <p:sp>
        <p:nvSpPr>
          <p:cNvPr id="49" name="육각형 48">
            <a:extLst>
              <a:ext uri="{FF2B5EF4-FFF2-40B4-BE49-F238E27FC236}">
                <a16:creationId xmlns:a16="http://schemas.microsoft.com/office/drawing/2014/main" id="{98B31954-C8A0-41F3-BC57-D4C12283BEA4}"/>
              </a:ext>
            </a:extLst>
          </p:cNvPr>
          <p:cNvSpPr/>
          <p:nvPr/>
        </p:nvSpPr>
        <p:spPr>
          <a:xfrm>
            <a:off x="1323500" y="3301061"/>
            <a:ext cx="7258999" cy="1008622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/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182597-EBD9-4385-B02A-CAFA83488202}"/>
              </a:ext>
            </a:extLst>
          </p:cNvPr>
          <p:cNvSpPr txBox="1"/>
          <p:nvPr/>
        </p:nvSpPr>
        <p:spPr>
          <a:xfrm>
            <a:off x="1645920" y="3586790"/>
            <a:ext cx="6400800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시공사 롯데건설㈜('25년 시공능력평가 8위 / 회사채등급 A0 / 안정적)이 책임분양 확약 미이행 시 채무인수 제공.</a:t>
            </a:r>
          </a:p>
          <a:p>
            <a:pPr marL="228600" indent="-22860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Tr.A 및 Tr.B의 대출원리금 상환안정성은 매우 높은 편임.</a:t>
            </a:r>
          </a:p>
        </p:txBody>
      </p:sp>
      <p:sp>
        <p:nvSpPr>
          <p:cNvPr id="55" name="육각형 54">
            <a:extLst>
              <a:ext uri="{FF2B5EF4-FFF2-40B4-BE49-F238E27FC236}">
                <a16:creationId xmlns:a16="http://schemas.microsoft.com/office/drawing/2014/main" id="{4307F882-37A5-4C81-98D4-14C0D1C82C2B}"/>
              </a:ext>
            </a:extLst>
          </p:cNvPr>
          <p:cNvSpPr/>
          <p:nvPr/>
        </p:nvSpPr>
        <p:spPr>
          <a:xfrm>
            <a:off x="1187918" y="5102027"/>
            <a:ext cx="7530164" cy="971045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 dirty="0"/>
          </a:p>
        </p:txBody>
      </p:sp>
      <p:sp>
        <p:nvSpPr>
          <p:cNvPr id="56" name="육각형 55">
            <a:extLst>
              <a:ext uri="{FF2B5EF4-FFF2-40B4-BE49-F238E27FC236}">
                <a16:creationId xmlns:a16="http://schemas.microsoft.com/office/drawing/2014/main" id="{C8138F0A-7808-4797-AF97-5D44A8947A08}"/>
              </a:ext>
            </a:extLst>
          </p:cNvPr>
          <p:cNvSpPr/>
          <p:nvPr/>
        </p:nvSpPr>
        <p:spPr>
          <a:xfrm>
            <a:off x="1323500" y="5083240"/>
            <a:ext cx="7258999" cy="1008620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/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B5F326-924B-467C-B0BE-00CD4BBB220C}"/>
              </a:ext>
            </a:extLst>
          </p:cNvPr>
          <p:cNvSpPr txBox="1"/>
          <p:nvPr/>
        </p:nvSpPr>
        <p:spPr>
          <a:xfrm>
            <a:off x="1645920" y="5280487"/>
            <a:ext cx="6400800" cy="6463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buFont typeface="Batang" panose="02030600000101010101" pitchFamily="18" charset="-127"/>
              <a:buChar char="→"/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기표일 기준 분양률(매출액 기준) 정계약 기준 [40.7]%로, 잔여분양수입금 입금 시 약 [3,600]억원의 Tr.A 대출 상환재원 확보.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228600" indent="-228600">
              <a:buFont typeface="Batang" panose="02030600000101010101" pitchFamily="18" charset="-127"/>
              <a:buChar char="→"/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'26년 5월말 기준 공정률 37.9% (예정공정률 37.5%), EXIT 분양률은 Tr.A 41.07% / Tr.B 76.91% / Tr.C 86.10%.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E5A4E9-80DA-4692-B715-A813E38A7C5E}"/>
              </a:ext>
            </a:extLst>
          </p:cNvPr>
          <p:cNvSpPr txBox="1"/>
          <p:nvPr/>
        </p:nvSpPr>
        <p:spPr>
          <a:xfrm>
            <a:off x="1645920" y="1830856"/>
            <a:ext cx="6400800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2023년 12월 26일 최초 PF 기표 후 일부 분양완료에 따라 기존 금융조건을 변경하여 2026년 6월 26일 PF 리파이낸싱 완료.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228600" indent="-22860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기존 대출금 상환 및 추가사업비 확보 용도로 Tr.A 3,600억원, Tr.B 3,900억원, Tr.C 1,000억원 총 8,500억원 조달완료.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17CA2D-D2FC-4820-948D-082385DBD7E3}"/>
              </a:ext>
            </a:extLst>
          </p:cNvPr>
          <p:cNvSpPr txBox="1"/>
          <p:nvPr/>
        </p:nvSpPr>
        <p:spPr>
          <a:xfrm>
            <a:off x="1645920" y="3066828"/>
            <a:ext cx="640080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marL="0" indent="0"/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롯데건설 채무인수로 상환 안정</a:t>
            </a:r>
            <a:endParaRPr lang="en-US" altLang="ko-KR" sz="1400" dirty="0">
              <a:solidFill>
                <a:schemeClr val="accent5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2A3725E-061B-48C4-BC36-39BA366FF7CE}"/>
              </a:ext>
            </a:extLst>
          </p:cNvPr>
          <p:cNvGrpSpPr/>
          <p:nvPr/>
        </p:nvGrpSpPr>
        <p:grpSpPr>
          <a:xfrm>
            <a:off x="3838196" y="2609856"/>
            <a:ext cx="2229607" cy="369812"/>
            <a:chOff x="2323459" y="1248132"/>
            <a:chExt cx="2229607" cy="36981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11114AE-019A-49F2-8541-4846F5A7F48F}"/>
                </a:ext>
              </a:extLst>
            </p:cNvPr>
            <p:cNvSpPr txBox="1"/>
            <p:nvPr/>
          </p:nvSpPr>
          <p:spPr>
            <a:xfrm>
              <a:off x="2829422" y="1340945"/>
              <a:ext cx="172364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 marL="0" indent="0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시공사 신용보강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28" name="Picture 5">
              <a:extLst>
                <a:ext uri="{FF2B5EF4-FFF2-40B4-BE49-F238E27FC236}">
                  <a16:creationId xmlns:a16="http://schemas.microsoft.com/office/drawing/2014/main" id="{FC2140A4-20FC-48D1-A7F0-40D297A4B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3459" y="1248132"/>
              <a:ext cx="432811" cy="369332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4A25A8B-B76B-46AB-B2C5-5EB6725C8E44}"/>
              </a:ext>
            </a:extLst>
          </p:cNvPr>
          <p:cNvSpPr txBox="1"/>
          <p:nvPr/>
        </p:nvSpPr>
        <p:spPr>
          <a:xfrm>
            <a:off x="1645920" y="4898379"/>
            <a:ext cx="640080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marL="0" indent="0"/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분양률 40.7%, 공정률 37.9%</a:t>
            </a:r>
            <a:endParaRPr lang="en-US" altLang="ko-KR" sz="1400" dirty="0">
              <a:solidFill>
                <a:schemeClr val="accent5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D623340-CF2D-4B45-83CB-9FEFBB2A3D49}"/>
              </a:ext>
            </a:extLst>
          </p:cNvPr>
          <p:cNvGrpSpPr/>
          <p:nvPr/>
        </p:nvGrpSpPr>
        <p:grpSpPr>
          <a:xfrm>
            <a:off x="3838196" y="4441407"/>
            <a:ext cx="2229607" cy="369812"/>
            <a:chOff x="2323459" y="1248132"/>
            <a:chExt cx="2229607" cy="36981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BC0021A-C465-46FD-9CE8-790951B016F9}"/>
                </a:ext>
              </a:extLst>
            </p:cNvPr>
            <p:cNvSpPr txBox="1"/>
            <p:nvPr/>
          </p:nvSpPr>
          <p:spPr>
            <a:xfrm>
              <a:off x="2829422" y="1340945"/>
              <a:ext cx="172364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 marL="0" indent="0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분양·공정 현황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35" name="Picture 5">
              <a:extLst>
                <a:ext uri="{FF2B5EF4-FFF2-40B4-BE49-F238E27FC236}">
                  <a16:creationId xmlns:a16="http://schemas.microsoft.com/office/drawing/2014/main" id="{F3CDEA1C-315E-448D-AC22-D07233638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3459" y="1248132"/>
              <a:ext cx="432811" cy="3693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197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5C6F44-6AA2-4FB6-82BB-DF652FEF5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455774"/>
              </p:ext>
            </p:extLst>
          </p:nvPr>
        </p:nvGraphicFramePr>
        <p:xfrm>
          <a:off x="228600" y="3248352"/>
          <a:ext cx="4480560" cy="428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1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금융구조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PF 리파이낸싱 대출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차주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위탁자1(차주) : 헌인타운개발㈜ / 위탁자2(물상보증인) : ㈜어퍼하우스헌인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대출금액 및 </a:t>
                      </a:r>
                    </a:p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조건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 marL="0" indent="0"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LTV(*) : 미분양 매출 1.26 조원 + 기표일 기준 입금예정 중도금,잔금 4,230 억 =16,876 억원 기준 / LTV(**) : LTV(1) V + 한남동 홍보관 건설원가 [408.6]억원 + 1 종 단독부지 매출액 [2,581.5]원 = 19,866 억원 기준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8044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주요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채권보전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관리형토지신탁(6 건) 1,2,3 순위 우선수익권 설정(대출약정금의 120%)</a:t>
                      </a: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도시개발사업 구역 내 헌인타운개발㈜이 보유하고 있는 토지에 대한 대주 앞 순위별 담보신탁 1,2,3 순위 우선수익권 설정(한토신 담보신탁 편입, 채권최고액 : 대출약정금의 120%)</a:t>
                      </a: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도시개발사업구역 내/외 사업 대상 토지 관련 헌인타운개발㈜가 보유하고 있는 처분신탁계약상 수익권에 대한 1,2,3 순위 근질권 설정(대출약정금의 120%)</a:t>
                      </a: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시공사 롯데건설㈜의 책임준공 확약(인출일로부터 [15]개월, 미이행시 즉시 채무인수)</a:t>
                      </a: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시공사 롯데건설㈜의 대출 만기 1 영업일 전 시점에 잔금 납부 기준 Tr.B 대주의 Exit 분양률(단독주택 및 홍보관 매각 제외 기준) 책임분양 확약(대출금상환적립계좌 내 분양대금 누적 [7,500]억원 이상 입금 조건 / 미이행시 대출만기일 채무인수)</a:t>
                      </a: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차주(헌인타운개발)/물상보증인(어퍼하우스헌인) 발행 주식 대주 앞 1,2,3 순위 근질권 설정</a:t>
                      </a: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㈜어퍼하우스헌인 법인 연대보증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555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대출기간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본건 리파이낸싱 대출 인출일로부터 [30]개월 (책임준공 [15]개월) / 준공 및 입주예정일 2027.06.26 / 대출만기 2028.12.26</a:t>
                      </a:r>
                      <a:endParaRPr lang="ko-KR" altLang="en-US" sz="900" b="0" u="sng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표 16">
            <a:extLst>
              <a:ext uri="{FF2B5EF4-FFF2-40B4-BE49-F238E27FC236}">
                <a16:creationId xmlns:a16="http://schemas.microsoft.com/office/drawing/2014/main" id="{4F870127-2CDB-43B1-AD7F-FE47CC8C2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027337"/>
              </p:ext>
            </p:extLst>
          </p:nvPr>
        </p:nvGraphicFramePr>
        <p:xfrm>
          <a:off x="228600" y="356616"/>
          <a:ext cx="44805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0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사모사채명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TBD(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신규 유동화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SPC)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제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회 무기명식 무보증 사모사채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사채 유형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국내 전자등록 또는 실물 발행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무기명식 무보증 사모사채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발행인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TBD(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신규 유동화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SPC)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기초자산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서초구 내곡동 헌인마을 도시개발사업 PF ReFinancing [8,500]억원 담보대출채권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발행금액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60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억원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₩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,000,000,000 )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발행일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2026년 7월 (예정)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만기일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발행일로부터 본건 리파이낸싱 대출 인출일로부터 [30]개월 (책임준공 [15]개월) / 준공 및 입주예정일 2027.06.26 / 대출만기 2028.12.26 (대출 만기 연동)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금융조건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채권 금리 : 연  (고정, 세전)</a:t>
                      </a:r>
                      <a:endParaRPr lang="ko-KR" altLang="en-US" sz="900" b="0" kern="1200" dirty="0">
                        <a:solidFill>
                          <a:srgbClr val="FF0000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84904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이자지급주기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[3]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개월 단위 후취 또는 전액 후취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421565"/>
                  </a:ext>
                </a:extLst>
              </a:tr>
            </a:tbl>
          </a:graphicData>
        </a:graphic>
      </p:graphicFrame>
      <p:pic>
        <p:nvPicPr>
          <p:cNvPr id="21" name="그림 20">
            <a:extLst>
              <a:ext uri="{FF2B5EF4-FFF2-40B4-BE49-F238E27FC236}">
                <a16:creationId xmlns:a16="http://schemas.microsoft.com/office/drawing/2014/main" id="{EA107C45-0DFB-4E1E-90F0-48265B956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00" y="203200"/>
            <a:ext cx="1504188" cy="107950"/>
          </a:xfrm>
          <a:prstGeom prst="rect">
            <a:avLst/>
          </a:prstGeom>
        </p:spPr>
      </p:pic>
      <p:sp>
        <p:nvSpPr>
          <p:cNvPr id="17" name="액자 16">
            <a:extLst>
              <a:ext uri="{FF2B5EF4-FFF2-40B4-BE49-F238E27FC236}">
                <a16:creationId xmlns:a16="http://schemas.microsoft.com/office/drawing/2014/main" id="{BDFE1491-F180-4DEA-8A15-4CBB9F4492CD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CC93D6-D79C-456D-B8BC-8900A9284217}"/>
              </a:ext>
            </a:extLst>
          </p:cNvPr>
          <p:cNvSpPr txBox="1"/>
          <p:nvPr/>
        </p:nvSpPr>
        <p:spPr>
          <a:xfrm>
            <a:off x="228600" y="2971800"/>
            <a:ext cx="4480560" cy="2308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marL="0" indent="0"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기조자산 담보대출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7FF97CA-23F8-46CD-9314-81F6F7A00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969547"/>
              </p:ext>
            </p:extLst>
          </p:nvPr>
        </p:nvGraphicFramePr>
        <p:xfrm>
          <a:off x="4809744" y="633168"/>
          <a:ext cx="4864608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336">
                  <a:extLst>
                    <a:ext uri="{9D8B030D-6E8A-4147-A177-3AD203B41FA5}">
                      <a16:colId xmlns:a16="http://schemas.microsoft.com/office/drawing/2014/main" val="367595970"/>
                    </a:ext>
                  </a:extLst>
                </a:gridCol>
              </a:tblGrid>
              <a:tr h="224028">
                <a:tc rowSpan="7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2009.03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도시개발구역(개발계획) 지정 및 지형고시(서울시)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2009.10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조합설립인가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2021.03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실시계획인가 고시(완료, '21.03.04)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2022.06.03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환지계획인가 완료(서초구청 인가)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2023.07.06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건축허가 완료(11 개 BL)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2023.11.15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구역 외 도시계획위원회 심의 완료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28825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2023.12.26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도급계약 체결 / 본건 PF 대출 기표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984039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2024.01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건축허가 설계변경(경미한 변경)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2024.03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분양 개시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2024.06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도시개발사업 구역 내 명도 완료 / 도시개발사업 구역 외 실시계획인가 고시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2024.07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도시개발사업 대지조성공사 및 공동주택 부지 착공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2026.06.26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본건 리파이낸싱 대출 기표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예정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2027.06.26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공동주택, 기반시설 조성공사 준공 및 입주 개시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2028.12.26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대출 만기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55B9265-5AAB-4BA5-8646-EFF3B7873086}"/>
              </a:ext>
            </a:extLst>
          </p:cNvPr>
          <p:cNvSpPr txBox="1"/>
          <p:nvPr/>
        </p:nvSpPr>
        <p:spPr>
          <a:xfrm>
            <a:off x="4809744" y="356616"/>
            <a:ext cx="4864608" cy="2308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marL="0" indent="0"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사업일정</a:t>
            </a:r>
            <a:endParaRPr lang="ko-KR" altLang="en-US" sz="8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pic>
        <p:nvPicPr>
          <p:cNvPr id="28" name="금융구조도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4494168"/>
            <a:ext cx="4864608" cy="2600389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25" name="금융구조도라벨">
            <a:extLst>
              <a:ext uri="{FF2B5EF4-FFF2-40B4-BE49-F238E27FC236}">
                <a16:creationId xmlns:a16="http://schemas.microsoft.com/office/drawing/2014/main" id="{055B9265-5AAB-4BA5-8646-EFF3B7873086}"/>
              </a:ext>
            </a:extLst>
          </p:cNvPr>
          <p:cNvSpPr txBox="1"/>
          <p:nvPr/>
        </p:nvSpPr>
        <p:spPr>
          <a:xfrm>
            <a:off x="4809744" y="4217616"/>
            <a:ext cx="4864608" cy="2308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marL="0" indent="0"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금융구조도</a:t>
            </a:r>
            <a:endParaRPr lang="ko-KR" altLang="en-US" sz="8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5590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7EB92DB-D6D6-40B6-BFC1-994521FC85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80" t="17953" r="15204" b="17142"/>
          <a:stretch/>
        </p:blipFill>
        <p:spPr>
          <a:xfrm>
            <a:off x="2556932" y="351616"/>
            <a:ext cx="4775201" cy="4377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74E7A9-78B0-4588-8C1D-6DE1105B6923}"/>
              </a:ext>
            </a:extLst>
          </p:cNvPr>
          <p:cNvSpPr txBox="1"/>
          <p:nvPr/>
        </p:nvSpPr>
        <p:spPr>
          <a:xfrm>
            <a:off x="3543300" y="6311054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marL="0" indent="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End of Document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47D09B23-F7CF-41E4-B38F-5F6F55C039C7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D6916-6366-4BAC-A420-78CFB3961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085" y="4966567"/>
            <a:ext cx="643210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defRPr/>
            </a:pPr>
            <a:r>
              <a:rPr lang="ko-KR" altLang="en-US" sz="1000" b="1" kern="0" dirty="0">
                <a:solidFill>
                  <a:sysClr val="windowText" lastClr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itchFamily="34" charset="0"/>
              </a:rPr>
              <a:t>본 자료와 관련하여 문의사항이 있으실 경우 아래의 담당자에게 언제든지 연락하여 주시면 성심껏 답변하여 드리겠습니다</a:t>
            </a:r>
            <a:r>
              <a:rPr lang="en-US" altLang="ko-KR" sz="1000" b="1" kern="0" dirty="0">
                <a:solidFill>
                  <a:sysClr val="windowText" lastClr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itchFamily="34" charset="0"/>
              </a:rPr>
              <a:t>.</a:t>
            </a:r>
            <a:endParaRPr lang="ko-KR" altLang="en-US" sz="1000" b="1" kern="0" dirty="0">
              <a:solidFill>
                <a:sysClr val="windowText" lastClr="000000"/>
              </a:solidFill>
              <a:latin typeface="피플폰트 Bold" panose="020B0600000101010101" pitchFamily="50" charset="-127"/>
              <a:ea typeface="피플폰트 Bold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A5CB35A-6CD0-4565-AF06-70C2227D36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6085" y="5212788"/>
          <a:ext cx="7473830" cy="1054824"/>
        </p:xfrm>
        <a:graphic>
          <a:graphicData uri="http://schemas.openxmlformats.org/drawingml/2006/table">
            <a:tbl>
              <a:tblPr firstRow="1" bandRow="1"/>
              <a:tblGrid>
                <a:gridCol w="1109804">
                  <a:extLst>
                    <a:ext uri="{9D8B030D-6E8A-4147-A177-3AD203B41FA5}">
                      <a16:colId xmlns:a16="http://schemas.microsoft.com/office/drawing/2014/main" val="3489200769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3330462320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1890356954"/>
                    </a:ext>
                  </a:extLst>
                </a:gridCol>
                <a:gridCol w="2516412">
                  <a:extLst>
                    <a:ext uri="{9D8B030D-6E8A-4147-A177-3AD203B41FA5}">
                      <a16:colId xmlns:a16="http://schemas.microsoft.com/office/drawing/2014/main" val="4272298019"/>
                    </a:ext>
                  </a:extLst>
                </a:gridCol>
                <a:gridCol w="1628006">
                  <a:extLst>
                    <a:ext uri="{9D8B030D-6E8A-4147-A177-3AD203B41FA5}">
                      <a16:colId xmlns:a16="http://schemas.microsoft.com/office/drawing/2014/main" val="2375832908"/>
                    </a:ext>
                  </a:extLst>
                </a:gridCol>
              </a:tblGrid>
              <a:tr h="263706"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직급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이름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en-US" altLang="ko-KR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E-mail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연락처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27196"/>
                  </a:ext>
                </a:extLst>
              </a:tr>
              <a:tr h="263706">
                <a:tc gridSpan="2"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대표이사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 marL="0" indent="0"/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박광희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pkh@rainfieldinv.com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010-4490-2050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478623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투자금융본부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최재영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cjy@rainfieldinv.com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010-3090-3576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069950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대체투자본부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이주호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ljh@rainfieldinv.com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010-5054-9208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14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827174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067509E-93BA-42CE-AB59-E2E44442D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22861"/>
              </p:ext>
            </p:extLst>
          </p:nvPr>
        </p:nvGraphicFramePr>
        <p:xfrm>
          <a:off x="228600" y="2253888"/>
          <a:ext cx="4480560" cy="232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211">
                  <a:extLst>
                    <a:ext uri="{9D8B030D-6E8A-4147-A177-3AD203B41FA5}">
                      <a16:colId xmlns:a16="http://schemas.microsoft.com/office/drawing/2014/main" val="2540065300"/>
                    </a:ext>
                  </a:extLst>
                </a:gridCol>
                <a:gridCol w="1016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987">
                  <a:extLst>
                    <a:ext uri="{9D8B030D-6E8A-4147-A177-3AD203B41FA5}">
                      <a16:colId xmlns:a16="http://schemas.microsoft.com/office/drawing/2014/main" val="1335951591"/>
                    </a:ext>
                  </a:extLst>
                </a:gridCol>
                <a:gridCol w="834418">
                  <a:extLst>
                    <a:ext uri="{9D8B030D-6E8A-4147-A177-3AD203B41FA5}">
                      <a16:colId xmlns:a16="http://schemas.microsoft.com/office/drawing/2014/main" val="2542008248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구분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(단위 : 천원)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FY'25 (25.01.01~25.12.31)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FY'24 (24.11.01~24.12.31)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FY'23 (23.11.01~24.10.31)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매출액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156,335,154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18,821,288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16,997,138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59597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영업이익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46,685,912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953,113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(47,325,570)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01797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당기순이익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(46,716,044)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(15,603,360)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(103,552,704)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97998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자산총계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948,652,445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796,554,526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785,003,006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7112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부채총계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1,180,964,301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982,150,338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954,995,457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14056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자본총계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(232,311,856)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(185,595,812)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(169,992,451)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7069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5E0AC8A-44A9-4ACF-B1EB-84CFB0706006}"/>
              </a:ext>
            </a:extLst>
          </p:cNvPr>
          <p:cNvSpPr txBox="1"/>
          <p:nvPr/>
        </p:nvSpPr>
        <p:spPr>
          <a:xfrm>
            <a:off x="228600" y="1977336"/>
            <a:ext cx="4480560" cy="2308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marL="0" indent="0"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헌인타운개발 주식회사 주요 재무현황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EAE9B8-4F28-4A3D-8A01-6291D6241A1C}"/>
              </a:ext>
            </a:extLst>
          </p:cNvPr>
          <p:cNvSpPr txBox="1"/>
          <p:nvPr/>
        </p:nvSpPr>
        <p:spPr>
          <a:xfrm>
            <a:off x="228600" y="356616"/>
            <a:ext cx="4480560" cy="2308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marL="0" indent="0"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헌인타운개발 주식회사 법인개요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06F02C3-0860-4D33-852E-E8E237857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097604"/>
              </p:ext>
            </p:extLst>
          </p:nvPr>
        </p:nvGraphicFramePr>
        <p:xfrm>
          <a:off x="228600" y="633168"/>
          <a:ext cx="4480560" cy="1197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10">
                  <a:extLst>
                    <a:ext uri="{9D8B030D-6E8A-4147-A177-3AD203B41FA5}">
                      <a16:colId xmlns:a16="http://schemas.microsoft.com/office/drawing/2014/main" val="1335951591"/>
                    </a:ext>
                  </a:extLst>
                </a:gridCol>
                <a:gridCol w="1373875">
                  <a:extLst>
                    <a:ext uri="{9D8B030D-6E8A-4147-A177-3AD203B41FA5}">
                      <a16:colId xmlns:a16="http://schemas.microsoft.com/office/drawing/2014/main" val="790720722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회사명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헌인타운개발 주식회사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사업자번호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설립일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2015 년 10 월 20 일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대표자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김용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자본금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1,000 천원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주요사업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부동산 개발 및 공급업 등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64415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주요주주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㈜어퍼하우스헌인 1,000주 100.0%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1" name="그림 20">
            <a:extLst>
              <a:ext uri="{FF2B5EF4-FFF2-40B4-BE49-F238E27FC236}">
                <a16:creationId xmlns:a16="http://schemas.microsoft.com/office/drawing/2014/main" id="{EA107C45-0DFB-4E1E-90F0-48265B956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504188" cy="107950"/>
          </a:xfrm>
          <a:prstGeom prst="rect">
            <a:avLst/>
          </a:prstGeom>
        </p:spPr>
      </p:pic>
      <p:sp>
        <p:nvSpPr>
          <p:cNvPr id="17" name="액자 16">
            <a:extLst>
              <a:ext uri="{FF2B5EF4-FFF2-40B4-BE49-F238E27FC236}">
                <a16:creationId xmlns:a16="http://schemas.microsoft.com/office/drawing/2014/main" id="{BDFE1491-F180-4DEA-8A15-4CBB9F4492CD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5B9265-5AAB-4BA5-8646-EFF3B7873086}"/>
              </a:ext>
            </a:extLst>
          </p:cNvPr>
          <p:cNvSpPr txBox="1"/>
          <p:nvPr/>
        </p:nvSpPr>
        <p:spPr>
          <a:xfrm>
            <a:off x="4809744" y="356616"/>
            <a:ext cx="4864608" cy="2308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marL="0" indent="0"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4. 사업수지 (단위 : 천원,vat 포함)</a:t>
            </a:r>
            <a:endParaRPr lang="ko-KR" altLang="en-US" sz="8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aphicFrame>
        <p:nvGraphicFramePr>
          <p:cNvPr id="27" name="원본표"/>
          <p:cNvGraphicFramePr>
            <a:graphicFrameLocks noGrp="1"/>
          </p:cNvGraphicFramePr>
          <p:nvPr/>
        </p:nvGraphicFramePr>
        <p:xfrm>
          <a:off x="4809744" y="633168"/>
          <a:ext cx="4864608" cy="8334756"/>
        </p:xfrm>
        <a:graphic>
          <a:graphicData uri="http://schemas.openxmlformats.org/drawingml/2006/table">
            <a:tbl>
              <a:tblPr firstRow="0" lastRow="0" firstCol="0" lastCol="0" bandRow="0" bandCol="0">
                <a:tableStyleId>{2D5ABB26-0587-4C30-8999-92F81FD0307C}</a:tableStyleId>
              </a:tblPr>
              <a:tblGrid>
                <a:gridCol w="810768"/>
                <a:gridCol w="810768"/>
                <a:gridCol w="810768"/>
                <a:gridCol w="810768"/>
                <a:gridCol w="810768"/>
                <a:gridCol w="810768"/>
              </a:tblGrid>
              <a:tr h="224028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latin typeface="피플폰트 Bold"/>
                        </a:rPr>
                        <a:t>구분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latin typeface="피플폰트 Bold"/>
                        </a:rPr>
                        <a:t>항목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latin typeface="피플폰트 Bold"/>
                        </a:rPr>
                        <a:t>금액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latin typeface="피플폰트 Bold"/>
                        </a:rPr>
                        <a:t>비율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latin typeface="피플폰트 Bold"/>
                        </a:rPr>
                        <a:t>비고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374904">
                <a:tc rowSpan="6"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latin typeface="피플폰트 Bold"/>
                        </a:rPr>
                        <a:t>수입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단독주택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기존 매입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197,716,118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8.12%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· 기 매입 단독주택 용지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525780"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부지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추가 매입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60,436,778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2.48%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· 매입예정 단독주택 용지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827532"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공동주택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rowSpan="14"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전체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2,133,710,000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87.63%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· 평균 공급단가 123,257 천원/평</a:t>
                      </a:r>
                    </a:p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(부가세 포함 기준)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525780"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홍보관 매각비용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40,862,773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1.68%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· 한남동 홍보관 부지+건물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374904"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기타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2,252,006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0.09%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· 예금이자, 연체이자 등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374904"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소계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2,434,977,675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100.00%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525780">
                <a:tc rowSpan="9"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latin typeface="피플폰트 Bold"/>
                        </a:rPr>
                        <a:t>지출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토지매입비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498,422,198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22.52%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· NPL 채권 매입비, 명도합의금 등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525780"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직접공사비(공동주택)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594,583,011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26.86%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· 도급단가 11,992.5 천원/평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525780"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건축비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107,098,739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4.84%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· 대지조성비, 설계비, 인입공사비 등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525780"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분양경비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219,112,682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9.90%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· 광고비, 분양대행수수료 등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525780"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부대 비용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74,982,365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3.39%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· 시행사 운영비, 신탁수수료 등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525780"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공과금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5,368,331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0.24%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· 학교용지, 광역교통시설부담금 등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525780"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제 세금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115,093,954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5.20%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· 소유권보존등기비, 재산세 등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676656"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금융비용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601,768,941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27.06%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rowSpan="3"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· 기존 브릿지대출, PF 대출 금융비 등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374904"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소계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2,216,430,221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100.00%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latin typeface="피플폰트 Bold"/>
                        </a:rPr>
                        <a:t>사업이익(a)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218,547,451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sz="900" b="0">
                          <a:latin typeface="피플폰트 Light"/>
                        </a:rPr>
                        <a:t>경상이익 8.98%</a:t>
                      </a:r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/>
                    </a:p>
                  </a:txBody>
                  <a:tcPr marL="33513" marR="33513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635</TotalTime>
  <Words>552</Words>
  <Application>Microsoft Office PowerPoint</Application>
  <PresentationFormat>A4 용지(210x297mm)</PresentationFormat>
  <Paragraphs>165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맑은 고딕</vt:lpstr>
      <vt:lpstr>Batang</vt:lpstr>
      <vt:lpstr>피플폰트 Bold</vt:lpstr>
      <vt:lpstr>피플폰트 Light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레인필드투자자문</dc:creator>
  <cp:lastModifiedBy>장찬희</cp:lastModifiedBy>
  <cp:revision>68</cp:revision>
  <dcterms:created xsi:type="dcterms:W3CDTF">2026-02-10T06:23:32Z</dcterms:created>
  <dcterms:modified xsi:type="dcterms:W3CDTF">2026-08-10T06:39:10Z</dcterms:modified>
</cp:coreProperties>
</file>